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65" r:id="rId5"/>
    <p:sldId id="259" r:id="rId6"/>
    <p:sldId id="262" r:id="rId7"/>
    <p:sldId id="260" r:id="rId8"/>
    <p:sldId id="261" r:id="rId9"/>
    <p:sldId id="263" r:id="rId1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4181307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3C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CC00F177-C6AC-6668-BD05-C3846B8BF381}"/>
              </a:ext>
            </a:extLst>
          </p:cNvPr>
          <p:cNvSpPr/>
          <p:nvPr/>
        </p:nvSpPr>
        <p:spPr>
          <a:xfrm>
            <a:off x="0" y="-27432"/>
            <a:ext cx="9144000" cy="935665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1480D0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" name="Shape 2"/>
          <p:cNvSpPr/>
          <p:nvPr/>
        </p:nvSpPr>
        <p:spPr>
          <a:xfrm>
            <a:off x="640080" y="1417320"/>
            <a:ext cx="4114800" cy="457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" name="Text 3"/>
          <p:cNvSpPr/>
          <p:nvPr/>
        </p:nvSpPr>
        <p:spPr>
          <a:xfrm>
            <a:off x="640080" y="1572768"/>
            <a:ext cx="804672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 DES ACCIDENTS</a:t>
            </a:r>
            <a:endParaRPr lang="en-US" sz="40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ROUTIERS EN FRANCE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640080" y="3520440"/>
            <a:ext cx="7772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Causes, profils à risque &amp; recommandations pour la politique d'assurance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640080" y="4206240"/>
            <a:ext cx="2377440" cy="320040"/>
          </a:xfrm>
          <a:prstGeom prst="rect">
            <a:avLst/>
          </a:prstGeom>
          <a:solidFill>
            <a:srgbClr val="1A3570"/>
          </a:solidFill>
          <a:ln w="12700">
            <a:solidFill>
              <a:srgbClr val="2A4D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" name="Text 6"/>
          <p:cNvSpPr/>
          <p:nvPr/>
        </p:nvSpPr>
        <p:spPr>
          <a:xfrm>
            <a:off x="64008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BAAC 2021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200400" y="4206240"/>
            <a:ext cx="2377440" cy="320040"/>
          </a:xfrm>
          <a:prstGeom prst="rect">
            <a:avLst/>
          </a:prstGeom>
          <a:solidFill>
            <a:srgbClr val="1A3570"/>
          </a:solidFill>
          <a:ln w="12700">
            <a:solidFill>
              <a:srgbClr val="2A4D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20040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voitures &amp; 2RM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760720" y="4206240"/>
            <a:ext cx="2377440" cy="320040"/>
          </a:xfrm>
          <a:prstGeom prst="rect">
            <a:avLst/>
          </a:prstGeom>
          <a:solidFill>
            <a:srgbClr val="1A3570"/>
          </a:solidFill>
          <a:ln w="12700">
            <a:solidFill>
              <a:srgbClr val="2A4D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760720" y="42062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Confidentiel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384048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74320" y="1097280"/>
            <a:ext cx="64008" cy="356616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57200" y="1207008"/>
            <a:ext cx="3566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457200" y="1664208"/>
            <a:ext cx="35204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700"/>
              </a:spcAft>
              <a:buNone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compagnie d'assurance auto &amp; deux-roues souhaite :</a:t>
            </a:r>
            <a:endParaRPr lang="en-US" sz="1250" dirty="0"/>
          </a:p>
          <a:p>
            <a:pPr marL="0" indent="0">
              <a:spcAft>
                <a:spcPts val="700"/>
              </a:spcAft>
              <a:buNone/>
            </a:pP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Comprendre les causes profondes des accidents corporels en France en 2021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 sa politique tarifaire et ses garanties</a:t>
            </a:r>
            <a:endParaRPr lang="en-US" sz="12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Concevoir une campagne de sensibilisation ciblée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4663440" y="1097280"/>
            <a:ext cx="416052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4663440" y="1097280"/>
            <a:ext cx="64008" cy="356616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Text 12"/>
          <p:cNvSpPr/>
          <p:nvPr/>
        </p:nvSpPr>
        <p:spPr>
          <a:xfrm>
            <a:off x="4846320" y="120700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Objectifs de l'étude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4846320" y="1691640"/>
            <a:ext cx="347472" cy="347472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4846320" y="16916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285232" y="1709928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véhicule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846320" y="2258568"/>
            <a:ext cx="347472" cy="347472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Text 17"/>
          <p:cNvSpPr/>
          <p:nvPr/>
        </p:nvSpPr>
        <p:spPr>
          <a:xfrm>
            <a:off x="4846320" y="22585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5285232" y="2276856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 de la journée &amp; conditions lumineuses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4846320" y="2825496"/>
            <a:ext cx="347472" cy="347472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Text 20"/>
          <p:cNvSpPr/>
          <p:nvPr/>
        </p:nvSpPr>
        <p:spPr>
          <a:xfrm>
            <a:off x="4846320" y="28254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5285232" y="2843784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de l'accident (urbain / rural / type de route)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4846320" y="3392424"/>
            <a:ext cx="347472" cy="347472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6" name="Text 23"/>
          <p:cNvSpPr/>
          <p:nvPr/>
        </p:nvSpPr>
        <p:spPr>
          <a:xfrm>
            <a:off x="4846320" y="33924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5285232" y="341071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du conducteur (âge, sexe)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846320" y="3959352"/>
            <a:ext cx="347472" cy="347472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4846320" y="39593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/>
          <p:nvPr/>
        </p:nvSpPr>
        <p:spPr>
          <a:xfrm>
            <a:off x="5285232" y="397764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Conditions atmosphériques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2011680" cy="3566160"/>
          </a:xfrm>
          <a:prstGeom prst="rect">
            <a:avLst/>
          </a:prstGeom>
          <a:solidFill>
            <a:srgbClr val="003CA0"/>
          </a:solidFill>
          <a:ln w="12700">
            <a:solidFill>
              <a:srgbClr val="1450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74320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743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7432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Collecte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2286000"/>
            <a:ext cx="822960" cy="457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84048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PDF BAAC officiel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A8C4F0"/>
                </a:solidFill>
                <a:latin typeface="Calibri" pitchFamily="34" charset="0"/>
              </a:rPr>
              <a:t>Identification des variables et axes d’analyse possibles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</a:rPr>
              <a:t>4 CSV : 122k usagers · 54k accidents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</a:rPr>
              <a:t>Retraitement codes numériques → libéllés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A8C4F0"/>
                </a:solidFill>
                <a:latin typeface="Calibri" pitchFamily="34" charset="0"/>
              </a:rPr>
              <a:t>(ex : 7 → VL voiture · 14h20 → 14h)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860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423160" y="1097280"/>
            <a:ext cx="201168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2423160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242316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42316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Jointure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017520" y="2286000"/>
            <a:ext cx="822960" cy="4572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532888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 1-à-plusieurs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344054"/>
                </a:solidFill>
                <a:latin typeface="Calibri" pitchFamily="34" charset="0"/>
              </a:rPr>
              <a:t>caractéristiques-2021 comme table centrale (clé ID_Accident)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Filtre périmètre assurance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344054"/>
                </a:solidFill>
                <a:latin typeface="Calibri" pitchFamily="34" charset="0"/>
              </a:rPr>
              <a:t>Exclusion train/tramway/engins spéciaux · Conservation voiture, 2RM, utilitaire, cyclo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484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4553712" y="1097280"/>
            <a:ext cx="201168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553712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553712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4553712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48072" y="2286000"/>
            <a:ext cx="822960" cy="4572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663440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 mortalité = tués /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conducteurs × 100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Groupes : tranches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</a:rPr>
              <a:t>d’âge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 (exclusion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</a:rPr>
              <a:t>valeurs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</a:rPr>
              <a:t>aberrantes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)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+ catégories véhicule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28B4F0"/>
                </a:solidFill>
                <a:latin typeface="Calibri" pitchFamily="34" charset="0"/>
              </a:rPr>
              <a:t>Score &amp; Indice coût assurance détaillés slide suivant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65392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6693408" y="1097280"/>
            <a:ext cx="2011680" cy="3566160"/>
          </a:xfrm>
          <a:prstGeom prst="rect">
            <a:avLst/>
          </a:prstGeom>
          <a:solidFill>
            <a:srgbClr val="003CA0"/>
          </a:solidFill>
          <a:ln w="12700">
            <a:solidFill>
              <a:srgbClr val="1450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6693408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6693408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6693408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Synthèse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287768" y="2286000"/>
            <a:ext cx="822960" cy="457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6803136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Facteurs de risque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cumulatifs · Recommandations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solidFill>
            <a:srgbClr val="E8F0FC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365760" y="4745736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4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: conducteurs de voitures, 2RM, utilitaires et cyclomoteurs uniquement — accidents survenus en France en 2021 — source BAAC officielle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&amp; INDICE COÛT ASSURANCE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97280"/>
            <a:ext cx="2011680" cy="3566160"/>
          </a:xfrm>
          <a:prstGeom prst="rect">
            <a:avLst/>
          </a:prstGeom>
          <a:solidFill>
            <a:srgbClr val="003CA0"/>
          </a:solidFill>
          <a:ln w="12700">
            <a:solidFill>
              <a:srgbClr val="1450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74320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27432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3000" dirty="0"/>
          </a:p>
        </p:txBody>
      </p:sp>
      <p:sp>
        <p:nvSpPr>
          <p:cNvPr id="12" name="Text 9"/>
          <p:cNvSpPr/>
          <p:nvPr/>
        </p:nvSpPr>
        <p:spPr>
          <a:xfrm>
            <a:off x="27432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Brut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68680" y="2286000"/>
            <a:ext cx="822960" cy="457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384048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Somme pondérée des victimes par accident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A8C4F0"/>
                </a:solidFill>
                <a:latin typeface="Calibri" pitchFamily="34" charset="0"/>
              </a:rPr>
              <a:t>Le coût de TOUTES les victimes (conducteur + passagers + piétons) est attribué au profil du conducteur responsable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dirty="0">
                <a:solidFill>
                  <a:srgbClr val="A8C4F0"/>
                </a:solidFill>
                <a:latin typeface="Calibri" pitchFamily="34" charset="0"/>
              </a:rPr>
              <a:t>Score = Coût pondéré total / Nb conducteurs du profil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228600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16" name="Shape 13"/>
          <p:cNvSpPr/>
          <p:nvPr/>
        </p:nvSpPr>
        <p:spPr>
          <a:xfrm>
            <a:off x="2423160" y="1097280"/>
            <a:ext cx="201168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2423160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2423160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2423160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Coefficients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3017520" y="2286000"/>
            <a:ext cx="822960" cy="4572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Text 18"/>
          <p:cNvSpPr/>
          <p:nvPr/>
        </p:nvSpPr>
        <p:spPr>
          <a:xfrm>
            <a:off x="2532888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Tué × 2,00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Blessé hospitalisé × 1,50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Blessé léger × 1,25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Indemne × 0 (exclu)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344054"/>
                </a:solidFill>
                <a:latin typeface="Calibri" pitchFamily="34" charset="0"/>
              </a:rPr>
              <a:t>Ajustables selon coûts réels assureur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4434840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23" name="Shape 20"/>
          <p:cNvSpPr/>
          <p:nvPr/>
        </p:nvSpPr>
        <p:spPr>
          <a:xfrm>
            <a:off x="4553712" y="1097280"/>
            <a:ext cx="2011680" cy="35661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4553712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4553712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3000" dirty="0"/>
          </a:p>
        </p:txBody>
      </p:sp>
      <p:sp>
        <p:nvSpPr>
          <p:cNvPr id="26" name="Text 23"/>
          <p:cNvSpPr/>
          <p:nvPr/>
        </p:nvSpPr>
        <p:spPr>
          <a:xfrm>
            <a:off x="4553712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5148072" y="2286000"/>
            <a:ext cx="822960" cy="4572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4663440" y="2468880"/>
            <a:ext cx="179222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profil / Score moyen national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344054"/>
                </a:solidFill>
                <a:latin typeface="Calibri" pitchFamily="34" charset="0"/>
              </a:rPr>
              <a:t>La moyenne nationale = 1,00 (référence fixe indépendante des filtres)</a:t>
            </a:r>
            <a:endParaRPr lang="en-US" sz="100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</a:rPr>
              <a:t>Comparable entre profils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000" i="1" dirty="0">
                <a:solidFill>
                  <a:srgbClr val="344054"/>
                </a:solidFill>
                <a:latin typeface="Calibri" pitchFamily="34" charset="0"/>
              </a:rPr>
              <a:t>de volumes très différents (moto vs voiture)</a:t>
            </a:r>
            <a:endParaRPr lang="en-US" sz="1000" dirty="0"/>
          </a:p>
        </p:txBody>
      </p:sp>
      <p:sp>
        <p:nvSpPr>
          <p:cNvPr id="29" name="Text 26"/>
          <p:cNvSpPr/>
          <p:nvPr/>
        </p:nvSpPr>
        <p:spPr>
          <a:xfrm>
            <a:off x="6565392" y="256032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›</a:t>
            </a:r>
            <a:endParaRPr lang="en-US" sz="2200" dirty="0"/>
          </a:p>
        </p:txBody>
      </p:sp>
      <p:sp>
        <p:nvSpPr>
          <p:cNvPr id="30" name="Shape 27"/>
          <p:cNvSpPr/>
          <p:nvPr/>
        </p:nvSpPr>
        <p:spPr>
          <a:xfrm>
            <a:off x="6693408" y="1097280"/>
            <a:ext cx="2011680" cy="3566160"/>
          </a:xfrm>
          <a:prstGeom prst="rect">
            <a:avLst/>
          </a:prstGeom>
          <a:solidFill>
            <a:srgbClr val="003CA0"/>
          </a:solidFill>
          <a:ln w="12700">
            <a:solidFill>
              <a:srgbClr val="1450B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Shape 28"/>
          <p:cNvSpPr/>
          <p:nvPr/>
        </p:nvSpPr>
        <p:spPr>
          <a:xfrm>
            <a:off x="6693408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2" name="Text 29"/>
          <p:cNvSpPr/>
          <p:nvPr/>
        </p:nvSpPr>
        <p:spPr>
          <a:xfrm>
            <a:off x="6693408" y="1234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3000" dirty="0"/>
          </a:p>
        </p:txBody>
      </p:sp>
      <p:sp>
        <p:nvSpPr>
          <p:cNvPr id="33" name="Text 30"/>
          <p:cNvSpPr/>
          <p:nvPr/>
        </p:nvSpPr>
        <p:spPr>
          <a:xfrm>
            <a:off x="6693408" y="1828800"/>
            <a:ext cx="20116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Décision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7287768" y="2286000"/>
            <a:ext cx="822960" cy="457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6803136" y="2468880"/>
            <a:ext cx="190195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&lt; 0,75 → </a:t>
            </a:r>
            <a:r>
              <a:rPr lang="en-US" sz="1150" dirty="0" err="1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Minoration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</a:rPr>
              <a:t>0,75–1,25 → Tarif de base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</a:rPr>
              <a:t>1,25–2,5 → Majoration +20 à +150%</a:t>
            </a:r>
            <a:endParaRPr lang="en-US" sz="1150" dirty="0"/>
          </a:p>
          <a:p>
            <a:pPr marL="0" indent="0" algn="ctr">
              <a:lnSpc>
                <a:spcPct val="135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</a:rPr>
              <a:t>&gt; 2,5 → Majoration &gt;+150% ou clause spéciale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274320" y="4736592"/>
            <a:ext cx="8595360" cy="201168"/>
          </a:xfrm>
          <a:prstGeom prst="rect">
            <a:avLst/>
          </a:prstGeom>
          <a:solidFill>
            <a:srgbClr val="E8F0FC"/>
          </a:solidFill>
          <a:ln w="12700">
            <a:solidFill>
              <a:srgbClr val="C0D0E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365760" y="4745736"/>
            <a:ext cx="84124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14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 = 1,00 signifie profil dans la moyenne nationale — Indice &gt; 1,00 = coût supérieur → majoration de prime — Indice &lt; 1,00 = coût inférieur → minoration possible — coefficients ajustables selon données réelles assureur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3CA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1A3570"/>
          </a:solidFill>
          <a:ln w="12700">
            <a:solidFill>
              <a:srgbClr val="1A35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7090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Text 3"/>
          <p:cNvSpPr/>
          <p:nvPr/>
        </p:nvSpPr>
        <p:spPr>
          <a:xfrm>
            <a:off x="411480" y="137160"/>
            <a:ext cx="6400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RÉSULTATS CLÉS</a:t>
            </a:r>
            <a:endParaRPr lang="en-US" sz="2200" dirty="0"/>
          </a:p>
        </p:txBody>
      </p:sp>
      <p:sp>
        <p:nvSpPr>
          <p:cNvPr id="7" name="Shape 4"/>
          <p:cNvSpPr/>
          <p:nvPr/>
        </p:nvSpPr>
        <p:spPr>
          <a:xfrm>
            <a:off x="411480" y="731520"/>
            <a:ext cx="8229600" cy="457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Shape 5"/>
          <p:cNvSpPr/>
          <p:nvPr/>
        </p:nvSpPr>
        <p:spPr>
          <a:xfrm>
            <a:off x="411480" y="960120"/>
            <a:ext cx="1920240" cy="1783080"/>
          </a:xfrm>
          <a:prstGeom prst="rect">
            <a:avLst/>
          </a:prstGeom>
          <a:solidFill>
            <a:srgbClr val="112855"/>
          </a:solidFill>
          <a:ln w="12700">
            <a:solidFill>
              <a:srgbClr val="1E3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" name="Shape 6"/>
          <p:cNvSpPr/>
          <p:nvPr/>
        </p:nvSpPr>
        <p:spPr>
          <a:xfrm>
            <a:off x="411480" y="960120"/>
            <a:ext cx="1920240" cy="5486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" name="Text 7"/>
          <p:cNvSpPr/>
          <p:nvPr/>
        </p:nvSpPr>
        <p:spPr>
          <a:xfrm>
            <a:off x="411480" y="1078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54 207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411480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corporels 2021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2496312" y="960120"/>
            <a:ext cx="1920240" cy="1783080"/>
          </a:xfrm>
          <a:prstGeom prst="rect">
            <a:avLst/>
          </a:prstGeom>
          <a:solidFill>
            <a:srgbClr val="112855"/>
          </a:solidFill>
          <a:ln w="12700">
            <a:solidFill>
              <a:srgbClr val="1E3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2496312" y="960120"/>
            <a:ext cx="1920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Text 11"/>
          <p:cNvSpPr/>
          <p:nvPr/>
        </p:nvSpPr>
        <p:spPr>
          <a:xfrm>
            <a:off x="2496312" y="1078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3 076</a:t>
            </a:r>
            <a:endParaRPr lang="en-US" sz="3200" dirty="0"/>
          </a:p>
        </p:txBody>
      </p:sp>
      <p:sp>
        <p:nvSpPr>
          <p:cNvPr id="15" name="Text 12"/>
          <p:cNvSpPr/>
          <p:nvPr/>
        </p:nvSpPr>
        <p:spPr>
          <a:xfrm>
            <a:off x="2496312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 err="1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tués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4581144" y="960120"/>
            <a:ext cx="1920240" cy="1783080"/>
          </a:xfrm>
          <a:prstGeom prst="rect">
            <a:avLst/>
          </a:prstGeom>
          <a:solidFill>
            <a:srgbClr val="112855"/>
          </a:solidFill>
          <a:ln w="12700">
            <a:solidFill>
              <a:srgbClr val="1E3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4581144" y="960120"/>
            <a:ext cx="192024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Text 15"/>
          <p:cNvSpPr/>
          <p:nvPr/>
        </p:nvSpPr>
        <p:spPr>
          <a:xfrm>
            <a:off x="4581144" y="1078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6,09 %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4581144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poids lourd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 tracteur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6665976" y="960120"/>
            <a:ext cx="1920240" cy="1783080"/>
          </a:xfrm>
          <a:prstGeom prst="rect">
            <a:avLst/>
          </a:prstGeom>
          <a:solidFill>
            <a:srgbClr val="112855"/>
          </a:solidFill>
          <a:ln w="12700">
            <a:solidFill>
              <a:srgbClr val="1E3F80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6665976" y="960120"/>
            <a:ext cx="1920240" cy="54864"/>
          </a:xfrm>
          <a:prstGeom prst="rect">
            <a:avLst/>
          </a:prstGeom>
          <a:solidFill>
            <a:srgbClr val="FFA040"/>
          </a:solidFill>
          <a:ln w="12700">
            <a:solidFill>
              <a:srgbClr val="FFA04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Text 19"/>
          <p:cNvSpPr/>
          <p:nvPr/>
        </p:nvSpPr>
        <p:spPr>
          <a:xfrm>
            <a:off x="6665976" y="1078992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A0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4,42 %</a:t>
            </a:r>
            <a:endParaRPr lang="en-US" sz="3200" dirty="0"/>
          </a:p>
        </p:txBody>
      </p:sp>
      <p:sp>
        <p:nvSpPr>
          <p:cNvPr id="23" name="Text 20"/>
          <p:cNvSpPr/>
          <p:nvPr/>
        </p:nvSpPr>
        <p:spPr>
          <a:xfrm>
            <a:off x="6665976" y="1920240"/>
            <a:ext cx="1920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hors</a:t>
            </a:r>
            <a:endParaRPr lang="en-US" sz="1150" dirty="0"/>
          </a:p>
          <a:p>
            <a:pPr marL="0" indent="0" algn="ctr">
              <a:lnSpc>
                <a:spcPct val="120000"/>
              </a:lnSpc>
              <a:buNone/>
            </a:pPr>
            <a:r>
              <a:rPr lang="en-US" sz="1150" dirty="0">
                <a:solidFill>
                  <a:srgbClr val="A8C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agglomération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411480" y="2971800"/>
            <a:ext cx="64008" cy="23774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5" name="Text 22"/>
          <p:cNvSpPr/>
          <p:nvPr/>
        </p:nvSpPr>
        <p:spPr>
          <a:xfrm>
            <a:off x="594360" y="2880360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 lourd / tracteur : mortalité la plus élevée (6,09 %)</a:t>
            </a:r>
            <a:endParaRPr lang="en-US" sz="1200" dirty="0"/>
          </a:p>
        </p:txBody>
      </p:sp>
      <p:sp>
        <p:nvSpPr>
          <p:cNvPr id="26" name="Shape 23"/>
          <p:cNvSpPr/>
          <p:nvPr/>
        </p:nvSpPr>
        <p:spPr>
          <a:xfrm>
            <a:off x="411480" y="3374136"/>
            <a:ext cx="64008" cy="23774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7" name="Text 24"/>
          <p:cNvSpPr/>
          <p:nvPr/>
        </p:nvSpPr>
        <p:spPr>
          <a:xfrm>
            <a:off x="594360" y="3282696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agglomération : mortalité 3,4× supérieure à la ville (4,42 % vs 1,31 %)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11480" y="3776472"/>
            <a:ext cx="64008" cy="23774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9" name="Text 26"/>
          <p:cNvSpPr/>
          <p:nvPr/>
        </p:nvSpPr>
        <p:spPr>
          <a:xfrm>
            <a:off x="594360" y="3685032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75 ans et plus : mortalité de 8,29 % — tranche la plus à risque</a:t>
            </a:r>
            <a:endParaRPr lang="en-US" sz="1200" dirty="0"/>
          </a:p>
        </p:txBody>
      </p:sp>
      <p:sp>
        <p:nvSpPr>
          <p:cNvPr id="30" name="Shape 27"/>
          <p:cNvSpPr/>
          <p:nvPr/>
        </p:nvSpPr>
        <p:spPr>
          <a:xfrm>
            <a:off x="411480" y="4178808"/>
            <a:ext cx="64008" cy="23774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1" name="Text 28"/>
          <p:cNvSpPr/>
          <p:nvPr/>
        </p:nvSpPr>
        <p:spPr>
          <a:xfrm>
            <a:off x="594360" y="4087368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65-74 ans : 4,40 % — deuxième tranche à risque élevé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11480" y="4581144"/>
            <a:ext cx="64008" cy="23774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3" name="Text 30"/>
          <p:cNvSpPr/>
          <p:nvPr/>
        </p:nvSpPr>
        <p:spPr>
          <a:xfrm>
            <a:off x="594360" y="4489704"/>
            <a:ext cx="8046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C8DE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masculin sur-représenté : majorité des accidents et des tués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DU CONDUCTEUR À RISQUE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74320" y="1051560"/>
            <a:ext cx="5394960" cy="288036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74320" y="1051560"/>
            <a:ext cx="5394960" cy="5486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411480" y="1115568"/>
            <a:ext cx="5120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Cout assurance vs Moyenne (Age &amp; Véhicule)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411480" y="1463040"/>
            <a:ext cx="5120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34" name="Shape 31"/>
          <p:cNvSpPr/>
          <p:nvPr/>
        </p:nvSpPr>
        <p:spPr>
          <a:xfrm>
            <a:off x="5897880" y="1051560"/>
            <a:ext cx="2971800" cy="141732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5" name="Shape 32"/>
          <p:cNvSpPr/>
          <p:nvPr/>
        </p:nvSpPr>
        <p:spPr>
          <a:xfrm>
            <a:off x="5897880" y="1051560"/>
            <a:ext cx="2971800" cy="5486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6" name="Text 33"/>
          <p:cNvSpPr/>
          <p:nvPr/>
        </p:nvSpPr>
        <p:spPr>
          <a:xfrm>
            <a:off x="6035040" y="111556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 par 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sexe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(accidents 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conducteurs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37" name="Shape 34"/>
          <p:cNvSpPr/>
          <p:nvPr/>
        </p:nvSpPr>
        <p:spPr>
          <a:xfrm>
            <a:off x="6035040" y="1536192"/>
            <a:ext cx="1325880" cy="749808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Text 35"/>
          <p:cNvSpPr/>
          <p:nvPr/>
        </p:nvSpPr>
        <p:spPr>
          <a:xfrm>
            <a:off x="6035040" y="156362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HOMMES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6035040" y="180136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74,19 %</a:t>
            </a:r>
            <a:endParaRPr lang="en-US" sz="2200" dirty="0"/>
          </a:p>
        </p:txBody>
      </p:sp>
      <p:sp>
        <p:nvSpPr>
          <p:cNvPr id="40" name="Shape 37"/>
          <p:cNvSpPr/>
          <p:nvPr/>
        </p:nvSpPr>
        <p:spPr>
          <a:xfrm>
            <a:off x="7452360" y="1536192"/>
            <a:ext cx="1325880" cy="749808"/>
          </a:xfrm>
          <a:prstGeom prst="rect">
            <a:avLst/>
          </a:prstGeom>
          <a:solidFill>
            <a:srgbClr val="6B7A99"/>
          </a:solidFill>
          <a:ln w="12700">
            <a:solidFill>
              <a:srgbClr val="6B7A99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Text 38"/>
          <p:cNvSpPr/>
          <p:nvPr/>
        </p:nvSpPr>
        <p:spPr>
          <a:xfrm>
            <a:off x="7452360" y="1563624"/>
            <a:ext cx="1325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FEMMES</a:t>
            </a:r>
            <a:endParaRPr lang="en-US" sz="900" dirty="0"/>
          </a:p>
        </p:txBody>
      </p:sp>
      <p:sp>
        <p:nvSpPr>
          <p:cNvPr id="42" name="Text 39"/>
          <p:cNvSpPr/>
          <p:nvPr/>
        </p:nvSpPr>
        <p:spPr>
          <a:xfrm>
            <a:off x="7452360" y="1801368"/>
            <a:ext cx="13258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25,81 %</a:t>
            </a:r>
            <a:endParaRPr lang="en-US" sz="2200" dirty="0"/>
          </a:p>
        </p:txBody>
      </p:sp>
      <p:sp>
        <p:nvSpPr>
          <p:cNvPr id="43" name="Text 40"/>
          <p:cNvSpPr/>
          <p:nvPr/>
        </p:nvSpPr>
        <p:spPr>
          <a:xfrm>
            <a:off x="6012180" y="2243966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85 % des tués sont des hommes</a:t>
            </a:r>
            <a:endParaRPr lang="en-US" sz="1050" dirty="0"/>
          </a:p>
        </p:txBody>
      </p:sp>
      <p:sp>
        <p:nvSpPr>
          <p:cNvPr id="59" name="Shape 56"/>
          <p:cNvSpPr/>
          <p:nvPr/>
        </p:nvSpPr>
        <p:spPr>
          <a:xfrm>
            <a:off x="292608" y="4141664"/>
            <a:ext cx="8595360" cy="621792"/>
          </a:xfrm>
          <a:prstGeom prst="rect">
            <a:avLst/>
          </a:prstGeom>
          <a:solidFill>
            <a:srgbClr val="EEF4FF"/>
          </a:solidFill>
          <a:ln w="12700">
            <a:solidFill>
              <a:srgbClr val="BDD0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0" name="Shape 57"/>
          <p:cNvSpPr/>
          <p:nvPr/>
        </p:nvSpPr>
        <p:spPr>
          <a:xfrm>
            <a:off x="287504" y="4155629"/>
            <a:ext cx="64008" cy="621792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1" name="Text 58"/>
          <p:cNvSpPr/>
          <p:nvPr/>
        </p:nvSpPr>
        <p:spPr>
          <a:xfrm>
            <a:off x="429768" y="4208437"/>
            <a:ext cx="832104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cumulatif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avec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l’indice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 plus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elevé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homme, jeune (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moins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16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16 -24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 avec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tracteur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cyclomoteur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personnes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75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+ et 65-74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sont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également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à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risques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car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ont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elevés</a:t>
            </a:r>
            <a:r>
              <a:rPr lang="en-US" sz="110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00" dirty="0"/>
          </a:p>
        </p:txBody>
      </p:sp>
      <p:pic>
        <p:nvPicPr>
          <p:cNvPr id="78" name="Image 77">
            <a:extLst>
              <a:ext uri="{FF2B5EF4-FFF2-40B4-BE49-F238E27FC236}">
                <a16:creationId xmlns:a16="http://schemas.microsoft.com/office/drawing/2014/main" id="{57090B1D-3E0D-D059-4E84-9721E389CF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1691640"/>
            <a:ext cx="5065450" cy="191557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DE VÉHICULE &amp; MOTORISATION</a:t>
            </a:r>
            <a:endParaRPr lang="en-US" sz="2200" dirty="0"/>
          </a:p>
        </p:txBody>
      </p:sp>
      <p:sp>
        <p:nvSpPr>
          <p:cNvPr id="33" name="Shape 30"/>
          <p:cNvSpPr/>
          <p:nvPr/>
        </p:nvSpPr>
        <p:spPr>
          <a:xfrm>
            <a:off x="6903720" y="1097280"/>
            <a:ext cx="2011680" cy="256032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4" name="Shape 31"/>
          <p:cNvSpPr/>
          <p:nvPr/>
        </p:nvSpPr>
        <p:spPr>
          <a:xfrm>
            <a:off x="6903720" y="1097280"/>
            <a:ext cx="201168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5" name="Text 32"/>
          <p:cNvSpPr/>
          <p:nvPr/>
        </p:nvSpPr>
        <p:spPr>
          <a:xfrm>
            <a:off x="6903720" y="1188720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Motorisation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taux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7022592" y="1655064"/>
            <a:ext cx="91440" cy="2743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7178040" y="16002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Hydrocarbures</a:t>
            </a:r>
            <a:endParaRPr lang="en-US" sz="1050" dirty="0"/>
          </a:p>
        </p:txBody>
      </p:sp>
      <p:sp>
        <p:nvSpPr>
          <p:cNvPr id="38" name="Text 35"/>
          <p:cNvSpPr/>
          <p:nvPr/>
        </p:nvSpPr>
        <p:spPr>
          <a:xfrm>
            <a:off x="7178040" y="182880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2,54 %</a:t>
            </a:r>
            <a:endParaRPr lang="en-US" sz="1050" dirty="0"/>
          </a:p>
        </p:txBody>
      </p:sp>
      <p:sp>
        <p:nvSpPr>
          <p:cNvPr id="39" name="Shape 36"/>
          <p:cNvSpPr/>
          <p:nvPr/>
        </p:nvSpPr>
        <p:spPr>
          <a:xfrm>
            <a:off x="7022592" y="2157984"/>
            <a:ext cx="91440" cy="274320"/>
          </a:xfrm>
          <a:prstGeom prst="rect">
            <a:avLst/>
          </a:prstGeom>
          <a:solidFill>
            <a:srgbClr val="1450B4"/>
          </a:solidFill>
          <a:ln w="12700">
            <a:solidFill>
              <a:srgbClr val="1450B4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Text 37"/>
          <p:cNvSpPr/>
          <p:nvPr/>
        </p:nvSpPr>
        <p:spPr>
          <a:xfrm>
            <a:off x="7178040" y="21031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Hydrogène</a:t>
            </a:r>
            <a:endParaRPr lang="en-US" sz="1050" dirty="0"/>
          </a:p>
        </p:txBody>
      </p:sp>
      <p:sp>
        <p:nvSpPr>
          <p:cNvPr id="41" name="Text 38"/>
          <p:cNvSpPr/>
          <p:nvPr/>
        </p:nvSpPr>
        <p:spPr>
          <a:xfrm>
            <a:off x="7178040" y="233172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450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2,38 %</a:t>
            </a:r>
            <a:endParaRPr lang="en-US" sz="1050" dirty="0"/>
          </a:p>
        </p:txBody>
      </p:sp>
      <p:sp>
        <p:nvSpPr>
          <p:cNvPr id="42" name="Shape 39"/>
          <p:cNvSpPr/>
          <p:nvPr/>
        </p:nvSpPr>
        <p:spPr>
          <a:xfrm>
            <a:off x="7022592" y="2660904"/>
            <a:ext cx="91440" cy="274320"/>
          </a:xfrm>
          <a:prstGeom prst="rect">
            <a:avLst/>
          </a:prstGeom>
          <a:solidFill>
            <a:srgbClr val="0F6E56"/>
          </a:solidFill>
          <a:ln w="12700">
            <a:solidFill>
              <a:srgbClr val="0F6E5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Text 40"/>
          <p:cNvSpPr/>
          <p:nvPr/>
        </p:nvSpPr>
        <p:spPr>
          <a:xfrm>
            <a:off x="7178040" y="260604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Inconnue</a:t>
            </a:r>
            <a:endParaRPr lang="en-US" sz="1050" dirty="0"/>
          </a:p>
        </p:txBody>
      </p:sp>
      <p:sp>
        <p:nvSpPr>
          <p:cNvPr id="44" name="Text 41"/>
          <p:cNvSpPr/>
          <p:nvPr/>
        </p:nvSpPr>
        <p:spPr>
          <a:xfrm>
            <a:off x="7178040" y="283464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F6E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1,58 %</a:t>
            </a:r>
            <a:endParaRPr lang="en-US" sz="1050" dirty="0"/>
          </a:p>
        </p:txBody>
      </p:sp>
      <p:sp>
        <p:nvSpPr>
          <p:cNvPr id="45" name="Shape 42"/>
          <p:cNvSpPr/>
          <p:nvPr/>
        </p:nvSpPr>
        <p:spPr>
          <a:xfrm>
            <a:off x="7022592" y="3163824"/>
            <a:ext cx="91440" cy="274320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6" name="Text 43"/>
          <p:cNvSpPr/>
          <p:nvPr/>
        </p:nvSpPr>
        <p:spPr>
          <a:xfrm>
            <a:off x="7178040" y="310896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Hybride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7178040" y="3337560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1,18 %</a:t>
            </a:r>
            <a:endParaRPr lang="en-US" sz="1050" dirty="0"/>
          </a:p>
        </p:txBody>
      </p:sp>
      <p:sp>
        <p:nvSpPr>
          <p:cNvPr id="48" name="Shape 45"/>
          <p:cNvSpPr/>
          <p:nvPr/>
        </p:nvSpPr>
        <p:spPr>
          <a:xfrm>
            <a:off x="274320" y="4430268"/>
            <a:ext cx="7909559" cy="507492"/>
          </a:xfrm>
          <a:prstGeom prst="rect">
            <a:avLst/>
          </a:prstGeom>
          <a:solidFill>
            <a:srgbClr val="EEF4FF"/>
          </a:solidFill>
          <a:ln w="12700">
            <a:solidFill>
              <a:srgbClr val="BDD0F8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9" name="Text 46"/>
          <p:cNvSpPr/>
          <p:nvPr/>
        </p:nvSpPr>
        <p:spPr>
          <a:xfrm>
            <a:off x="365760" y="4589106"/>
            <a:ext cx="7909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 Les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(6,17%) et la moto &gt;125 cm³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affichent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un taux de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 3,48%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largement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supérieur à celui d'un conducteur de VU (2,43%)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VL (2,20%) — facteur de tarification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prioritaire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| De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pour les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hydrocarbures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et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hydrogènes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affichent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&gt; aux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</a:t>
            </a:r>
            <a:r>
              <a:rPr lang="en-US" sz="1050" i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mode de </a:t>
            </a:r>
            <a:r>
              <a:rPr lang="en-US" sz="1050" i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motorisation</a:t>
            </a:r>
            <a:endParaRPr lang="en-US" sz="1050" dirty="0"/>
          </a:p>
        </p:txBody>
      </p:sp>
      <p:pic>
        <p:nvPicPr>
          <p:cNvPr id="53" name="Image 52">
            <a:extLst>
              <a:ext uri="{FF2B5EF4-FFF2-40B4-BE49-F238E27FC236}">
                <a16:creationId xmlns:a16="http://schemas.microsoft.com/office/drawing/2014/main" id="{99937CE0-CC3F-E014-49FE-FE86886839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8688" y="1061013"/>
            <a:ext cx="3884073" cy="322752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&amp; MOMENT DE L'ACCIDENT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246888" y="994144"/>
            <a:ext cx="3977640" cy="178308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246888" y="994144"/>
            <a:ext cx="3977640" cy="5486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Text 8"/>
          <p:cNvSpPr/>
          <p:nvPr/>
        </p:nvSpPr>
        <p:spPr>
          <a:xfrm>
            <a:off x="384048" y="10581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Agglomération vs hors agglomération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384048" y="1478776"/>
            <a:ext cx="73152" cy="438912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Text 10"/>
          <p:cNvSpPr/>
          <p:nvPr/>
        </p:nvSpPr>
        <p:spPr>
          <a:xfrm>
            <a:off x="539496" y="147877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agglomération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2807208" y="147877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4,42 %</a:t>
            </a:r>
            <a:endParaRPr lang="en-US" sz="2000" dirty="0"/>
          </a:p>
        </p:txBody>
      </p:sp>
      <p:sp>
        <p:nvSpPr>
          <p:cNvPr id="15" name="Text 12"/>
          <p:cNvSpPr/>
          <p:nvPr/>
        </p:nvSpPr>
        <p:spPr>
          <a:xfrm>
            <a:off x="539496" y="175309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4,42 %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384048" y="2073136"/>
            <a:ext cx="73152" cy="438912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Text 14"/>
          <p:cNvSpPr/>
          <p:nvPr/>
        </p:nvSpPr>
        <p:spPr>
          <a:xfrm>
            <a:off x="539496" y="2073136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agglomération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2807208" y="2073136"/>
            <a:ext cx="11887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1,31 %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539496" y="2347456"/>
            <a:ext cx="164592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9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1,31 %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453128" y="1052056"/>
            <a:ext cx="4331704" cy="2390394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6" name="Shape 33"/>
          <p:cNvSpPr/>
          <p:nvPr/>
        </p:nvSpPr>
        <p:spPr>
          <a:xfrm>
            <a:off x="4453128" y="994144"/>
            <a:ext cx="4389120" cy="5486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Text 34"/>
          <p:cNvSpPr/>
          <p:nvPr/>
        </p:nvSpPr>
        <p:spPr>
          <a:xfrm>
            <a:off x="4590288" y="105815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Accidents par heure de la journée</a:t>
            </a:r>
            <a:endParaRPr lang="en-US" sz="1200" dirty="0"/>
          </a:p>
        </p:txBody>
      </p:sp>
      <p:sp>
        <p:nvSpPr>
          <p:cNvPr id="38" name="Text 35"/>
          <p:cNvSpPr/>
          <p:nvPr/>
        </p:nvSpPr>
        <p:spPr>
          <a:xfrm>
            <a:off x="4590288" y="1405624"/>
            <a:ext cx="41148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 : 17h (9,58 %) · 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Vendredi</a:t>
            </a: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jour le plus 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accidentogène</a:t>
            </a: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(16,75 %) · 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Périodes</a:t>
            </a: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juin</a:t>
            </a: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juillet</a:t>
            </a: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octobre</a:t>
            </a:r>
            <a:r>
              <a:rPr lang="en-US" sz="10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les plus </a:t>
            </a:r>
            <a:r>
              <a:rPr lang="en-US" sz="1000" i="1" dirty="0" err="1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chargées</a:t>
            </a:r>
            <a:endParaRPr lang="en-US" sz="1000" dirty="0"/>
          </a:p>
        </p:txBody>
      </p:sp>
      <p:sp>
        <p:nvSpPr>
          <p:cNvPr id="68" name="Text 65"/>
          <p:cNvSpPr/>
          <p:nvPr/>
        </p:nvSpPr>
        <p:spPr>
          <a:xfrm>
            <a:off x="8601075" y="2795512"/>
            <a:ext cx="268605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850" dirty="0"/>
          </a:p>
        </p:txBody>
      </p:sp>
      <p:sp>
        <p:nvSpPr>
          <p:cNvPr id="69" name="Shape 66"/>
          <p:cNvSpPr/>
          <p:nvPr/>
        </p:nvSpPr>
        <p:spPr>
          <a:xfrm>
            <a:off x="246888" y="2946388"/>
            <a:ext cx="4017074" cy="1778508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70" name="Shape 67"/>
          <p:cNvSpPr/>
          <p:nvPr/>
        </p:nvSpPr>
        <p:spPr>
          <a:xfrm>
            <a:off x="246888" y="2926576"/>
            <a:ext cx="4017074" cy="4876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68"/>
          <p:cNvSpPr/>
          <p:nvPr/>
        </p:nvSpPr>
        <p:spPr>
          <a:xfrm>
            <a:off x="286322" y="290066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 selon les conditions d'éclairage</a:t>
            </a:r>
            <a:endParaRPr lang="en-US" sz="1200" dirty="0"/>
          </a:p>
        </p:txBody>
      </p:sp>
      <p:pic>
        <p:nvPicPr>
          <p:cNvPr id="85" name="Image 84">
            <a:extLst>
              <a:ext uri="{FF2B5EF4-FFF2-40B4-BE49-F238E27FC236}">
                <a16:creationId xmlns:a16="http://schemas.microsoft.com/office/drawing/2014/main" id="{D57B3BDD-E649-0B54-5402-2005A9B6626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2271" y="1743952"/>
            <a:ext cx="3334158" cy="1672194"/>
          </a:xfrm>
          <a:prstGeom prst="rect">
            <a:avLst/>
          </a:prstGeom>
        </p:spPr>
      </p:pic>
      <p:pic>
        <p:nvPicPr>
          <p:cNvPr id="87" name="Image 86">
            <a:extLst>
              <a:ext uri="{FF2B5EF4-FFF2-40B4-BE49-F238E27FC236}">
                <a16:creationId xmlns:a16="http://schemas.microsoft.com/office/drawing/2014/main" id="{C937ACF7-B331-FD21-9070-95D347E3D43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9168" y="3285831"/>
            <a:ext cx="3773920" cy="1343259"/>
          </a:xfrm>
          <a:prstGeom prst="rect">
            <a:avLst/>
          </a:prstGeom>
        </p:spPr>
      </p:pic>
      <p:sp>
        <p:nvSpPr>
          <p:cNvPr id="90" name="Shape 41">
            <a:extLst>
              <a:ext uri="{FF2B5EF4-FFF2-40B4-BE49-F238E27FC236}">
                <a16:creationId xmlns:a16="http://schemas.microsoft.com/office/drawing/2014/main" id="{F55C55D3-586D-E263-C419-B8CE84206E9A}"/>
              </a:ext>
            </a:extLst>
          </p:cNvPr>
          <p:cNvSpPr/>
          <p:nvPr/>
        </p:nvSpPr>
        <p:spPr>
          <a:xfrm>
            <a:off x="4453128" y="3573461"/>
            <a:ext cx="4331704" cy="1234440"/>
          </a:xfrm>
          <a:prstGeom prst="rect">
            <a:avLst/>
          </a:prstGeom>
          <a:solidFill>
            <a:srgbClr val="F4F7FB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91" name="Shape 42">
            <a:extLst>
              <a:ext uri="{FF2B5EF4-FFF2-40B4-BE49-F238E27FC236}">
                <a16:creationId xmlns:a16="http://schemas.microsoft.com/office/drawing/2014/main" id="{B6D76C35-50CB-3D96-0D8B-8CB9F6EB362E}"/>
              </a:ext>
            </a:extLst>
          </p:cNvPr>
          <p:cNvSpPr/>
          <p:nvPr/>
        </p:nvSpPr>
        <p:spPr>
          <a:xfrm>
            <a:off x="4453128" y="3573460"/>
            <a:ext cx="4331704" cy="88445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2" name="Text 43">
            <a:extLst>
              <a:ext uri="{FF2B5EF4-FFF2-40B4-BE49-F238E27FC236}">
                <a16:creationId xmlns:a16="http://schemas.microsoft.com/office/drawing/2014/main" id="{4192B15C-1355-0397-F38F-7EBF44511B3B}"/>
              </a:ext>
            </a:extLst>
          </p:cNvPr>
          <p:cNvSpPr/>
          <p:nvPr/>
        </p:nvSpPr>
        <p:spPr>
          <a:xfrm>
            <a:off x="4590288" y="3637469"/>
            <a:ext cx="29718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 &amp; 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indice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cout</a:t>
            </a:r>
            <a:r>
              <a:rPr lang="en-US" sz="12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assurance)</a:t>
            </a:r>
            <a:endParaRPr lang="en-US" sz="1200" dirty="0"/>
          </a:p>
        </p:txBody>
      </p:sp>
      <p:sp>
        <p:nvSpPr>
          <p:cNvPr id="93" name="Text 44">
            <a:extLst>
              <a:ext uri="{FF2B5EF4-FFF2-40B4-BE49-F238E27FC236}">
                <a16:creationId xmlns:a16="http://schemas.microsoft.com/office/drawing/2014/main" id="{FB22E739-E93C-CF19-C240-E96BF1AE4BB2}"/>
              </a:ext>
            </a:extLst>
          </p:cNvPr>
          <p:cNvSpPr/>
          <p:nvPr/>
        </p:nvSpPr>
        <p:spPr>
          <a:xfrm>
            <a:off x="4670877" y="3971225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Brouillard (indice)</a:t>
            </a:r>
            <a:endParaRPr lang="en-US" sz="900" dirty="0"/>
          </a:p>
        </p:txBody>
      </p:sp>
      <p:sp>
        <p:nvSpPr>
          <p:cNvPr id="94" name="Shape 45">
            <a:extLst>
              <a:ext uri="{FF2B5EF4-FFF2-40B4-BE49-F238E27FC236}">
                <a16:creationId xmlns:a16="http://schemas.microsoft.com/office/drawing/2014/main" id="{C78C0F1B-F415-1EA8-D107-8E9370771CAF}"/>
              </a:ext>
            </a:extLst>
          </p:cNvPr>
          <p:cNvSpPr/>
          <p:nvPr/>
        </p:nvSpPr>
        <p:spPr>
          <a:xfrm>
            <a:off x="5649285" y="4016945"/>
            <a:ext cx="940125" cy="10972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5" name="Text 46">
            <a:extLst>
              <a:ext uri="{FF2B5EF4-FFF2-40B4-BE49-F238E27FC236}">
                <a16:creationId xmlns:a16="http://schemas.microsoft.com/office/drawing/2014/main" id="{4DD8BCB0-F42C-B919-3B20-6C9548F37FCF}"/>
              </a:ext>
            </a:extLst>
          </p:cNvPr>
          <p:cNvSpPr/>
          <p:nvPr/>
        </p:nvSpPr>
        <p:spPr>
          <a:xfrm>
            <a:off x="6691701" y="3971225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</a:t>
            </a:r>
            <a:endParaRPr lang="en-US" sz="900" dirty="0"/>
          </a:p>
        </p:txBody>
      </p:sp>
      <p:sp>
        <p:nvSpPr>
          <p:cNvPr id="96" name="Text 47">
            <a:extLst>
              <a:ext uri="{FF2B5EF4-FFF2-40B4-BE49-F238E27FC236}">
                <a16:creationId xmlns:a16="http://schemas.microsoft.com/office/drawing/2014/main" id="{64D227FF-F695-EA34-BBED-CAA20D615F5C}"/>
              </a:ext>
            </a:extLst>
          </p:cNvPr>
          <p:cNvSpPr/>
          <p:nvPr/>
        </p:nvSpPr>
        <p:spPr>
          <a:xfrm>
            <a:off x="4664143" y="4172393"/>
            <a:ext cx="1024979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 fort (indice)</a:t>
            </a:r>
            <a:endParaRPr lang="en-US" sz="900" dirty="0"/>
          </a:p>
        </p:txBody>
      </p:sp>
      <p:sp>
        <p:nvSpPr>
          <p:cNvPr id="97" name="Shape 48">
            <a:extLst>
              <a:ext uri="{FF2B5EF4-FFF2-40B4-BE49-F238E27FC236}">
                <a16:creationId xmlns:a16="http://schemas.microsoft.com/office/drawing/2014/main" id="{272F0089-0ADF-132D-B80E-243A249A6B47}"/>
              </a:ext>
            </a:extLst>
          </p:cNvPr>
          <p:cNvSpPr/>
          <p:nvPr/>
        </p:nvSpPr>
        <p:spPr>
          <a:xfrm>
            <a:off x="5649285" y="4215844"/>
            <a:ext cx="940125" cy="111997"/>
          </a:xfrm>
          <a:prstGeom prst="rect">
            <a:avLst/>
          </a:prstGeom>
          <a:solidFill>
            <a:srgbClr val="E07020"/>
          </a:solidFill>
          <a:ln w="12700">
            <a:solidFill>
              <a:srgbClr val="E0702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98" name="Text 49">
            <a:extLst>
              <a:ext uri="{FF2B5EF4-FFF2-40B4-BE49-F238E27FC236}">
                <a16:creationId xmlns:a16="http://schemas.microsoft.com/office/drawing/2014/main" id="{D0BD8869-66AC-377D-D9E7-A701B833D675}"/>
              </a:ext>
            </a:extLst>
          </p:cNvPr>
          <p:cNvSpPr/>
          <p:nvPr/>
        </p:nvSpPr>
        <p:spPr>
          <a:xfrm>
            <a:off x="6691701" y="4172393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70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1,19</a:t>
            </a:r>
            <a:endParaRPr lang="en-US" sz="900" dirty="0"/>
          </a:p>
        </p:txBody>
      </p:sp>
      <p:sp>
        <p:nvSpPr>
          <p:cNvPr id="99" name="Text 50">
            <a:extLst>
              <a:ext uri="{FF2B5EF4-FFF2-40B4-BE49-F238E27FC236}">
                <a16:creationId xmlns:a16="http://schemas.microsoft.com/office/drawing/2014/main" id="{C7783D90-585D-1140-F546-A49BB0DC8990}"/>
              </a:ext>
            </a:extLst>
          </p:cNvPr>
          <p:cNvSpPr/>
          <p:nvPr/>
        </p:nvSpPr>
        <p:spPr>
          <a:xfrm>
            <a:off x="4659571" y="4364630"/>
            <a:ext cx="102497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Neige (indice)</a:t>
            </a:r>
            <a:endParaRPr lang="en-US" sz="900" dirty="0"/>
          </a:p>
        </p:txBody>
      </p:sp>
      <p:sp>
        <p:nvSpPr>
          <p:cNvPr id="100" name="Shape 51">
            <a:extLst>
              <a:ext uri="{FF2B5EF4-FFF2-40B4-BE49-F238E27FC236}">
                <a16:creationId xmlns:a16="http://schemas.microsoft.com/office/drawing/2014/main" id="{8E7EAB28-1EF6-7C22-6C65-DA4E6CD7FA72}"/>
              </a:ext>
            </a:extLst>
          </p:cNvPr>
          <p:cNvSpPr/>
          <p:nvPr/>
        </p:nvSpPr>
        <p:spPr>
          <a:xfrm>
            <a:off x="5649285" y="4419281"/>
            <a:ext cx="813816" cy="109728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1" name="Text 52">
            <a:extLst>
              <a:ext uri="{FF2B5EF4-FFF2-40B4-BE49-F238E27FC236}">
                <a16:creationId xmlns:a16="http://schemas.microsoft.com/office/drawing/2014/main" id="{5768E395-5C7F-367F-18A3-FCA6EAEBDC30}"/>
              </a:ext>
            </a:extLst>
          </p:cNvPr>
          <p:cNvSpPr/>
          <p:nvPr/>
        </p:nvSpPr>
        <p:spPr>
          <a:xfrm>
            <a:off x="6691701" y="4373561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1,13</a:t>
            </a:r>
            <a:endParaRPr lang="en-US" sz="900" dirty="0"/>
          </a:p>
        </p:txBody>
      </p:sp>
      <p:sp>
        <p:nvSpPr>
          <p:cNvPr id="102" name="Text 53">
            <a:extLst>
              <a:ext uri="{FF2B5EF4-FFF2-40B4-BE49-F238E27FC236}">
                <a16:creationId xmlns:a16="http://schemas.microsoft.com/office/drawing/2014/main" id="{BCC0D33F-3A46-635A-BCAD-9B6C058A5123}"/>
              </a:ext>
            </a:extLst>
          </p:cNvPr>
          <p:cNvSpPr/>
          <p:nvPr/>
        </p:nvSpPr>
        <p:spPr>
          <a:xfrm>
            <a:off x="4648443" y="4574729"/>
            <a:ext cx="1143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 err="1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Pluie</a:t>
            </a:r>
            <a:r>
              <a:rPr lang="en-US" sz="900" dirty="0">
                <a:solidFill>
                  <a:srgbClr val="1A2B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Forte (indice)</a:t>
            </a:r>
            <a:endParaRPr lang="en-US" sz="900" dirty="0"/>
          </a:p>
        </p:txBody>
      </p:sp>
      <p:sp>
        <p:nvSpPr>
          <p:cNvPr id="103" name="Shape 54">
            <a:extLst>
              <a:ext uri="{FF2B5EF4-FFF2-40B4-BE49-F238E27FC236}">
                <a16:creationId xmlns:a16="http://schemas.microsoft.com/office/drawing/2014/main" id="{8628F62E-C0B1-AF0A-334F-B52293D54FEC}"/>
              </a:ext>
            </a:extLst>
          </p:cNvPr>
          <p:cNvSpPr/>
          <p:nvPr/>
        </p:nvSpPr>
        <p:spPr>
          <a:xfrm>
            <a:off x="5649285" y="4620449"/>
            <a:ext cx="687714" cy="100584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04" name="Text 55">
            <a:extLst>
              <a:ext uri="{FF2B5EF4-FFF2-40B4-BE49-F238E27FC236}">
                <a16:creationId xmlns:a16="http://schemas.microsoft.com/office/drawing/2014/main" id="{449E59A1-0414-76C0-CD0F-BBFECE2166C4}"/>
              </a:ext>
            </a:extLst>
          </p:cNvPr>
          <p:cNvSpPr/>
          <p:nvPr/>
        </p:nvSpPr>
        <p:spPr>
          <a:xfrm>
            <a:off x="6691701" y="4574729"/>
            <a:ext cx="5669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8B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1,06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91440"/>
            <a:ext cx="1737360" cy="5486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4956048"/>
            <a:ext cx="9144000" cy="182880"/>
          </a:xfrm>
          <a:prstGeom prst="rect">
            <a:avLst/>
          </a:prstGeom>
          <a:solidFill>
            <a:srgbClr val="F4F7FB"/>
          </a:solidFill>
          <a:ln w="12700">
            <a:solidFill>
              <a:srgbClr val="D0DC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" name="Text 1"/>
          <p:cNvSpPr/>
          <p:nvPr/>
        </p:nvSpPr>
        <p:spPr>
          <a:xfrm>
            <a:off x="274320" y="4965192"/>
            <a:ext cx="54864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OOTBox Advisory  ·  Think Out Of The Box  ·  Confidentiel</a:t>
            </a:r>
            <a:endParaRPr lang="en-US" sz="800" dirty="0"/>
          </a:p>
        </p:txBody>
      </p:sp>
      <p:sp>
        <p:nvSpPr>
          <p:cNvPr id="5" name="Text 2"/>
          <p:cNvSpPr/>
          <p:nvPr/>
        </p:nvSpPr>
        <p:spPr>
          <a:xfrm>
            <a:off x="8412480" y="4965192"/>
            <a:ext cx="6400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800" dirty="0"/>
          </a:p>
        </p:txBody>
      </p:sp>
      <p:sp>
        <p:nvSpPr>
          <p:cNvPr id="6" name="Shape 3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03CA0"/>
          </a:solidFill>
          <a:ln w="12700">
            <a:solidFill>
              <a:srgbClr val="003CA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" name="Shape 4"/>
          <p:cNvSpPr/>
          <p:nvPr/>
        </p:nvSpPr>
        <p:spPr>
          <a:xfrm>
            <a:off x="0" y="868680"/>
            <a:ext cx="9144000" cy="64008"/>
          </a:xfrm>
          <a:prstGeom prst="rect">
            <a:avLst/>
          </a:prstGeom>
          <a:solidFill>
            <a:srgbClr val="28B4F0"/>
          </a:solidFill>
          <a:ln w="12700">
            <a:solidFill>
              <a:srgbClr val="28B4F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8" name="Text 5"/>
          <p:cNvSpPr/>
          <p:nvPr/>
        </p:nvSpPr>
        <p:spPr>
          <a:xfrm>
            <a:off x="411480" y="45720"/>
            <a:ext cx="6400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RECOMMANDATIONS</a:t>
            </a:r>
            <a:endParaRPr lang="en-US" sz="2200" dirty="0"/>
          </a:p>
        </p:txBody>
      </p:sp>
      <p:sp>
        <p:nvSpPr>
          <p:cNvPr id="41" name="Shape 6">
            <a:extLst>
              <a:ext uri="{FF2B5EF4-FFF2-40B4-BE49-F238E27FC236}">
                <a16:creationId xmlns:a16="http://schemas.microsoft.com/office/drawing/2014/main" id="{D12F2920-D2C1-6233-6F83-BDB710C6E71A}"/>
              </a:ext>
            </a:extLst>
          </p:cNvPr>
          <p:cNvSpPr/>
          <p:nvPr/>
        </p:nvSpPr>
        <p:spPr>
          <a:xfrm>
            <a:off x="274320" y="107899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42" name="Shape 7">
            <a:extLst>
              <a:ext uri="{FF2B5EF4-FFF2-40B4-BE49-F238E27FC236}">
                <a16:creationId xmlns:a16="http://schemas.microsoft.com/office/drawing/2014/main" id="{9D553802-7798-10E6-87E6-DA881D04E947}"/>
              </a:ext>
            </a:extLst>
          </p:cNvPr>
          <p:cNvSpPr/>
          <p:nvPr/>
        </p:nvSpPr>
        <p:spPr>
          <a:xfrm>
            <a:off x="274320" y="1078992"/>
            <a:ext cx="4251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3" name="Shape 8">
            <a:extLst>
              <a:ext uri="{FF2B5EF4-FFF2-40B4-BE49-F238E27FC236}">
                <a16:creationId xmlns:a16="http://schemas.microsoft.com/office/drawing/2014/main" id="{F7DDD419-F83A-D2C4-A0E7-6728640D5E61}"/>
              </a:ext>
            </a:extLst>
          </p:cNvPr>
          <p:cNvSpPr/>
          <p:nvPr/>
        </p:nvSpPr>
        <p:spPr>
          <a:xfrm>
            <a:off x="438912" y="1234440"/>
            <a:ext cx="402336" cy="40233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4" name="Text 9">
            <a:extLst>
              <a:ext uri="{FF2B5EF4-FFF2-40B4-BE49-F238E27FC236}">
                <a16:creationId xmlns:a16="http://schemas.microsoft.com/office/drawing/2014/main" id="{B8D22CBA-E216-146B-F43E-87625B68F38F}"/>
              </a:ext>
            </a:extLst>
          </p:cNvPr>
          <p:cNvSpPr/>
          <p:nvPr/>
        </p:nvSpPr>
        <p:spPr>
          <a:xfrm>
            <a:off x="43891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45" name="Text 10">
            <a:extLst>
              <a:ext uri="{FF2B5EF4-FFF2-40B4-BE49-F238E27FC236}">
                <a16:creationId xmlns:a16="http://schemas.microsoft.com/office/drawing/2014/main" id="{3E927012-CCB6-EB17-9A9C-20ACC927743A}"/>
              </a:ext>
            </a:extLst>
          </p:cNvPr>
          <p:cNvSpPr/>
          <p:nvPr/>
        </p:nvSpPr>
        <p:spPr>
          <a:xfrm>
            <a:off x="932688" y="12618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25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Tarification</a:t>
            </a:r>
            <a:r>
              <a:rPr lang="en-US" sz="125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r>
              <a:rPr lang="en-US" sz="125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b="1" dirty="0" err="1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lourds</a:t>
            </a:r>
            <a:r>
              <a:rPr lang="en-US" sz="125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Motos</a:t>
            </a:r>
            <a:endParaRPr lang="en-US" sz="1250" dirty="0"/>
          </a:p>
        </p:txBody>
      </p:sp>
      <p:sp>
        <p:nvSpPr>
          <p:cNvPr id="46" name="Shape 11">
            <a:extLst>
              <a:ext uri="{FF2B5EF4-FFF2-40B4-BE49-F238E27FC236}">
                <a16:creationId xmlns:a16="http://schemas.microsoft.com/office/drawing/2014/main" id="{7F644560-167A-2A44-09CA-E7E934555EC1}"/>
              </a:ext>
            </a:extLst>
          </p:cNvPr>
          <p:cNvSpPr/>
          <p:nvPr/>
        </p:nvSpPr>
        <p:spPr>
          <a:xfrm>
            <a:off x="3227832" y="1280160"/>
            <a:ext cx="1152144" cy="256032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7" name="Text 12">
            <a:extLst>
              <a:ext uri="{FF2B5EF4-FFF2-40B4-BE49-F238E27FC236}">
                <a16:creationId xmlns:a16="http://schemas.microsoft.com/office/drawing/2014/main" id="{C5A92A55-0412-B0B1-9F6D-032D806F5827}"/>
              </a:ext>
            </a:extLst>
          </p:cNvPr>
          <p:cNvSpPr/>
          <p:nvPr/>
        </p:nvSpPr>
        <p:spPr>
          <a:xfrm>
            <a:off x="3227832" y="12801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fort</a:t>
            </a:r>
            <a:endParaRPr lang="en-US" sz="900" dirty="0"/>
          </a:p>
        </p:txBody>
      </p:sp>
      <p:sp>
        <p:nvSpPr>
          <p:cNvPr id="48" name="Text 13">
            <a:extLst>
              <a:ext uri="{FF2B5EF4-FFF2-40B4-BE49-F238E27FC236}">
                <a16:creationId xmlns:a16="http://schemas.microsoft.com/office/drawing/2014/main" id="{A29AC901-9FC5-5653-E145-1ECE3A16E8F1}"/>
              </a:ext>
            </a:extLst>
          </p:cNvPr>
          <p:cNvSpPr/>
          <p:nvPr/>
        </p:nvSpPr>
        <p:spPr>
          <a:xfrm>
            <a:off x="438912" y="17373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Majoration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spécifique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poids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lourds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mortalité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6,09 %) et les motos &gt; 125 cm . </a:t>
            </a:r>
          </a:p>
          <a:p>
            <a:pPr>
              <a:lnSpc>
                <a:spcPct val="130000"/>
              </a:lnSpc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Clauses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équipements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casque,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gants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airbag → proposition bonus </a:t>
            </a:r>
            <a:r>
              <a:rPr lang="en-US" sz="115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tarifaire</a:t>
            </a: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150" dirty="0"/>
          </a:p>
        </p:txBody>
      </p:sp>
      <p:sp>
        <p:nvSpPr>
          <p:cNvPr id="49" name="Shape 14">
            <a:extLst>
              <a:ext uri="{FF2B5EF4-FFF2-40B4-BE49-F238E27FC236}">
                <a16:creationId xmlns:a16="http://schemas.microsoft.com/office/drawing/2014/main" id="{556AA529-2323-10AB-4C88-E744F1B15632}"/>
              </a:ext>
            </a:extLst>
          </p:cNvPr>
          <p:cNvSpPr/>
          <p:nvPr/>
        </p:nvSpPr>
        <p:spPr>
          <a:xfrm>
            <a:off x="4709160" y="107899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0" name="Shape 15">
            <a:extLst>
              <a:ext uri="{FF2B5EF4-FFF2-40B4-BE49-F238E27FC236}">
                <a16:creationId xmlns:a16="http://schemas.microsoft.com/office/drawing/2014/main" id="{17409FB6-FB2F-C33F-5F16-3CA57AB9FC56}"/>
              </a:ext>
            </a:extLst>
          </p:cNvPr>
          <p:cNvSpPr/>
          <p:nvPr/>
        </p:nvSpPr>
        <p:spPr>
          <a:xfrm>
            <a:off x="4709160" y="1078992"/>
            <a:ext cx="4251960" cy="6400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1" name="Shape 16">
            <a:extLst>
              <a:ext uri="{FF2B5EF4-FFF2-40B4-BE49-F238E27FC236}">
                <a16:creationId xmlns:a16="http://schemas.microsoft.com/office/drawing/2014/main" id="{8885A7D2-BCCF-F589-A3BD-56EDA5BEE18D}"/>
              </a:ext>
            </a:extLst>
          </p:cNvPr>
          <p:cNvSpPr/>
          <p:nvPr/>
        </p:nvSpPr>
        <p:spPr>
          <a:xfrm>
            <a:off x="4873752" y="1234440"/>
            <a:ext cx="402336" cy="402336"/>
          </a:xfrm>
          <a:prstGeom prst="ellipse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2" name="Text 17">
            <a:extLst>
              <a:ext uri="{FF2B5EF4-FFF2-40B4-BE49-F238E27FC236}">
                <a16:creationId xmlns:a16="http://schemas.microsoft.com/office/drawing/2014/main" id="{940B220D-4D18-B82A-905E-EE51BF11C90C}"/>
              </a:ext>
            </a:extLst>
          </p:cNvPr>
          <p:cNvSpPr/>
          <p:nvPr/>
        </p:nvSpPr>
        <p:spPr>
          <a:xfrm>
            <a:off x="4873752" y="1234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58E2BD42-296E-4EA1-1E81-E3F04887185D}"/>
              </a:ext>
            </a:extLst>
          </p:cNvPr>
          <p:cNvSpPr/>
          <p:nvPr/>
        </p:nvSpPr>
        <p:spPr>
          <a:xfrm>
            <a:off x="5367528" y="126187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 géographique</a:t>
            </a:r>
            <a:endParaRPr lang="en-US" sz="1250" dirty="0"/>
          </a:p>
        </p:txBody>
      </p:sp>
      <p:sp>
        <p:nvSpPr>
          <p:cNvPr id="54" name="Shape 19">
            <a:extLst>
              <a:ext uri="{FF2B5EF4-FFF2-40B4-BE49-F238E27FC236}">
                <a16:creationId xmlns:a16="http://schemas.microsoft.com/office/drawing/2014/main" id="{A89A79BA-2A29-954B-64B7-B5BC03E7174B}"/>
              </a:ext>
            </a:extLst>
          </p:cNvPr>
          <p:cNvSpPr/>
          <p:nvPr/>
        </p:nvSpPr>
        <p:spPr>
          <a:xfrm>
            <a:off x="7662672" y="1280160"/>
            <a:ext cx="1152144" cy="256032"/>
          </a:xfrm>
          <a:prstGeom prst="rect">
            <a:avLst/>
          </a:prstGeom>
          <a:solidFill>
            <a:srgbClr val="FFF0F0"/>
          </a:solidFill>
          <a:ln w="12700">
            <a:solidFill>
              <a:srgbClr val="E63946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5" name="Text 20">
            <a:extLst>
              <a:ext uri="{FF2B5EF4-FFF2-40B4-BE49-F238E27FC236}">
                <a16:creationId xmlns:a16="http://schemas.microsoft.com/office/drawing/2014/main" id="{A04859B9-3C39-7174-9DE0-498E9CEACB25}"/>
              </a:ext>
            </a:extLst>
          </p:cNvPr>
          <p:cNvSpPr/>
          <p:nvPr/>
        </p:nvSpPr>
        <p:spPr>
          <a:xfrm>
            <a:off x="7662672" y="128016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fort</a:t>
            </a:r>
            <a:endParaRPr lang="en-US" sz="900" dirty="0"/>
          </a:p>
        </p:txBody>
      </p:sp>
      <p:sp>
        <p:nvSpPr>
          <p:cNvPr id="56" name="Text 21">
            <a:extLst>
              <a:ext uri="{FF2B5EF4-FFF2-40B4-BE49-F238E27FC236}">
                <a16:creationId xmlns:a16="http://schemas.microsoft.com/office/drawing/2014/main" id="{5AD47A07-119C-3999-18C5-51281090E696}"/>
              </a:ext>
            </a:extLst>
          </p:cNvPr>
          <p:cNvSpPr/>
          <p:nvPr/>
        </p:nvSpPr>
        <p:spPr>
          <a:xfrm>
            <a:off x="4873752" y="173736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dans le scoring : hors agglo 4,45 % vs 1,32 % en ville (3,4×). Moduler franchises et primes selon département et type de voie.</a:t>
            </a:r>
            <a:endParaRPr lang="en-US" sz="1150" dirty="0"/>
          </a:p>
        </p:txBody>
      </p:sp>
      <p:sp>
        <p:nvSpPr>
          <p:cNvPr id="57" name="Shape 22">
            <a:extLst>
              <a:ext uri="{FF2B5EF4-FFF2-40B4-BE49-F238E27FC236}">
                <a16:creationId xmlns:a16="http://schemas.microsoft.com/office/drawing/2014/main" id="{E154AEA7-9BB9-4BBF-D298-4D5AD4660FBD}"/>
              </a:ext>
            </a:extLst>
          </p:cNvPr>
          <p:cNvSpPr/>
          <p:nvPr/>
        </p:nvSpPr>
        <p:spPr>
          <a:xfrm>
            <a:off x="274320" y="299923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58" name="Shape 23">
            <a:extLst>
              <a:ext uri="{FF2B5EF4-FFF2-40B4-BE49-F238E27FC236}">
                <a16:creationId xmlns:a16="http://schemas.microsoft.com/office/drawing/2014/main" id="{59748E6C-CC93-6F86-903D-CA8D8552BC8C}"/>
              </a:ext>
            </a:extLst>
          </p:cNvPr>
          <p:cNvSpPr/>
          <p:nvPr/>
        </p:nvSpPr>
        <p:spPr>
          <a:xfrm>
            <a:off x="274320" y="2999232"/>
            <a:ext cx="4251960" cy="64008"/>
          </a:xfrm>
          <a:prstGeom prst="rect">
            <a:avLst/>
          </a:prstGeom>
          <a:solidFill>
            <a:srgbClr val="1480D0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24">
            <a:extLst>
              <a:ext uri="{FF2B5EF4-FFF2-40B4-BE49-F238E27FC236}">
                <a16:creationId xmlns:a16="http://schemas.microsoft.com/office/drawing/2014/main" id="{0BF8F1E6-FF0D-06C4-BFD9-3DAD505767E2}"/>
              </a:ext>
            </a:extLst>
          </p:cNvPr>
          <p:cNvSpPr/>
          <p:nvPr/>
        </p:nvSpPr>
        <p:spPr>
          <a:xfrm>
            <a:off x="438912" y="3154680"/>
            <a:ext cx="402336" cy="402336"/>
          </a:xfrm>
          <a:prstGeom prst="ellipse">
            <a:avLst/>
          </a:prstGeom>
          <a:solidFill>
            <a:srgbClr val="1480D0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0" name="Text 25">
            <a:extLst>
              <a:ext uri="{FF2B5EF4-FFF2-40B4-BE49-F238E27FC236}">
                <a16:creationId xmlns:a16="http://schemas.microsoft.com/office/drawing/2014/main" id="{58283738-CF2B-E85F-B0DF-DF6967A8FF76}"/>
              </a:ext>
            </a:extLst>
          </p:cNvPr>
          <p:cNvSpPr/>
          <p:nvPr/>
        </p:nvSpPr>
        <p:spPr>
          <a:xfrm>
            <a:off x="438912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Text 26">
            <a:extLst>
              <a:ext uri="{FF2B5EF4-FFF2-40B4-BE49-F238E27FC236}">
                <a16:creationId xmlns:a16="http://schemas.microsoft.com/office/drawing/2014/main" id="{FCCE202E-1994-48EA-6C22-D29EDE5DADD6}"/>
              </a:ext>
            </a:extLst>
          </p:cNvPr>
          <p:cNvSpPr/>
          <p:nvPr/>
        </p:nvSpPr>
        <p:spPr>
          <a:xfrm>
            <a:off x="932688" y="31821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conducteur</a:t>
            </a:r>
            <a:endParaRPr lang="en-US" sz="1250" dirty="0"/>
          </a:p>
        </p:txBody>
      </p:sp>
      <p:sp>
        <p:nvSpPr>
          <p:cNvPr id="62" name="Shape 27">
            <a:extLst>
              <a:ext uri="{FF2B5EF4-FFF2-40B4-BE49-F238E27FC236}">
                <a16:creationId xmlns:a16="http://schemas.microsoft.com/office/drawing/2014/main" id="{1063631C-0567-CBB5-5591-7E3C9A507494}"/>
              </a:ext>
            </a:extLst>
          </p:cNvPr>
          <p:cNvSpPr/>
          <p:nvPr/>
        </p:nvSpPr>
        <p:spPr>
          <a:xfrm>
            <a:off x="3227832" y="3200400"/>
            <a:ext cx="1152144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3" name="Text 28">
            <a:extLst>
              <a:ext uri="{FF2B5EF4-FFF2-40B4-BE49-F238E27FC236}">
                <a16:creationId xmlns:a16="http://schemas.microsoft.com/office/drawing/2014/main" id="{7FBFBB3B-7642-0F54-E418-F7FF42744F58}"/>
              </a:ext>
            </a:extLst>
          </p:cNvPr>
          <p:cNvSpPr/>
          <p:nvPr/>
        </p:nvSpPr>
        <p:spPr>
          <a:xfrm>
            <a:off x="3227832" y="320040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8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moyen</a:t>
            </a:r>
            <a:endParaRPr lang="en-US" sz="900" dirty="0"/>
          </a:p>
        </p:txBody>
      </p:sp>
      <p:sp>
        <p:nvSpPr>
          <p:cNvPr id="64" name="Text 29">
            <a:extLst>
              <a:ext uri="{FF2B5EF4-FFF2-40B4-BE49-F238E27FC236}">
                <a16:creationId xmlns:a16="http://schemas.microsoft.com/office/drawing/2014/main" id="{73776D05-FE55-608B-E3E6-89F1C4B87325}"/>
              </a:ext>
            </a:extLst>
          </p:cNvPr>
          <p:cNvSpPr/>
          <p:nvPr/>
        </p:nvSpPr>
        <p:spPr>
          <a:xfrm>
            <a:off x="438912" y="36576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 ans et plus : mortalité 8,29 % — examen médical périodique. 65-74 ans : 4,40 %. Profil masculin sur-représenté — segmentation tarifaire H/F par âge.</a:t>
            </a:r>
            <a:endParaRPr lang="en-US" sz="1150" dirty="0"/>
          </a:p>
        </p:txBody>
      </p:sp>
      <p:sp>
        <p:nvSpPr>
          <p:cNvPr id="65" name="Shape 30">
            <a:extLst>
              <a:ext uri="{FF2B5EF4-FFF2-40B4-BE49-F238E27FC236}">
                <a16:creationId xmlns:a16="http://schemas.microsoft.com/office/drawing/2014/main" id="{8E194C3D-7398-CD39-0E8B-5DD526F7D751}"/>
              </a:ext>
            </a:extLst>
          </p:cNvPr>
          <p:cNvSpPr/>
          <p:nvPr/>
        </p:nvSpPr>
        <p:spPr>
          <a:xfrm>
            <a:off x="4709160" y="2999232"/>
            <a:ext cx="425196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C0D0E8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66" name="Shape 31">
            <a:extLst>
              <a:ext uri="{FF2B5EF4-FFF2-40B4-BE49-F238E27FC236}">
                <a16:creationId xmlns:a16="http://schemas.microsoft.com/office/drawing/2014/main" id="{DFE1E8EA-617C-EE7B-1ED0-7B4C5115CBD8}"/>
              </a:ext>
            </a:extLst>
          </p:cNvPr>
          <p:cNvSpPr/>
          <p:nvPr/>
        </p:nvSpPr>
        <p:spPr>
          <a:xfrm>
            <a:off x="4709160" y="2999232"/>
            <a:ext cx="4251960" cy="64008"/>
          </a:xfrm>
          <a:prstGeom prst="rect">
            <a:avLst/>
          </a:prstGeom>
          <a:solidFill>
            <a:srgbClr val="1480D0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7" name="Shape 32">
            <a:extLst>
              <a:ext uri="{FF2B5EF4-FFF2-40B4-BE49-F238E27FC236}">
                <a16:creationId xmlns:a16="http://schemas.microsoft.com/office/drawing/2014/main" id="{BB273823-C503-B71A-6D77-CC130E0E76F4}"/>
              </a:ext>
            </a:extLst>
          </p:cNvPr>
          <p:cNvSpPr/>
          <p:nvPr/>
        </p:nvSpPr>
        <p:spPr>
          <a:xfrm>
            <a:off x="4873752" y="3154680"/>
            <a:ext cx="402336" cy="402336"/>
          </a:xfrm>
          <a:prstGeom prst="ellipse">
            <a:avLst/>
          </a:prstGeom>
          <a:solidFill>
            <a:srgbClr val="1480D0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8" name="Text 33">
            <a:extLst>
              <a:ext uri="{FF2B5EF4-FFF2-40B4-BE49-F238E27FC236}">
                <a16:creationId xmlns:a16="http://schemas.microsoft.com/office/drawing/2014/main" id="{DF4E9185-C448-4B28-4BB9-E7D875BBD560}"/>
              </a:ext>
            </a:extLst>
          </p:cNvPr>
          <p:cNvSpPr/>
          <p:nvPr/>
        </p:nvSpPr>
        <p:spPr>
          <a:xfrm>
            <a:off x="4873752" y="3154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69" name="Text 34">
            <a:extLst>
              <a:ext uri="{FF2B5EF4-FFF2-40B4-BE49-F238E27FC236}">
                <a16:creationId xmlns:a16="http://schemas.microsoft.com/office/drawing/2014/main" id="{111A853C-86D7-BADF-0265-9889F9ACC61B}"/>
              </a:ext>
            </a:extLst>
          </p:cNvPr>
          <p:cNvSpPr/>
          <p:nvPr/>
        </p:nvSpPr>
        <p:spPr>
          <a:xfrm>
            <a:off x="5367528" y="3182112"/>
            <a:ext cx="2423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03C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Campagne de sensibilisation</a:t>
            </a:r>
            <a:endParaRPr lang="en-US" sz="1250" dirty="0"/>
          </a:p>
        </p:txBody>
      </p:sp>
      <p:sp>
        <p:nvSpPr>
          <p:cNvPr id="70" name="Shape 35">
            <a:extLst>
              <a:ext uri="{FF2B5EF4-FFF2-40B4-BE49-F238E27FC236}">
                <a16:creationId xmlns:a16="http://schemas.microsoft.com/office/drawing/2014/main" id="{3645816B-38A2-1EB1-4FA0-E3A7981D8EDF}"/>
              </a:ext>
            </a:extLst>
          </p:cNvPr>
          <p:cNvSpPr/>
          <p:nvPr/>
        </p:nvSpPr>
        <p:spPr>
          <a:xfrm>
            <a:off x="7662672" y="3200400"/>
            <a:ext cx="1152144" cy="256032"/>
          </a:xfrm>
          <a:prstGeom prst="rect">
            <a:avLst/>
          </a:prstGeom>
          <a:solidFill>
            <a:srgbClr val="EEF4FF"/>
          </a:solidFill>
          <a:ln w="12700">
            <a:solidFill>
              <a:srgbClr val="1480D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71" name="Text 36">
            <a:extLst>
              <a:ext uri="{FF2B5EF4-FFF2-40B4-BE49-F238E27FC236}">
                <a16:creationId xmlns:a16="http://schemas.microsoft.com/office/drawing/2014/main" id="{A8B5889A-2740-5D22-7C72-D653338141F8}"/>
              </a:ext>
            </a:extLst>
          </p:cNvPr>
          <p:cNvSpPr/>
          <p:nvPr/>
        </p:nvSpPr>
        <p:spPr>
          <a:xfrm>
            <a:off x="7662672" y="3200400"/>
            <a:ext cx="1152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480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moyen</a:t>
            </a:r>
            <a:endParaRPr lang="en-US" sz="900" dirty="0"/>
          </a:p>
        </p:txBody>
      </p:sp>
      <p:sp>
        <p:nvSpPr>
          <p:cNvPr id="72" name="Text 37">
            <a:extLst>
              <a:ext uri="{FF2B5EF4-FFF2-40B4-BE49-F238E27FC236}">
                <a16:creationId xmlns:a16="http://schemas.microsoft.com/office/drawing/2014/main" id="{3688A592-58E8-4DF4-8A28-6828E51B5216}"/>
              </a:ext>
            </a:extLst>
          </p:cNvPr>
          <p:cNvSpPr/>
          <p:nvPr/>
        </p:nvSpPr>
        <p:spPr>
          <a:xfrm>
            <a:off x="4873752" y="3657600"/>
            <a:ext cx="3977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Créneaux cibles : vendredi 16–19h (pic 9,58 % à 17h), juin/juillet/octobre.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Météo</a:t>
            </a:r>
            <a:r>
              <a:rPr lang="en-US" sz="10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brouillard (1,19), vent fort (1,19), neige/grêle (1,13), pluie forte (1,06) → alertes contextuelles. </a:t>
            </a:r>
          </a:p>
          <a:p>
            <a:pPr marL="0" indent="0">
              <a:lnSpc>
                <a:spcPct val="130000"/>
              </a:lnSpc>
              <a:buNone/>
            </a:pPr>
            <a:r>
              <a:rPr lang="en-US" sz="1000" dirty="0" err="1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Éclairage</a:t>
            </a:r>
            <a:r>
              <a:rPr lang="en-US" sz="1000" dirty="0">
                <a:solidFill>
                  <a:srgbClr val="3440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 nuit sans éclairage public (indice 1,31) et non allumé (1,15) → plaidoyer auprès des élus pour améliorer l’éclairage sur routes départementales hors agglomération.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1044</Words>
  <Application>Microsoft Office PowerPoint</Application>
  <PresentationFormat>Affichage à l'écran (16:9)</PresentationFormat>
  <Paragraphs>186</Paragraphs>
  <Slides>9</Slides>
  <Notes>8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Analyse Accidents France 2021 - OOTBox Advisory</dc:title>
  <dc:subject>PptxGenJS Presentation</dc:subject>
  <dc:creator>PptxGenJS</dc:creator>
  <cp:lastModifiedBy>Lyderick Henry</cp:lastModifiedBy>
  <cp:revision>10</cp:revision>
  <dcterms:created xsi:type="dcterms:W3CDTF">2026-03-18T11:56:52Z</dcterms:created>
  <dcterms:modified xsi:type="dcterms:W3CDTF">2026-04-26T14:47:31Z</dcterms:modified>
</cp:coreProperties>
</file>