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notesSlides/notesSlide7.xml" ContentType="application/vnd.openxmlformats-officedocument.presentationml.notesSlide+xml"/>
  <Override PartName="/ppt/tags/tag4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82" r:id="rId6"/>
    <p:sldId id="260" r:id="rId7"/>
    <p:sldId id="261" r:id="rId8"/>
    <p:sldId id="283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6" r:id="rId28"/>
    <p:sldId id="281" r:id="rId29"/>
    <p:sldId id="284" r:id="rId30"/>
    <p:sldId id="269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78087" autoAdjust="0"/>
  </p:normalViewPr>
  <p:slideViewPr>
    <p:cSldViewPr snapToGrid="0" snapToObjects="1">
      <p:cViewPr varScale="1">
        <p:scale>
          <a:sx n="86" d="100"/>
          <a:sy n="86" d="100"/>
        </p:scale>
        <p:origin x="1548" y="90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2066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917052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57116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5675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temps </a:t>
            </a:r>
            <a:r>
              <a:rPr lang="en-US" dirty="0"/>
              <a:t>: discussion croisée avec les trois entretiens semi-directifs.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2EF10-FE3C-7731-08F2-7014FA012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667BBB-7247-DB27-95F5-50E98EB04F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A2BE5A-4EAB-1DB5-8F55-D416AACBC9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65EA8-F696-78F1-C1F8-C8EBD05D67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39511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6DAF9-E876-22A4-9702-EA760F380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C52B62-7B09-6B1A-7849-AF64B4E4E2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A5F716-BA0B-018E-704A-B507BB44C6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C113C-69BB-2119-08F3-84A6D0CD4D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390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136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media" Target="../media/media1.mp4"/><Relationship Id="rId2" Type="http://schemas.openxmlformats.org/officeDocument/2006/relationships/video" Target="NULL" TargetMode="Externa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lyderickh.github.io/memoire.html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548641" y="391066"/>
            <a:ext cx="4889122" cy="20413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MÉMOIRE DE MASTER · IAE LILLE · 2025–2026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12014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400" b="1" kern="0" spc="-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 et adoption</a:t>
            </a:r>
            <a:endParaRPr lang="en-US" sz="4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400" b="1" kern="0" spc="-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</a:t>
            </a:r>
            <a:r>
              <a:rPr lang="en-US" sz="4400" b="1" kern="0" spc="-1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l'intelligence</a:t>
            </a:r>
            <a:r>
              <a:rPr lang="en-US" sz="4400" b="1" kern="0" spc="-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400" b="1" kern="0" spc="-1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artificielle</a:t>
            </a:r>
            <a:endParaRPr lang="en-US" sz="4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400" b="1" kern="0" spc="-1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générative</a:t>
            </a:r>
            <a:r>
              <a:rPr lang="en-US" sz="4400" b="1" kern="0" spc="-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400" b="1" kern="0" spc="-1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4400" b="1" kern="0" spc="-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cabinet </a:t>
            </a:r>
            <a:r>
              <a:rPr lang="en-US" sz="4400" b="1" kern="0" spc="-1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d'audit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731520" y="3977640"/>
            <a:ext cx="3200400" cy="0"/>
          </a:xfrm>
          <a:prstGeom prst="line">
            <a:avLst/>
          </a:prstGeom>
          <a:noFill/>
          <a:ln w="15240">
            <a:solidFill>
              <a:srgbClr val="2C4A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LYDÉRICK HENRY</a:t>
            </a:r>
            <a:endParaRPr lang="en-US" sz="13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2 CGAO — Audit Contrôle de Gestion (Big Data)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50749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ENCADREMENT</a:t>
            </a:r>
            <a:endParaRPr lang="en-US" sz="9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Aymen ABBADI — Directeur académique</a:t>
            </a:r>
            <a:endParaRPr lang="en-US" sz="9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Kévin OLEJNIK — Tuteur cabinet d'audit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332720" y="6537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27</a:t>
            </a:r>
            <a:endParaRPr lang="en-US" sz="900" dirty="0"/>
          </a:p>
        </p:txBody>
      </p:sp>
      <p:pic>
        <p:nvPicPr>
          <p:cNvPr id="1026" name="Picture 2" descr="Espace presse - IAE Lille">
            <a:extLst>
              <a:ext uri="{FF2B5EF4-FFF2-40B4-BE49-F238E27FC236}">
                <a16:creationId xmlns:a16="http://schemas.microsoft.com/office/drawing/2014/main" id="{6BE07518-9813-5135-AD56-7A9041EB3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7572" y="60311"/>
            <a:ext cx="646601" cy="591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ORVIS MAZARS - Chambre Officielle de Commerce D'Espagne en France">
            <a:extLst>
              <a:ext uri="{FF2B5EF4-FFF2-40B4-BE49-F238E27FC236}">
                <a16:creationId xmlns:a16="http://schemas.microsoft.com/office/drawing/2014/main" id="{34367F60-A5E0-72ED-F071-3EE0443B2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6807" y="60311"/>
            <a:ext cx="1278459" cy="536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:push/>
      </p:transition>
    </mc:Choice>
    <mc:Fallback xmlns="">
      <p:transition spd="slow">
        <p:push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0332720" y="6537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SOUTENANCE · 2025–2026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1887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kern="0" spc="-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B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45920" y="235000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kern="0" spc="-3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&amp; problématique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" y="286207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B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45920" y="28803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kern="0" spc="-3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Cadre théorique &amp; hypothèses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31520" y="339242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B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45920" y="34107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kern="0" spc="-3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Méthodologie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31520" y="392277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B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45920" y="3941064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kern="0" spc="-3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 de l'échantillon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31520" y="445312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B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45920" y="447141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kern="0" spc="-3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&amp; tests d'hypothèses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31520" y="49834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B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645920" y="500176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kern="0" spc="-3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&amp; entretiens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31520" y="551383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B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645920" y="55321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kern="0" spc="-3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recommandations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:push/>
      </p:transition>
    </mc:Choice>
    <mc:Fallback xmlns="">
      <p:transition spd="slow">
        <p:push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137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0" b="1" kern="0" spc="-600" dirty="0">
                <a:solidFill>
                  <a:srgbClr val="B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4206240" y="2926080"/>
            <a:ext cx="0" cy="1280160"/>
          </a:xfrm>
          <a:prstGeom prst="line">
            <a:avLst/>
          </a:prstGeom>
          <a:noFill/>
          <a:ln w="19050">
            <a:solidFill>
              <a:srgbClr val="2C4A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480560" y="283464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kern="0" spc="-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&amp;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kern="0" spc="-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problématique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0332720" y="6548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SOUTENANCE · 2025–2026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· CONTEXTE &amp; PROBLÉMATIQUE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0332720" y="6537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SOUTENANCE · 2025–2026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-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outil en forte expansion, des enjeux critiques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D'ADOPTION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1965960"/>
            <a:ext cx="5303520" cy="0"/>
          </a:xfrm>
          <a:prstGeom prst="line">
            <a:avLst/>
          </a:prstGeom>
          <a:noFill/>
          <a:ln w="10160">
            <a:solidFill>
              <a:srgbClr val="B85C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r>
              <a:rPr lang="en-US" sz="1300" b="1" u="sng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%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 organisations prévoient d'intégrer l'IA d'ici 2027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KPMG (2024)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30 à 40 %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du temps des auditeurs libéré sur tâches répétitives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11,8 %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réduction projetée des effectifs juniors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Fedyk et al. (2022)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C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IDENTIFIÉ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0" y="1965960"/>
            <a:ext cx="4846320" cy="0"/>
          </a:xfrm>
          <a:prstGeom prst="line">
            <a:avLst/>
          </a:prstGeom>
          <a:noFill/>
          <a:ln w="10160">
            <a:solidFill>
              <a:srgbClr val="2C4A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583680" y="210312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Pas d'études empiriques sur </a:t>
            </a: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perception des </a:t>
            </a:r>
            <a:r>
              <a:rPr lang="en-US" sz="1200" b="1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auditeurs</a:t>
            </a: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français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L'impact sur le </a:t>
            </a: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scepticisme professionnel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reste méconnu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Tension entre </a:t>
            </a:r>
            <a:r>
              <a:rPr lang="en-US" sz="1200" b="1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bénéfices</a:t>
            </a: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1200" b="1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productivité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et </a:t>
            </a: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risques déontologiques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4489019"/>
            <a:ext cx="10698480" cy="140437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868680" y="4626179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PROBLÉMATIQUE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4991939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35000"/>
              </a:lnSpc>
            </a:pPr>
            <a:r>
              <a:rPr lang="en-US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</a:t>
            </a:r>
            <a:r>
              <a:rPr lang="fr-FR" sz="2000" i="1" dirty="0">
                <a:solidFill>
                  <a:schemeClr val="bg1"/>
                </a:solidFill>
              </a:rPr>
              <a:t>En quoi la perception </a:t>
            </a:r>
            <a:r>
              <a:rPr lang="fr-FR" sz="2000" b="1" i="1" dirty="0">
                <a:solidFill>
                  <a:schemeClr val="bg1"/>
                </a:solidFill>
              </a:rPr>
              <a:t>de l’intelligence artificielle générative </a:t>
            </a:r>
            <a:r>
              <a:rPr lang="fr-FR" sz="2000" i="1" dirty="0">
                <a:solidFill>
                  <a:schemeClr val="bg1"/>
                </a:solidFill>
              </a:rPr>
              <a:t>influence-t-elle </a:t>
            </a:r>
          </a:p>
          <a:p>
            <a:pPr algn="ctr">
              <a:lnSpc>
                <a:spcPct val="135000"/>
              </a:lnSpc>
            </a:pPr>
            <a:r>
              <a:rPr lang="fr-FR" sz="2000" i="1" dirty="0">
                <a:solidFill>
                  <a:schemeClr val="bg1"/>
                </a:solidFill>
              </a:rPr>
              <a:t>son </a:t>
            </a:r>
            <a:r>
              <a:rPr lang="fr-FR" sz="2000" b="1" i="1" dirty="0">
                <a:solidFill>
                  <a:schemeClr val="bg1"/>
                </a:solidFill>
              </a:rPr>
              <a:t>utilisation</a:t>
            </a:r>
            <a:r>
              <a:rPr lang="fr-FR" sz="2000" i="1" dirty="0">
                <a:solidFill>
                  <a:schemeClr val="bg1"/>
                </a:solidFill>
              </a:rPr>
              <a:t> dans les </a:t>
            </a:r>
            <a:r>
              <a:rPr lang="fr-FR" sz="2000" b="1" i="1" dirty="0">
                <a:solidFill>
                  <a:schemeClr val="bg1"/>
                </a:solidFill>
              </a:rPr>
              <a:t>cabinets d’audit </a:t>
            </a:r>
            <a:r>
              <a:rPr lang="fr-FR" sz="2000" i="1" dirty="0">
                <a:solidFill>
                  <a:schemeClr val="bg1"/>
                </a:solidFill>
              </a:rPr>
              <a:t>? </a:t>
            </a:r>
            <a:r>
              <a:rPr lang="en-US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»</a:t>
            </a:r>
            <a:endParaRPr 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push/>
      </p:transition>
    </mc:Choice>
    <mc:Fallback xmlns="">
      <p:transition spd="med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Line"/>
          <p:cNvSpPr/>
          <p:nvPr/>
        </p:nvSpPr>
        <p:spPr>
          <a:xfrm>
            <a:off x="557266" y="516281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5" name="PageNum"/>
          <p:cNvSpPr/>
          <p:nvPr/>
        </p:nvSpPr>
        <p:spPr>
          <a:xfrm>
            <a:off x="10332720" y="6537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27</a:t>
            </a:r>
          </a:p>
        </p:txBody>
      </p:sp>
      <p:sp>
        <p:nvSpPr>
          <p:cNvPr id="1006" name="Deck"/>
          <p:cNvSpPr/>
          <p:nvPr/>
        </p:nvSpPr>
        <p:spPr>
          <a:xfrm>
            <a:off x="54864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SOUTENANCE · 2025–2026</a:t>
            </a:r>
          </a:p>
        </p:txBody>
      </p:sp>
      <p:sp>
        <p:nvSpPr>
          <p:cNvPr id="10" name="Eyebrow"/>
          <p:cNvSpPr/>
          <p:nvPr/>
        </p:nvSpPr>
        <p:spPr>
          <a:xfrm>
            <a:off x="731520" y="731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· </a:t>
            </a:r>
            <a:r>
              <a:rPr lang="en-US" sz="1000" b="1" kern="0" spc="200" dirty="0" err="1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Qu’est</a:t>
            </a:r>
            <a:r>
              <a:rPr lang="en-US" sz="1000" b="1" kern="0" spc="20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kern="0" spc="200" dirty="0" err="1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</a:t>
            </a:r>
            <a:r>
              <a:rPr lang="en-US" sz="1000" b="1" kern="0" spc="20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kern="0" spc="200" dirty="0" err="1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</a:t>
            </a:r>
            <a:r>
              <a:rPr lang="en-US" sz="1000" b="1" kern="0" spc="20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kern="0" spc="200" dirty="0" err="1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l’IA</a:t>
            </a:r>
            <a:r>
              <a:rPr lang="en-US" sz="1000" b="1" kern="0" spc="20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kern="0" spc="200" dirty="0" err="1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générative</a:t>
            </a:r>
            <a:endParaRPr lang="en-US" sz="1000" b="1" kern="0" spc="200" dirty="0">
              <a:solidFill>
                <a:srgbClr val="A64B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1" name="Title"/>
          <p:cNvSpPr/>
          <p:nvPr/>
        </p:nvSpPr>
        <p:spPr>
          <a:xfrm>
            <a:off x="731520" y="121904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kern="0" spc="-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Générative, pas </a:t>
            </a:r>
            <a:r>
              <a:rPr lang="en-US" sz="2400" b="1" kern="0" spc="-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prédictive</a:t>
            </a:r>
            <a:r>
              <a:rPr lang="en-US" sz="2400" b="1" kern="0" spc="-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~ </a:t>
            </a:r>
            <a:r>
              <a:rPr lang="en-US" sz="2400" b="1" kern="0" spc="-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probabiliste</a:t>
            </a:r>
            <a:r>
              <a:rPr lang="en-US" sz="2400" b="1" kern="0" spc="-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pas véridique</a:t>
            </a:r>
          </a:p>
        </p:txBody>
      </p:sp>
      <p:sp>
        <p:nvSpPr>
          <p:cNvPr id="20" name="IACardBg"/>
          <p:cNvSpPr/>
          <p:nvPr/>
        </p:nvSpPr>
        <p:spPr>
          <a:xfrm>
            <a:off x="731520" y="2154591"/>
            <a:ext cx="53949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IALabel"/>
          <p:cNvSpPr/>
          <p:nvPr/>
        </p:nvSpPr>
        <p:spPr>
          <a:xfrm>
            <a:off x="1005840" y="2383191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CLASSIQUE</a:t>
            </a:r>
          </a:p>
        </p:txBody>
      </p:sp>
      <p:sp>
        <p:nvSpPr>
          <p:cNvPr id="22" name="IATitle"/>
          <p:cNvSpPr/>
          <p:nvPr/>
        </p:nvSpPr>
        <p:spPr>
          <a:xfrm>
            <a:off x="1005840" y="2657511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kern="0" spc="-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Discrimine, classe, prédit</a:t>
            </a:r>
          </a:p>
        </p:txBody>
      </p:sp>
      <p:sp>
        <p:nvSpPr>
          <p:cNvPr id="23" name="IADesc"/>
          <p:cNvSpPr/>
          <p:nvPr/>
        </p:nvSpPr>
        <p:spPr>
          <a:xfrm>
            <a:off x="1005840" y="3114711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0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Algorithmes d'apprentissage sur Big Data (</a:t>
            </a:r>
            <a:r>
              <a:rPr lang="en-US" sz="1000" b="1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classer, détecter </a:t>
            </a:r>
            <a:r>
              <a:rPr lang="en-US" sz="1000" b="1" kern="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</a:t>
            </a:r>
            <a:r>
              <a:rPr lang="en-US" sz="1000" b="1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b="1" kern="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prédire</a:t>
            </a:r>
            <a:r>
              <a:rPr lang="en-US" sz="1000" b="1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000" kern="0" dirty="0">
              <a:solidFill>
                <a:srgbClr val="3A3A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4" name="Line"/>
          <p:cNvSpPr/>
          <p:nvPr/>
        </p:nvSpPr>
        <p:spPr>
          <a:xfrm>
            <a:off x="1005840" y="3709071"/>
            <a:ext cx="4846320" cy="0"/>
          </a:xfrm>
          <a:prstGeom prst="line">
            <a:avLst/>
          </a:prstGeom>
          <a:noFill/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IAEx"/>
          <p:cNvSpPr/>
          <p:nvPr/>
        </p:nvSpPr>
        <p:spPr>
          <a:xfrm>
            <a:off x="1005840" y="3754791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EX. AUDIT   </a:t>
            </a:r>
            <a:r>
              <a:rPr lang="en-US" sz="95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d'anomalies, échantillonnage</a:t>
            </a:r>
          </a:p>
        </p:txBody>
      </p:sp>
      <p:sp>
        <p:nvSpPr>
          <p:cNvPr id="30" name="IAGCardBg"/>
          <p:cNvSpPr/>
          <p:nvPr/>
        </p:nvSpPr>
        <p:spPr>
          <a:xfrm>
            <a:off x="6309360" y="2154591"/>
            <a:ext cx="5394960" cy="1920240"/>
          </a:xfrm>
          <a:prstGeom prst="rect">
            <a:avLst/>
          </a:prstGeom>
          <a:solidFill>
            <a:srgbClr val="F0E2D8"/>
          </a:solidFill>
          <a:ln w="12700">
            <a:solidFill>
              <a:srgbClr val="A64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IAGLabel"/>
          <p:cNvSpPr/>
          <p:nvPr/>
        </p:nvSpPr>
        <p:spPr>
          <a:xfrm>
            <a:off x="6583680" y="2383191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GÉNÉRATIVE (IAG)</a:t>
            </a:r>
          </a:p>
        </p:txBody>
      </p:sp>
      <p:sp>
        <p:nvSpPr>
          <p:cNvPr id="32" name="IAGTitle"/>
          <p:cNvSpPr/>
          <p:nvPr/>
        </p:nvSpPr>
        <p:spPr>
          <a:xfrm>
            <a:off x="6583680" y="2657511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kern="0" spc="-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Génère du contenu original</a:t>
            </a:r>
          </a:p>
        </p:txBody>
      </p:sp>
      <p:sp>
        <p:nvSpPr>
          <p:cNvPr id="33" name="IAGDesc"/>
          <p:cNvSpPr/>
          <p:nvPr/>
        </p:nvSpPr>
        <p:spPr>
          <a:xfrm>
            <a:off x="6583680" y="3114711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0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Modèles de langage (LLMs) basés sur l'architecture Transformer (2017) — produisent du </a:t>
            </a:r>
            <a:r>
              <a:rPr lang="en-US" sz="1000" b="1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texte, code, image</a:t>
            </a:r>
            <a:r>
              <a:rPr lang="en-US" sz="100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à partir d'un prompt.</a:t>
            </a:r>
          </a:p>
        </p:txBody>
      </p:sp>
      <p:sp>
        <p:nvSpPr>
          <p:cNvPr id="34" name="Line"/>
          <p:cNvSpPr/>
          <p:nvPr/>
        </p:nvSpPr>
        <p:spPr>
          <a:xfrm>
            <a:off x="6583680" y="3709071"/>
            <a:ext cx="4846320" cy="0"/>
          </a:xfrm>
          <a:prstGeom prst="line">
            <a:avLst/>
          </a:prstGeom>
          <a:noFill/>
          <a:ln w="6350">
            <a:solidFill>
              <a:srgbClr val="A64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IAGEx"/>
          <p:cNvSpPr/>
          <p:nvPr/>
        </p:nvSpPr>
        <p:spPr>
          <a:xfrm>
            <a:off x="6583680" y="3754791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EX. AUDIT   </a:t>
            </a:r>
            <a:r>
              <a:rPr lang="en-US" sz="950" b="1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rédaction, synthèse, coding, recherche</a:t>
            </a:r>
          </a:p>
        </p:txBody>
      </p:sp>
      <p:pic>
        <p:nvPicPr>
          <p:cNvPr id="5" name="Vidéo">
            <a:hlinkClick r:id="" action="ppaction://media"/>
            <a:extLst>
              <a:ext uri="{FF2B5EF4-FFF2-40B4-BE49-F238E27FC236}">
                <a16:creationId xmlns:a16="http://schemas.microsoft.com/office/drawing/2014/main" id="{120F8127-D52E-7785-5C52-A8C35C9784F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>
                  <p14:trim end="971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31521" y="4303431"/>
            <a:ext cx="10972799" cy="210629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84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137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0" b="1" kern="0" spc="-600" dirty="0">
                <a:solidFill>
                  <a:srgbClr val="B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4206240" y="2926080"/>
            <a:ext cx="0" cy="1280160"/>
          </a:xfrm>
          <a:prstGeom prst="line">
            <a:avLst/>
          </a:prstGeom>
          <a:noFill/>
          <a:ln w="19050">
            <a:solidFill>
              <a:srgbClr val="2C4A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480560" y="283464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kern="0" spc="-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Cadre théorique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kern="0" spc="-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hypothèses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0332720" y="6537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SOUTENANCE · 2025–2026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Line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2" name="HeadPart"/>
          <p:cNvSpPr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kern="0" spc="400" dirty="0">
              <a:solidFill>
                <a:srgbClr val="8B7E6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04" name="Line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5" name="PageNum"/>
          <p:cNvSpPr/>
          <p:nvPr/>
        </p:nvSpPr>
        <p:spPr>
          <a:xfrm>
            <a:off x="10332720" y="6537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27</a:t>
            </a:r>
          </a:p>
        </p:txBody>
      </p:sp>
      <p:sp>
        <p:nvSpPr>
          <p:cNvPr id="1006" name="Deck"/>
          <p:cNvSpPr/>
          <p:nvPr/>
        </p:nvSpPr>
        <p:spPr>
          <a:xfrm>
            <a:off x="54864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SOUTENANCE · 2025–2026</a:t>
            </a:r>
          </a:p>
        </p:txBody>
      </p:sp>
      <p:sp>
        <p:nvSpPr>
          <p:cNvPr id="10" name="Eyebrow"/>
          <p:cNvSpPr/>
          <p:nvPr/>
        </p:nvSpPr>
        <p:spPr>
          <a:xfrm>
            <a:off x="731520" y="731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 · CADRE THÉORIQUE</a:t>
            </a:r>
          </a:p>
        </p:txBody>
      </p:sp>
      <p:sp>
        <p:nvSpPr>
          <p:cNvPr id="11" name="Title"/>
          <p:cNvSpPr/>
          <p:nvPr/>
        </p:nvSpPr>
        <p:spPr>
          <a:xfrm>
            <a:off x="731520" y="1066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kern="0" spc="-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</a:t>
            </a:r>
            <a:r>
              <a:rPr lang="en-US" sz="2600" b="1" kern="0" spc="-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piliers</a:t>
            </a:r>
            <a:r>
              <a:rPr lang="en-US" sz="2600" b="1" kern="0" spc="-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600" b="1" kern="0" spc="-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théoriques</a:t>
            </a:r>
            <a:r>
              <a:rPr lang="en-US" sz="2600" b="1" kern="0" spc="-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un cadre </a:t>
            </a:r>
            <a:r>
              <a:rPr lang="en-US" sz="2600" b="1" kern="0" spc="-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normatif</a:t>
            </a:r>
            <a:r>
              <a:rPr lang="en-US" sz="2600" b="1" kern="0" spc="-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transverse</a:t>
            </a:r>
          </a:p>
        </p:txBody>
      </p:sp>
      <p:sp>
        <p:nvSpPr>
          <p:cNvPr id="20" name="Card0"/>
          <p:cNvSpPr/>
          <p:nvPr/>
        </p:nvSpPr>
        <p:spPr>
          <a:xfrm>
            <a:off x="731520" y="2019817"/>
            <a:ext cx="3535680" cy="2348006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Ref0"/>
          <p:cNvSpPr/>
          <p:nvPr/>
        </p:nvSpPr>
        <p:spPr>
          <a:xfrm>
            <a:off x="1005840" y="2248417"/>
            <a:ext cx="298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DAVIS (1989)</a:t>
            </a:r>
          </a:p>
        </p:txBody>
      </p:sp>
      <p:sp>
        <p:nvSpPr>
          <p:cNvPr id="22" name="PilTitle0"/>
          <p:cNvSpPr/>
          <p:nvPr/>
        </p:nvSpPr>
        <p:spPr>
          <a:xfrm>
            <a:off x="1051560" y="2799976"/>
            <a:ext cx="298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b="1" kern="0" spc="-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Acceptance Model</a:t>
            </a:r>
          </a:p>
        </p:txBody>
      </p:sp>
      <p:sp>
        <p:nvSpPr>
          <p:cNvPr id="23" name="Desc0"/>
          <p:cNvSpPr/>
          <p:nvPr/>
        </p:nvSpPr>
        <p:spPr>
          <a:xfrm>
            <a:off x="1005840" y="3162817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endParaRPr lang="en-US" sz="1000" kern="0" dirty="0">
              <a:solidFill>
                <a:srgbClr val="3A3A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4" name="Line"/>
          <p:cNvSpPr/>
          <p:nvPr/>
        </p:nvSpPr>
        <p:spPr>
          <a:xfrm>
            <a:off x="1051560" y="3763014"/>
            <a:ext cx="2987040" cy="0"/>
          </a:xfrm>
          <a:prstGeom prst="line">
            <a:avLst/>
          </a:prstGeom>
          <a:noFill/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V0_0"/>
          <p:cNvSpPr/>
          <p:nvPr/>
        </p:nvSpPr>
        <p:spPr>
          <a:xfrm>
            <a:off x="1005840" y="3864898"/>
            <a:ext cx="298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b="1" kern="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en-US" sz="750" b="1" kern="0" spc="20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UTILITÉ PERÇUE</a:t>
            </a:r>
            <a:r>
              <a:rPr lang="en-US" sz="75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900" kern="0" dirty="0">
              <a:solidFill>
                <a:srgbClr val="3A3A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6" name="V0_1"/>
          <p:cNvSpPr/>
          <p:nvPr/>
        </p:nvSpPr>
        <p:spPr>
          <a:xfrm>
            <a:off x="1005840" y="4122936"/>
            <a:ext cx="298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b="1" kern="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en-US" sz="750" b="1" kern="0" spc="20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FACILITÉ D'USAGE</a:t>
            </a:r>
            <a:endParaRPr lang="en-US" sz="900" kern="0" dirty="0">
              <a:solidFill>
                <a:srgbClr val="3A3A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7" name="Card1"/>
          <p:cNvSpPr/>
          <p:nvPr/>
        </p:nvSpPr>
        <p:spPr>
          <a:xfrm>
            <a:off x="4450080" y="2019816"/>
            <a:ext cx="3535680" cy="2331721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Ref1"/>
          <p:cNvSpPr/>
          <p:nvPr/>
        </p:nvSpPr>
        <p:spPr>
          <a:xfrm>
            <a:off x="4724400" y="2248417"/>
            <a:ext cx="298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HURTT (2010)</a:t>
            </a:r>
          </a:p>
        </p:txBody>
      </p:sp>
      <p:sp>
        <p:nvSpPr>
          <p:cNvPr id="29" name="PilTitle1"/>
          <p:cNvSpPr/>
          <p:nvPr/>
        </p:nvSpPr>
        <p:spPr>
          <a:xfrm>
            <a:off x="4724400" y="2864593"/>
            <a:ext cx="298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b="1" kern="0" spc="-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Scepticisme professionnel</a:t>
            </a:r>
          </a:p>
        </p:txBody>
      </p:sp>
      <p:sp>
        <p:nvSpPr>
          <p:cNvPr id="30" name="Desc1"/>
          <p:cNvSpPr/>
          <p:nvPr/>
        </p:nvSpPr>
        <p:spPr>
          <a:xfrm>
            <a:off x="4724400" y="3162817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endParaRPr lang="en-US" sz="1000" kern="0" dirty="0">
              <a:solidFill>
                <a:srgbClr val="3A3A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1" name="Line"/>
          <p:cNvSpPr/>
          <p:nvPr/>
        </p:nvSpPr>
        <p:spPr>
          <a:xfrm>
            <a:off x="4724400" y="3763014"/>
            <a:ext cx="2987040" cy="0"/>
          </a:xfrm>
          <a:prstGeom prst="line">
            <a:avLst/>
          </a:prstGeom>
          <a:noFill/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V1_0"/>
          <p:cNvSpPr/>
          <p:nvPr/>
        </p:nvSpPr>
        <p:spPr>
          <a:xfrm>
            <a:off x="4724400" y="3855977"/>
            <a:ext cx="298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900" b="1" kern="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en-US" sz="750" b="1" kern="0" spc="20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</a:t>
            </a:r>
            <a:r>
              <a:rPr lang="en-US" sz="750" b="1" kern="0" spc="200" dirty="0">
                <a:solidFill>
                  <a:srgbClr val="A64B3A"/>
                </a:solidFill>
                <a:latin typeface="Arial" pitchFamily="34" charset="0"/>
                <a:ea typeface="Arial" pitchFamily="34" charset="-122"/>
              </a:rPr>
              <a:t>DIMENSIONS</a:t>
            </a:r>
          </a:p>
        </p:txBody>
      </p:sp>
      <p:sp>
        <p:nvSpPr>
          <p:cNvPr id="33" name="V1_1"/>
          <p:cNvSpPr/>
          <p:nvPr/>
        </p:nvSpPr>
        <p:spPr>
          <a:xfrm>
            <a:off x="4724400" y="4100077"/>
            <a:ext cx="298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b="1" kern="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en-US" sz="750" b="1" kern="0" spc="20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TRAITS STABLES</a:t>
            </a:r>
            <a:endParaRPr lang="en-US" sz="900" kern="0" dirty="0">
              <a:solidFill>
                <a:srgbClr val="3A3A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4" name="Card2"/>
          <p:cNvSpPr/>
          <p:nvPr/>
        </p:nvSpPr>
        <p:spPr>
          <a:xfrm>
            <a:off x="8168640" y="2019821"/>
            <a:ext cx="3535680" cy="2331716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Ref2"/>
          <p:cNvSpPr/>
          <p:nvPr/>
        </p:nvSpPr>
        <p:spPr>
          <a:xfrm>
            <a:off x="8442960" y="2248417"/>
            <a:ext cx="298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LIANG et al. (2025)</a:t>
            </a:r>
          </a:p>
        </p:txBody>
      </p:sp>
      <p:sp>
        <p:nvSpPr>
          <p:cNvPr id="36" name="PilTitle2"/>
          <p:cNvSpPr/>
          <p:nvPr/>
        </p:nvSpPr>
        <p:spPr>
          <a:xfrm>
            <a:off x="8473440" y="2858343"/>
            <a:ext cx="298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b="1" kern="0" spc="-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Talent</a:t>
            </a:r>
          </a:p>
        </p:txBody>
      </p:sp>
      <p:sp>
        <p:nvSpPr>
          <p:cNvPr id="37" name="Desc2"/>
          <p:cNvSpPr/>
          <p:nvPr/>
        </p:nvSpPr>
        <p:spPr>
          <a:xfrm>
            <a:off x="8442960" y="3162817"/>
            <a:ext cx="298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endParaRPr lang="en-US" sz="1000" kern="0" dirty="0">
              <a:solidFill>
                <a:srgbClr val="3A3A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8" name="Line"/>
          <p:cNvSpPr/>
          <p:nvPr/>
        </p:nvSpPr>
        <p:spPr>
          <a:xfrm>
            <a:off x="8442960" y="3665737"/>
            <a:ext cx="2987040" cy="0"/>
          </a:xfrm>
          <a:prstGeom prst="line">
            <a:avLst/>
          </a:prstGeom>
          <a:noFill/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V2_0"/>
          <p:cNvSpPr/>
          <p:nvPr/>
        </p:nvSpPr>
        <p:spPr>
          <a:xfrm>
            <a:off x="8442960" y="3834027"/>
            <a:ext cx="298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b="1" kern="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en-US" sz="750" b="1" kern="0" spc="20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COMPÉTENCES</a:t>
            </a:r>
            <a:endParaRPr lang="en-US" sz="900" kern="0" dirty="0">
              <a:solidFill>
                <a:srgbClr val="3A3A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0" name="V2_1"/>
          <p:cNvSpPr/>
          <p:nvPr/>
        </p:nvSpPr>
        <p:spPr>
          <a:xfrm>
            <a:off x="8442960" y="4093502"/>
            <a:ext cx="298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00" b="1" kern="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en-US" sz="750" b="1" kern="0" spc="20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MODÉRATEUR</a:t>
            </a:r>
            <a:r>
              <a:rPr lang="en-US" sz="75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endParaRPr lang="en-US" sz="900" kern="0" dirty="0">
              <a:solidFill>
                <a:srgbClr val="3A3A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0" name="BandBg"/>
          <p:cNvSpPr/>
          <p:nvPr/>
        </p:nvSpPr>
        <p:spPr>
          <a:xfrm>
            <a:off x="731520" y="4822596"/>
            <a:ext cx="10972800" cy="74381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H3Big"/>
          <p:cNvSpPr/>
          <p:nvPr/>
        </p:nvSpPr>
        <p:spPr>
          <a:xfrm>
            <a:off x="1051560" y="4943475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3200" b="1" kern="0" spc="-25" dirty="0">
              <a:solidFill>
                <a:srgbClr val="F4C28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2" name="H3Sub1"/>
          <p:cNvSpPr/>
          <p:nvPr/>
        </p:nvSpPr>
        <p:spPr>
          <a:xfrm>
            <a:off x="960120" y="4943475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8E8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CADRE DES RISQUES</a:t>
            </a:r>
          </a:p>
        </p:txBody>
      </p:sp>
      <p:sp>
        <p:nvSpPr>
          <p:cNvPr id="63" name="H3Sub2"/>
          <p:cNvSpPr/>
          <p:nvPr/>
        </p:nvSpPr>
        <p:spPr>
          <a:xfrm>
            <a:off x="960120" y="51843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dirty="0" err="1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Risques</a:t>
            </a:r>
            <a:r>
              <a:rPr lang="en-US" sz="1400" b="1" kern="0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kern="0" dirty="0" err="1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cognitifs</a:t>
            </a:r>
            <a:r>
              <a:rPr lang="en-US" sz="1400" b="1" kern="0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et cadre </a:t>
            </a:r>
            <a:r>
              <a:rPr lang="en-US" sz="1400" b="1" kern="0" dirty="0" err="1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normatif</a:t>
            </a:r>
            <a:endParaRPr lang="en-US" sz="1400" b="1" kern="0" dirty="0">
              <a:solidFill>
                <a:srgbClr val="FAF8F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4" name="H3Anchor"/>
          <p:cNvSpPr/>
          <p:nvPr/>
        </p:nvSpPr>
        <p:spPr>
          <a:xfrm>
            <a:off x="4542504" y="4943475"/>
            <a:ext cx="47784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50" kern="0" dirty="0">
                <a:solidFill>
                  <a:srgbClr val="C8C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Ancrée dans </a:t>
            </a:r>
            <a:r>
              <a:rPr lang="en-US" sz="1050" b="1" kern="0" dirty="0">
                <a:solidFill>
                  <a:srgbClr val="F4C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Munoko et al. (2020)</a:t>
            </a:r>
            <a:r>
              <a:rPr lang="en-US" sz="1050" kern="0" dirty="0">
                <a:solidFill>
                  <a:srgbClr val="C8C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1050" kern="0" dirty="0" err="1">
                <a:solidFill>
                  <a:srgbClr val="C8C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Biais</a:t>
            </a:r>
            <a:r>
              <a:rPr lang="en-US" sz="1050" kern="0" dirty="0">
                <a:solidFill>
                  <a:srgbClr val="C8C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d'automatisation, deskilling, </a:t>
            </a:r>
            <a:r>
              <a:rPr lang="en-US" sz="1050" kern="0" dirty="0" err="1">
                <a:solidFill>
                  <a:srgbClr val="C8C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boîte</a:t>
            </a:r>
            <a:r>
              <a:rPr lang="en-US" sz="1050" kern="0" dirty="0">
                <a:solidFill>
                  <a:srgbClr val="C8C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noire</a:t>
            </a:r>
          </a:p>
        </p:txBody>
      </p:sp>
      <p:sp>
        <p:nvSpPr>
          <p:cNvPr id="65" name="H3Q"/>
          <p:cNvSpPr/>
          <p:nvPr/>
        </p:nvSpPr>
        <p:spPr>
          <a:xfrm>
            <a:off x="9784080" y="4989195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endParaRPr lang="en-US" sz="800" b="1" kern="0" spc="200" dirty="0">
              <a:solidFill>
                <a:srgbClr val="8E8B8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6" name="H3Q2"/>
          <p:cNvSpPr/>
          <p:nvPr/>
        </p:nvSpPr>
        <p:spPr>
          <a:xfrm>
            <a:off x="9784080" y="5217795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endParaRPr lang="en-US" sz="800" kern="0" spc="100" dirty="0">
              <a:solidFill>
                <a:srgbClr val="8E8B82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70" name="Line"/>
          <p:cNvSpPr/>
          <p:nvPr/>
        </p:nvSpPr>
        <p:spPr>
          <a:xfrm>
            <a:off x="731520" y="5692140"/>
            <a:ext cx="10972800" cy="0"/>
          </a:xfrm>
          <a:prstGeom prst="line">
            <a:avLst/>
          </a:prstGeom>
          <a:noFill/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7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Line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2" name="HeadPart"/>
          <p:cNvSpPr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kern="0" spc="400" dirty="0">
              <a:solidFill>
                <a:srgbClr val="8B7E6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04" name="Line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5" name="PageNum"/>
          <p:cNvSpPr/>
          <p:nvPr/>
        </p:nvSpPr>
        <p:spPr>
          <a:xfrm>
            <a:off x="10332720" y="6537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27</a:t>
            </a:r>
          </a:p>
        </p:txBody>
      </p:sp>
      <p:sp>
        <p:nvSpPr>
          <p:cNvPr id="1006" name="Deck"/>
          <p:cNvSpPr/>
          <p:nvPr/>
        </p:nvSpPr>
        <p:spPr>
          <a:xfrm>
            <a:off x="54864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SOUTENANCE · 2025–2026</a:t>
            </a:r>
          </a:p>
        </p:txBody>
      </p:sp>
      <p:sp>
        <p:nvSpPr>
          <p:cNvPr id="10" name="Eyebrow"/>
          <p:cNvSpPr/>
          <p:nvPr/>
        </p:nvSpPr>
        <p:spPr>
          <a:xfrm>
            <a:off x="731520" y="731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 · LES 6 HYPOTHÈSES DE RECHERCHE</a:t>
            </a:r>
          </a:p>
        </p:txBody>
      </p:sp>
      <p:sp>
        <p:nvSpPr>
          <p:cNvPr id="11" name="Title"/>
          <p:cNvSpPr/>
          <p:nvPr/>
        </p:nvSpPr>
        <p:spPr>
          <a:xfrm>
            <a:off x="758952" y="115467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kern="0" spc="-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</a:t>
            </a:r>
            <a:r>
              <a:rPr lang="en-US" sz="2600" b="1" kern="0" spc="-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hypothèses</a:t>
            </a:r>
            <a:r>
              <a:rPr lang="en-US" sz="2600" b="1" kern="0" spc="-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testables sur l'échantillon d'auditeurs</a:t>
            </a:r>
          </a:p>
        </p:txBody>
      </p:sp>
      <p:sp>
        <p:nvSpPr>
          <p:cNvPr id="12" name="Subtitle"/>
          <p:cNvSpPr/>
          <p:nvPr/>
        </p:nvSpPr>
        <p:spPr>
          <a:xfrm>
            <a:off x="731520" y="1554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100" i="1" kern="0" dirty="0">
              <a:solidFill>
                <a:srgbClr val="8B7E6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0" name="TBg0"/>
          <p:cNvSpPr/>
          <p:nvPr/>
        </p:nvSpPr>
        <p:spPr>
          <a:xfrm>
            <a:off x="731520" y="1966080"/>
            <a:ext cx="35356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Strip0"/>
          <p:cNvSpPr/>
          <p:nvPr/>
        </p:nvSpPr>
        <p:spPr>
          <a:xfrm>
            <a:off x="731520" y="1966080"/>
            <a:ext cx="54864" cy="1920240"/>
          </a:xfrm>
          <a:prstGeom prst="rect">
            <a:avLst/>
          </a:prstGeom>
          <a:solidFill>
            <a:srgbClr val="A64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Code0"/>
          <p:cNvSpPr/>
          <p:nvPr/>
        </p:nvSpPr>
        <p:spPr>
          <a:xfrm>
            <a:off x="960120" y="210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3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</a:t>
            </a:r>
          </a:p>
        </p:txBody>
      </p:sp>
      <p:sp>
        <p:nvSpPr>
          <p:cNvPr id="23" name="TRel0"/>
          <p:cNvSpPr/>
          <p:nvPr/>
        </p:nvSpPr>
        <p:spPr>
          <a:xfrm>
            <a:off x="960120" y="2560440"/>
            <a:ext cx="307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kern="0" spc="-1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Utilité perçue → Usage</a:t>
            </a:r>
          </a:p>
        </p:txBody>
      </p:sp>
      <p:sp>
        <p:nvSpPr>
          <p:cNvPr id="24" name="TStmt0"/>
          <p:cNvSpPr/>
          <p:nvPr/>
        </p:nvSpPr>
        <p:spPr>
          <a:xfrm>
            <a:off x="960120" y="2880480"/>
            <a:ext cx="307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fr-FR" sz="90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L'utilité perçue de l'IA générative influence positivement son utilisation.</a:t>
            </a:r>
            <a:endParaRPr lang="en-US" sz="900" kern="0" dirty="0">
              <a:solidFill>
                <a:srgbClr val="3A3A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Line"/>
          <p:cNvSpPr/>
          <p:nvPr/>
        </p:nvSpPr>
        <p:spPr>
          <a:xfrm>
            <a:off x="960120" y="3588113"/>
            <a:ext cx="3078480" cy="0"/>
          </a:xfrm>
          <a:prstGeom prst="line">
            <a:avLst/>
          </a:prstGeom>
          <a:noFill/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6" name="TAnchor0"/>
          <p:cNvSpPr/>
          <p:nvPr/>
        </p:nvSpPr>
        <p:spPr>
          <a:xfrm>
            <a:off x="960120" y="3474840"/>
            <a:ext cx="307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850" b="1" kern="0" dirty="0">
              <a:solidFill>
                <a:srgbClr val="1A1A1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7" name="TDir0"/>
          <p:cNvSpPr/>
          <p:nvPr/>
        </p:nvSpPr>
        <p:spPr>
          <a:xfrm>
            <a:off x="960120" y="3703440"/>
            <a:ext cx="307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 </a:t>
            </a:r>
            <a:r>
              <a:rPr lang="en-US" sz="850" i="1" kern="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ρ(SUP, Q1) &gt; 0</a:t>
            </a:r>
          </a:p>
        </p:txBody>
      </p:sp>
      <p:sp>
        <p:nvSpPr>
          <p:cNvPr id="28" name="TBg1"/>
          <p:cNvSpPr/>
          <p:nvPr/>
        </p:nvSpPr>
        <p:spPr>
          <a:xfrm>
            <a:off x="4450080" y="1966080"/>
            <a:ext cx="35356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Strip1"/>
          <p:cNvSpPr/>
          <p:nvPr/>
        </p:nvSpPr>
        <p:spPr>
          <a:xfrm>
            <a:off x="4450080" y="1966080"/>
            <a:ext cx="54864" cy="1920240"/>
          </a:xfrm>
          <a:prstGeom prst="rect">
            <a:avLst/>
          </a:prstGeom>
          <a:solidFill>
            <a:srgbClr val="A64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Code1"/>
          <p:cNvSpPr/>
          <p:nvPr/>
        </p:nvSpPr>
        <p:spPr>
          <a:xfrm>
            <a:off x="4678680" y="210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3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</a:t>
            </a:r>
          </a:p>
        </p:txBody>
      </p:sp>
      <p:sp>
        <p:nvSpPr>
          <p:cNvPr id="31" name="TRel1"/>
          <p:cNvSpPr/>
          <p:nvPr/>
        </p:nvSpPr>
        <p:spPr>
          <a:xfrm>
            <a:off x="4678680" y="2560440"/>
            <a:ext cx="307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kern="0" spc="-1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Facilité d'usage → Usage</a:t>
            </a:r>
          </a:p>
        </p:txBody>
      </p:sp>
      <p:sp>
        <p:nvSpPr>
          <p:cNvPr id="32" name="TStmt1"/>
          <p:cNvSpPr/>
          <p:nvPr/>
        </p:nvSpPr>
        <p:spPr>
          <a:xfrm>
            <a:off x="4678680" y="2880480"/>
            <a:ext cx="307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fr-FR" sz="90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facilité d'utilisation perçue de l'IAG influence positivement son adoption effective.</a:t>
            </a:r>
            <a:endParaRPr lang="en-US" sz="900" kern="0" dirty="0">
              <a:solidFill>
                <a:srgbClr val="3A3A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3" name="Line"/>
          <p:cNvSpPr/>
          <p:nvPr/>
        </p:nvSpPr>
        <p:spPr>
          <a:xfrm>
            <a:off x="4678680" y="3584705"/>
            <a:ext cx="3078480" cy="0"/>
          </a:xfrm>
          <a:prstGeom prst="line">
            <a:avLst/>
          </a:prstGeom>
          <a:noFill/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Anchor1"/>
          <p:cNvSpPr/>
          <p:nvPr/>
        </p:nvSpPr>
        <p:spPr>
          <a:xfrm>
            <a:off x="4678680" y="3474840"/>
            <a:ext cx="307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850" b="1" kern="0" dirty="0">
              <a:solidFill>
                <a:srgbClr val="1A1A1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5" name="TDir1"/>
          <p:cNvSpPr/>
          <p:nvPr/>
        </p:nvSpPr>
        <p:spPr>
          <a:xfrm>
            <a:off x="4678680" y="3703440"/>
            <a:ext cx="307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 </a:t>
            </a:r>
            <a:r>
              <a:rPr lang="en-US" sz="850" i="1" kern="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ρ(SFU, Q1) &gt; 0</a:t>
            </a:r>
          </a:p>
        </p:txBody>
      </p:sp>
      <p:sp>
        <p:nvSpPr>
          <p:cNvPr id="36" name="TBg2"/>
          <p:cNvSpPr/>
          <p:nvPr/>
        </p:nvSpPr>
        <p:spPr>
          <a:xfrm>
            <a:off x="8168640" y="1966080"/>
            <a:ext cx="35356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Strip2"/>
          <p:cNvSpPr/>
          <p:nvPr/>
        </p:nvSpPr>
        <p:spPr>
          <a:xfrm>
            <a:off x="8168640" y="1966080"/>
            <a:ext cx="54864" cy="1920240"/>
          </a:xfrm>
          <a:prstGeom prst="rect">
            <a:avLst/>
          </a:prstGeom>
          <a:solidFill>
            <a:srgbClr val="A64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Code2"/>
          <p:cNvSpPr/>
          <p:nvPr/>
        </p:nvSpPr>
        <p:spPr>
          <a:xfrm>
            <a:off x="8397240" y="210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3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</a:t>
            </a:r>
          </a:p>
        </p:txBody>
      </p:sp>
      <p:sp>
        <p:nvSpPr>
          <p:cNvPr id="39" name="TRel2"/>
          <p:cNvSpPr/>
          <p:nvPr/>
        </p:nvSpPr>
        <p:spPr>
          <a:xfrm>
            <a:off x="8397240" y="2560440"/>
            <a:ext cx="307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kern="0" spc="-1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Risques perçus → Frein</a:t>
            </a:r>
          </a:p>
        </p:txBody>
      </p:sp>
      <p:sp>
        <p:nvSpPr>
          <p:cNvPr id="40" name="TStmt2"/>
          <p:cNvSpPr/>
          <p:nvPr/>
        </p:nvSpPr>
        <p:spPr>
          <a:xfrm>
            <a:off x="8397240" y="2880480"/>
            <a:ext cx="307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fr-FR" sz="90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perception des risques influence négativement l'intention d'utiliser l'IA générative.</a:t>
            </a:r>
            <a:endParaRPr lang="en-US" sz="900" kern="0" dirty="0">
              <a:solidFill>
                <a:srgbClr val="3A3A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1" name="Line"/>
          <p:cNvSpPr/>
          <p:nvPr/>
        </p:nvSpPr>
        <p:spPr>
          <a:xfrm>
            <a:off x="8397240" y="3584705"/>
            <a:ext cx="3078480" cy="0"/>
          </a:xfrm>
          <a:prstGeom prst="line">
            <a:avLst/>
          </a:prstGeom>
          <a:noFill/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Anchor2"/>
          <p:cNvSpPr/>
          <p:nvPr/>
        </p:nvSpPr>
        <p:spPr>
          <a:xfrm>
            <a:off x="8397240" y="3474840"/>
            <a:ext cx="307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850" b="1" kern="0" dirty="0">
              <a:solidFill>
                <a:srgbClr val="1A1A1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3" name="TDir2"/>
          <p:cNvSpPr/>
          <p:nvPr/>
        </p:nvSpPr>
        <p:spPr>
          <a:xfrm>
            <a:off x="8397240" y="3703440"/>
            <a:ext cx="307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 </a:t>
            </a:r>
            <a:r>
              <a:rPr lang="en-US" sz="850" i="1" kern="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ρ(SRP, Q17) &gt; 0</a:t>
            </a:r>
          </a:p>
        </p:txBody>
      </p:sp>
      <p:sp>
        <p:nvSpPr>
          <p:cNvPr id="44" name="TBg3"/>
          <p:cNvSpPr/>
          <p:nvPr/>
        </p:nvSpPr>
        <p:spPr>
          <a:xfrm>
            <a:off x="731520" y="4069200"/>
            <a:ext cx="35356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Strip3"/>
          <p:cNvSpPr/>
          <p:nvPr/>
        </p:nvSpPr>
        <p:spPr>
          <a:xfrm>
            <a:off x="731520" y="4069200"/>
            <a:ext cx="54864" cy="1920240"/>
          </a:xfrm>
          <a:prstGeom prst="rect">
            <a:avLst/>
          </a:prstGeom>
          <a:solidFill>
            <a:srgbClr val="A64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Code3"/>
          <p:cNvSpPr/>
          <p:nvPr/>
        </p:nvSpPr>
        <p:spPr>
          <a:xfrm>
            <a:off x="960120" y="4206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3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H4a</a:t>
            </a:r>
          </a:p>
        </p:txBody>
      </p:sp>
      <p:sp>
        <p:nvSpPr>
          <p:cNvPr id="47" name="TRel3"/>
          <p:cNvSpPr/>
          <p:nvPr/>
        </p:nvSpPr>
        <p:spPr>
          <a:xfrm>
            <a:off x="960120" y="4663560"/>
            <a:ext cx="307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kern="0" spc="-1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Maîtrise </a:t>
            </a:r>
            <a:r>
              <a:rPr lang="en-US" sz="1150" b="1" kern="0" spc="-1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modère</a:t>
            </a:r>
            <a:r>
              <a:rPr lang="en-US" sz="1150" b="1" kern="0" spc="-1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les </a:t>
            </a:r>
            <a:r>
              <a:rPr lang="en-US" sz="1150" b="1" kern="0" spc="-1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risques</a:t>
            </a:r>
            <a:endParaRPr lang="en-US" sz="1150" b="1" kern="0" spc="-10" dirty="0">
              <a:solidFill>
                <a:srgbClr val="1A1A1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8" name="TStmt3"/>
          <p:cNvSpPr/>
          <p:nvPr/>
        </p:nvSpPr>
        <p:spPr>
          <a:xfrm>
            <a:off x="960120" y="4983600"/>
            <a:ext cx="307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fr-FR" sz="90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niveau de formation et de maîtrise fonctionnelle agit comme un modérateur positif sur la relation entre risques perçus et utilisation de l'IAG.</a:t>
            </a:r>
            <a:endParaRPr lang="en-US" sz="900" kern="0" dirty="0">
              <a:solidFill>
                <a:srgbClr val="3A3A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9" name="Line"/>
          <p:cNvSpPr/>
          <p:nvPr/>
        </p:nvSpPr>
        <p:spPr>
          <a:xfrm>
            <a:off x="960120" y="5681073"/>
            <a:ext cx="3078480" cy="0"/>
          </a:xfrm>
          <a:prstGeom prst="line">
            <a:avLst/>
          </a:prstGeom>
          <a:noFill/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Anchor3"/>
          <p:cNvSpPr/>
          <p:nvPr/>
        </p:nvSpPr>
        <p:spPr>
          <a:xfrm>
            <a:off x="960120" y="5577960"/>
            <a:ext cx="307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850" b="1" kern="0" dirty="0">
              <a:solidFill>
                <a:srgbClr val="1A1A1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51" name="TDir3"/>
          <p:cNvSpPr/>
          <p:nvPr/>
        </p:nvSpPr>
        <p:spPr>
          <a:xfrm>
            <a:off x="960120" y="5806560"/>
            <a:ext cx="307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 </a:t>
            </a:r>
            <a:r>
              <a:rPr lang="en-US" sz="850" i="1" kern="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ρ(SRP, Q1) par tercile SMF</a:t>
            </a:r>
          </a:p>
        </p:txBody>
      </p:sp>
      <p:sp>
        <p:nvSpPr>
          <p:cNvPr id="52" name="TBg4"/>
          <p:cNvSpPr/>
          <p:nvPr/>
        </p:nvSpPr>
        <p:spPr>
          <a:xfrm>
            <a:off x="4450080" y="4069200"/>
            <a:ext cx="35356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Strip4"/>
          <p:cNvSpPr/>
          <p:nvPr/>
        </p:nvSpPr>
        <p:spPr>
          <a:xfrm>
            <a:off x="4450080" y="4069200"/>
            <a:ext cx="54864" cy="1920240"/>
          </a:xfrm>
          <a:prstGeom prst="rect">
            <a:avLst/>
          </a:prstGeom>
          <a:solidFill>
            <a:srgbClr val="A64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Code4"/>
          <p:cNvSpPr/>
          <p:nvPr/>
        </p:nvSpPr>
        <p:spPr>
          <a:xfrm>
            <a:off x="4678680" y="4206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3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H4b</a:t>
            </a:r>
          </a:p>
        </p:txBody>
      </p:sp>
      <p:sp>
        <p:nvSpPr>
          <p:cNvPr id="55" name="TRel4"/>
          <p:cNvSpPr/>
          <p:nvPr/>
        </p:nvSpPr>
        <p:spPr>
          <a:xfrm>
            <a:off x="4678680" y="4663560"/>
            <a:ext cx="307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kern="0" spc="-1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Maîtrise → Scepticisme</a:t>
            </a:r>
          </a:p>
        </p:txBody>
      </p:sp>
      <p:sp>
        <p:nvSpPr>
          <p:cNvPr id="56" name="TStmt4"/>
          <p:cNvSpPr/>
          <p:nvPr/>
        </p:nvSpPr>
        <p:spPr>
          <a:xfrm>
            <a:off x="4678680" y="4983600"/>
            <a:ext cx="307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fr-FR" sz="90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maîtrise fonctionnelle de l'IAG est positivement associée au scepticisme professionnel de l'auditeur.</a:t>
            </a:r>
            <a:endParaRPr lang="en-US" sz="900" kern="0" dirty="0">
              <a:solidFill>
                <a:srgbClr val="3A3A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57" name="Line"/>
          <p:cNvSpPr/>
          <p:nvPr/>
        </p:nvSpPr>
        <p:spPr>
          <a:xfrm>
            <a:off x="4678680" y="5681073"/>
            <a:ext cx="3078480" cy="0"/>
          </a:xfrm>
          <a:prstGeom prst="line">
            <a:avLst/>
          </a:prstGeom>
          <a:noFill/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TAnchor4"/>
          <p:cNvSpPr/>
          <p:nvPr/>
        </p:nvSpPr>
        <p:spPr>
          <a:xfrm>
            <a:off x="4678680" y="5577960"/>
            <a:ext cx="307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850" b="1" kern="0" dirty="0">
              <a:solidFill>
                <a:srgbClr val="1A1A1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59" name="TDir4"/>
          <p:cNvSpPr/>
          <p:nvPr/>
        </p:nvSpPr>
        <p:spPr>
          <a:xfrm>
            <a:off x="4678680" y="5806560"/>
            <a:ext cx="307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 </a:t>
            </a:r>
            <a:r>
              <a:rPr lang="en-US" sz="850" i="1" kern="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ρ(SMF, SSP) &gt; 0</a:t>
            </a:r>
          </a:p>
        </p:txBody>
      </p:sp>
      <p:sp>
        <p:nvSpPr>
          <p:cNvPr id="60" name="TBg5"/>
          <p:cNvSpPr/>
          <p:nvPr/>
        </p:nvSpPr>
        <p:spPr>
          <a:xfrm>
            <a:off x="8168640" y="4069200"/>
            <a:ext cx="35356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TStrip5"/>
          <p:cNvSpPr/>
          <p:nvPr/>
        </p:nvSpPr>
        <p:spPr>
          <a:xfrm>
            <a:off x="8168640" y="4069200"/>
            <a:ext cx="54864" cy="1920240"/>
          </a:xfrm>
          <a:prstGeom prst="rect">
            <a:avLst/>
          </a:prstGeom>
          <a:solidFill>
            <a:srgbClr val="A64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2" name="TCode5"/>
          <p:cNvSpPr/>
          <p:nvPr/>
        </p:nvSpPr>
        <p:spPr>
          <a:xfrm>
            <a:off x="8397240" y="4206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3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H4c</a:t>
            </a:r>
          </a:p>
        </p:txBody>
      </p:sp>
      <p:sp>
        <p:nvSpPr>
          <p:cNvPr id="63" name="TRel5"/>
          <p:cNvSpPr/>
          <p:nvPr/>
        </p:nvSpPr>
        <p:spPr>
          <a:xfrm>
            <a:off x="8397240" y="4663560"/>
            <a:ext cx="307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kern="0" spc="-1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Risques → Érosion scepticisme</a:t>
            </a:r>
          </a:p>
        </p:txBody>
      </p:sp>
      <p:sp>
        <p:nvSpPr>
          <p:cNvPr id="64" name="TStmt5"/>
          <p:cNvSpPr/>
          <p:nvPr/>
        </p:nvSpPr>
        <p:spPr>
          <a:xfrm>
            <a:off x="8397240" y="4983600"/>
            <a:ext cx="307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fr-FR" sz="90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perception des risques liés à l'IAG est négativement associée au scepticisme professionnel de l'auditeur.</a:t>
            </a:r>
            <a:endParaRPr lang="en-US" sz="900" kern="0" dirty="0">
              <a:solidFill>
                <a:srgbClr val="3A3A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5" name="Line"/>
          <p:cNvSpPr/>
          <p:nvPr/>
        </p:nvSpPr>
        <p:spPr>
          <a:xfrm>
            <a:off x="8397240" y="5681073"/>
            <a:ext cx="3078480" cy="0"/>
          </a:xfrm>
          <a:prstGeom prst="line">
            <a:avLst/>
          </a:prstGeom>
          <a:noFill/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TAnchor5"/>
          <p:cNvSpPr/>
          <p:nvPr/>
        </p:nvSpPr>
        <p:spPr>
          <a:xfrm>
            <a:off x="8397240" y="5577960"/>
            <a:ext cx="307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850" b="1" kern="0" dirty="0">
              <a:solidFill>
                <a:srgbClr val="1A1A1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7" name="TDir5"/>
          <p:cNvSpPr/>
          <p:nvPr/>
        </p:nvSpPr>
        <p:spPr>
          <a:xfrm>
            <a:off x="8397240" y="5806560"/>
            <a:ext cx="307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 </a:t>
            </a:r>
            <a:r>
              <a:rPr lang="en-US" sz="850" i="1" kern="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ρ(SRP, SSP) &lt; 0</a:t>
            </a:r>
          </a:p>
        </p:txBody>
      </p:sp>
      <p:sp>
        <p:nvSpPr>
          <p:cNvPr id="90" name="Note"/>
          <p:cNvSpPr/>
          <p:nvPr/>
        </p:nvSpPr>
        <p:spPr>
          <a:xfrm>
            <a:off x="731520" y="60808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800" i="1" kern="0" dirty="0">
              <a:solidFill>
                <a:srgbClr val="8B7E6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137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0" b="1" kern="0" spc="-600" dirty="0">
                <a:solidFill>
                  <a:srgbClr val="B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4206240" y="2926080"/>
            <a:ext cx="0" cy="1280160"/>
          </a:xfrm>
          <a:prstGeom prst="line">
            <a:avLst/>
          </a:prstGeom>
          <a:noFill/>
          <a:ln w="19050">
            <a:solidFill>
              <a:srgbClr val="2C4A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480560" y="283464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kern="0" spc="-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Méthodologie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0332720" y="6537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SOUTENANCE · 2025–2026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Line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2" name="HeadPart"/>
          <p:cNvSpPr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kern="0" spc="400" dirty="0">
              <a:solidFill>
                <a:srgbClr val="8B7E6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04" name="Line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5" name="PageNum"/>
          <p:cNvSpPr/>
          <p:nvPr/>
        </p:nvSpPr>
        <p:spPr>
          <a:xfrm>
            <a:off x="10332720" y="6537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27</a:t>
            </a:r>
          </a:p>
        </p:txBody>
      </p:sp>
      <p:sp>
        <p:nvSpPr>
          <p:cNvPr id="1006" name="Deck"/>
          <p:cNvSpPr/>
          <p:nvPr/>
        </p:nvSpPr>
        <p:spPr>
          <a:xfrm>
            <a:off x="54864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SOUTENANCE · 2025–2026</a:t>
            </a:r>
          </a:p>
        </p:txBody>
      </p:sp>
      <p:sp>
        <p:nvSpPr>
          <p:cNvPr id="10" name="Eyebrow"/>
          <p:cNvSpPr/>
          <p:nvPr/>
        </p:nvSpPr>
        <p:spPr>
          <a:xfrm>
            <a:off x="731520" y="731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 · MÉTHODOLOGIE</a:t>
            </a:r>
          </a:p>
        </p:txBody>
      </p:sp>
      <p:sp>
        <p:nvSpPr>
          <p:cNvPr id="11" name="Title"/>
          <p:cNvSpPr/>
          <p:nvPr/>
        </p:nvSpPr>
        <p:spPr>
          <a:xfrm>
            <a:off x="731520" y="100647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kern="0" spc="-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Dispositif mixte — positionnement hypothético-déductif</a:t>
            </a:r>
          </a:p>
        </p:txBody>
      </p:sp>
      <p:sp>
        <p:nvSpPr>
          <p:cNvPr id="20" name="QuantiLabel"/>
          <p:cNvSpPr/>
          <p:nvPr/>
        </p:nvSpPr>
        <p:spPr>
          <a:xfrm>
            <a:off x="731520" y="1713040"/>
            <a:ext cx="58841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A64B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QUANTITATIF</a:t>
            </a:r>
          </a:p>
        </p:txBody>
      </p:sp>
      <p:sp>
        <p:nvSpPr>
          <p:cNvPr id="21" name="Line"/>
          <p:cNvSpPr/>
          <p:nvPr/>
        </p:nvSpPr>
        <p:spPr>
          <a:xfrm>
            <a:off x="731520" y="1987360"/>
            <a:ext cx="5884164" cy="0"/>
          </a:xfrm>
          <a:prstGeom prst="line">
            <a:avLst/>
          </a:prstGeom>
          <a:noFill/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QuantiTitle"/>
          <p:cNvSpPr/>
          <p:nvPr/>
        </p:nvSpPr>
        <p:spPr>
          <a:xfrm>
            <a:off x="731520" y="2078800"/>
            <a:ext cx="58841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kern="0" spc="-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Questionnaire Google Form </a:t>
            </a:r>
          </a:p>
        </p:txBody>
      </p:sp>
      <p:sp>
        <p:nvSpPr>
          <p:cNvPr id="23" name="QItem0"/>
          <p:cNvSpPr/>
          <p:nvPr/>
        </p:nvSpPr>
        <p:spPr>
          <a:xfrm>
            <a:off x="731520" y="2536000"/>
            <a:ext cx="58841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36 questions · échelles Likert 5 et 7 points</a:t>
            </a:r>
          </a:p>
        </p:txBody>
      </p:sp>
      <p:sp>
        <p:nvSpPr>
          <p:cNvPr id="24" name="QItem1"/>
          <p:cNvSpPr/>
          <p:nvPr/>
        </p:nvSpPr>
        <p:spPr>
          <a:xfrm>
            <a:off x="731520" y="2810320"/>
            <a:ext cx="58841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kern="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blocs thématiques → 5 scores composites</a:t>
            </a:r>
          </a:p>
        </p:txBody>
      </p:sp>
      <p:sp>
        <p:nvSpPr>
          <p:cNvPr id="25" name="QItem2"/>
          <p:cNvSpPr/>
          <p:nvPr/>
        </p:nvSpPr>
        <p:spPr>
          <a:xfrm>
            <a:off x="731520" y="3084640"/>
            <a:ext cx="58841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kern="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: Forvis Mazars · OEC HdF · CRCC </a:t>
            </a:r>
            <a:r>
              <a:rPr lang="en-US" sz="1100" kern="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</a:t>
            </a:r>
            <a:r>
              <a:rPr lang="en-US" sz="1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CNCC · CRCC  et LinkedIn</a:t>
            </a:r>
          </a:p>
        </p:txBody>
      </p:sp>
      <p:sp>
        <p:nvSpPr>
          <p:cNvPr id="26" name="QItem3"/>
          <p:cNvSpPr/>
          <p:nvPr/>
        </p:nvSpPr>
        <p:spPr>
          <a:xfrm>
            <a:off x="731520" y="3358960"/>
            <a:ext cx="58841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100" kern="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kern="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Calculs</a:t>
            </a:r>
            <a:r>
              <a:rPr lang="en-US" sz="1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via Excel &amp; verification via python (scipy.stats)</a:t>
            </a:r>
          </a:p>
        </p:txBody>
      </p:sp>
      <p:sp>
        <p:nvSpPr>
          <p:cNvPr id="30" name="QualiLabel"/>
          <p:cNvSpPr/>
          <p:nvPr/>
        </p:nvSpPr>
        <p:spPr>
          <a:xfrm>
            <a:off x="6890004" y="1713040"/>
            <a:ext cx="48143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A64B3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QUALITATIF</a:t>
            </a:r>
          </a:p>
        </p:txBody>
      </p:sp>
      <p:sp>
        <p:nvSpPr>
          <p:cNvPr id="31" name="Line"/>
          <p:cNvSpPr/>
          <p:nvPr/>
        </p:nvSpPr>
        <p:spPr>
          <a:xfrm>
            <a:off x="6890004" y="1987360"/>
            <a:ext cx="4814316" cy="0"/>
          </a:xfrm>
          <a:prstGeom prst="line">
            <a:avLst/>
          </a:prstGeom>
          <a:noFill/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QualiTitle"/>
          <p:cNvSpPr/>
          <p:nvPr/>
        </p:nvSpPr>
        <p:spPr>
          <a:xfrm>
            <a:off x="6890004" y="2078800"/>
            <a:ext cx="48143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kern="0" spc="-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entretiens semi-</a:t>
            </a:r>
            <a:r>
              <a:rPr lang="en-US" sz="1500" b="1" kern="0" spc="-1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directifs</a:t>
            </a:r>
            <a:r>
              <a:rPr lang="en-US" sz="1500" b="1" kern="0" spc="-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(45 à 90 min)</a:t>
            </a:r>
          </a:p>
        </p:txBody>
      </p:sp>
      <p:sp>
        <p:nvSpPr>
          <p:cNvPr id="40" name="PLab0"/>
          <p:cNvSpPr/>
          <p:nvPr/>
        </p:nvSpPr>
        <p:spPr>
          <a:xfrm>
            <a:off x="6890004" y="25817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spc="10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</a:p>
        </p:txBody>
      </p:sp>
      <p:sp>
        <p:nvSpPr>
          <p:cNvPr id="41" name="PTitle0"/>
          <p:cNvSpPr/>
          <p:nvPr/>
        </p:nvSpPr>
        <p:spPr>
          <a:xfrm>
            <a:off x="7438644" y="2581720"/>
            <a:ext cx="4265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Auditeur IT</a:t>
            </a:r>
          </a:p>
        </p:txBody>
      </p:sp>
      <p:sp>
        <p:nvSpPr>
          <p:cNvPr id="42" name="PSub0"/>
          <p:cNvSpPr/>
          <p:nvPr/>
        </p:nvSpPr>
        <p:spPr>
          <a:xfrm>
            <a:off x="7438644" y="2810320"/>
            <a:ext cx="42656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kern="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Utilisateur intensif et précoce</a:t>
            </a:r>
          </a:p>
        </p:txBody>
      </p:sp>
      <p:sp>
        <p:nvSpPr>
          <p:cNvPr id="43" name="PLab1"/>
          <p:cNvSpPr/>
          <p:nvPr/>
        </p:nvSpPr>
        <p:spPr>
          <a:xfrm>
            <a:off x="6890004" y="30846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spc="10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</a:p>
        </p:txBody>
      </p:sp>
      <p:sp>
        <p:nvSpPr>
          <p:cNvPr id="44" name="PTitle1"/>
          <p:cNvSpPr/>
          <p:nvPr/>
        </p:nvSpPr>
        <p:spPr>
          <a:xfrm>
            <a:off x="7438644" y="3084640"/>
            <a:ext cx="4265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Auditeur financier senior</a:t>
            </a:r>
          </a:p>
        </p:txBody>
      </p:sp>
      <p:sp>
        <p:nvSpPr>
          <p:cNvPr id="45" name="PSub1"/>
          <p:cNvSpPr/>
          <p:nvPr/>
        </p:nvSpPr>
        <p:spPr>
          <a:xfrm>
            <a:off x="7438644" y="3313240"/>
            <a:ext cx="42656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kern="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Cabinet </a:t>
            </a:r>
            <a:r>
              <a:rPr lang="en-US" sz="900" i="1" kern="0" dirty="0" err="1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régional</a:t>
            </a:r>
            <a:endParaRPr lang="en-US" sz="900" i="1" kern="0" dirty="0">
              <a:solidFill>
                <a:srgbClr val="8B7E6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6" name="PLab2"/>
          <p:cNvSpPr/>
          <p:nvPr/>
        </p:nvSpPr>
        <p:spPr>
          <a:xfrm>
            <a:off x="6890004" y="35875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spc="10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</a:p>
        </p:txBody>
      </p:sp>
      <p:sp>
        <p:nvSpPr>
          <p:cNvPr id="47" name="PTitle2"/>
          <p:cNvSpPr/>
          <p:nvPr/>
        </p:nvSpPr>
        <p:spPr>
          <a:xfrm>
            <a:off x="7438644" y="3587560"/>
            <a:ext cx="42656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signataire</a:t>
            </a:r>
          </a:p>
        </p:txBody>
      </p:sp>
      <p:sp>
        <p:nvSpPr>
          <p:cNvPr id="48" name="PSub2"/>
          <p:cNvSpPr/>
          <p:nvPr/>
        </p:nvSpPr>
        <p:spPr>
          <a:xfrm>
            <a:off x="7438644" y="3816160"/>
            <a:ext cx="42656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kern="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Cabinet solo</a:t>
            </a:r>
          </a:p>
        </p:txBody>
      </p:sp>
      <p:sp>
        <p:nvSpPr>
          <p:cNvPr id="60" name="TestsBg"/>
          <p:cNvSpPr/>
          <p:nvPr/>
        </p:nvSpPr>
        <p:spPr>
          <a:xfrm>
            <a:off x="731520" y="4310963"/>
            <a:ext cx="10972800" cy="1474713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TestsLabel"/>
          <p:cNvSpPr/>
          <p:nvPr/>
        </p:nvSpPr>
        <p:spPr>
          <a:xfrm>
            <a:off x="1005840" y="4403864"/>
            <a:ext cx="10424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TESTS STATISTIQUES NON-PARAMÉTRIQUES · DONNÉES ORDINALES </a:t>
            </a:r>
          </a:p>
        </p:txBody>
      </p:sp>
      <p:sp>
        <p:nvSpPr>
          <p:cNvPr id="62" name="Line"/>
          <p:cNvSpPr/>
          <p:nvPr/>
        </p:nvSpPr>
        <p:spPr>
          <a:xfrm>
            <a:off x="1005840" y="4678184"/>
            <a:ext cx="10424160" cy="0"/>
          </a:xfrm>
          <a:prstGeom prst="line">
            <a:avLst/>
          </a:prstGeom>
          <a:noFill/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0" name="Tsym0"/>
          <p:cNvSpPr/>
          <p:nvPr/>
        </p:nvSpPr>
        <p:spPr>
          <a:xfrm>
            <a:off x="1005840" y="476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kern="0" spc="-25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</a:t>
            </a:r>
          </a:p>
        </p:txBody>
      </p:sp>
      <p:sp>
        <p:nvSpPr>
          <p:cNvPr id="72" name="Tnameb0"/>
          <p:cNvSpPr/>
          <p:nvPr/>
        </p:nvSpPr>
        <p:spPr>
          <a:xfrm>
            <a:off x="1554480" y="4998224"/>
            <a:ext cx="19545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 spc="-1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Spearman</a:t>
            </a:r>
          </a:p>
        </p:txBody>
      </p:sp>
      <p:sp>
        <p:nvSpPr>
          <p:cNvPr id="74" name="Tusex0"/>
          <p:cNvSpPr/>
          <p:nvPr/>
        </p:nvSpPr>
        <p:spPr>
          <a:xfrm>
            <a:off x="1005840" y="5546864"/>
            <a:ext cx="25031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Tous les tests H1–H4c</a:t>
            </a:r>
            <a:r>
              <a:rPr lang="en-US" sz="850" b="1" kern="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−1 ↔ +1</a:t>
            </a:r>
          </a:p>
        </p:txBody>
      </p:sp>
      <p:sp>
        <p:nvSpPr>
          <p:cNvPr id="75" name="Tsym1"/>
          <p:cNvSpPr/>
          <p:nvPr/>
        </p:nvSpPr>
        <p:spPr>
          <a:xfrm>
            <a:off x="3646170" y="476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kern="0" spc="-25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</a:t>
            </a:r>
          </a:p>
        </p:txBody>
      </p:sp>
      <p:sp>
        <p:nvSpPr>
          <p:cNvPr id="77" name="Tnameb1"/>
          <p:cNvSpPr/>
          <p:nvPr/>
        </p:nvSpPr>
        <p:spPr>
          <a:xfrm>
            <a:off x="4194810" y="4998224"/>
            <a:ext cx="19545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 spc="-1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Cronbach</a:t>
            </a:r>
          </a:p>
        </p:txBody>
      </p:sp>
      <p:sp>
        <p:nvSpPr>
          <p:cNvPr id="79" name="Tusex1"/>
          <p:cNvSpPr/>
          <p:nvPr/>
        </p:nvSpPr>
        <p:spPr>
          <a:xfrm>
            <a:off x="3646170" y="5546864"/>
            <a:ext cx="25031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des 5 scores</a:t>
            </a:r>
            <a:r>
              <a:rPr lang="en-US" sz="850" b="1" kern="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≥ 0,70</a:t>
            </a:r>
          </a:p>
        </p:txBody>
      </p:sp>
      <p:sp>
        <p:nvSpPr>
          <p:cNvPr id="80" name="Tsym2"/>
          <p:cNvSpPr/>
          <p:nvPr/>
        </p:nvSpPr>
        <p:spPr>
          <a:xfrm>
            <a:off x="6286500" y="476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kern="0" spc="-25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</a:p>
        </p:txBody>
      </p:sp>
      <p:sp>
        <p:nvSpPr>
          <p:cNvPr id="81" name="Tname2"/>
          <p:cNvSpPr/>
          <p:nvPr/>
        </p:nvSpPr>
        <p:spPr>
          <a:xfrm>
            <a:off x="6835140" y="4792484"/>
            <a:ext cx="19545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15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COMPARAISON ≥ 3 GROUPES</a:t>
            </a:r>
          </a:p>
        </p:txBody>
      </p:sp>
      <p:sp>
        <p:nvSpPr>
          <p:cNvPr id="82" name="Tnameb2"/>
          <p:cNvSpPr/>
          <p:nvPr/>
        </p:nvSpPr>
        <p:spPr>
          <a:xfrm>
            <a:off x="6835140" y="4998224"/>
            <a:ext cx="19545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 spc="-1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Kruskal-Wallis</a:t>
            </a:r>
          </a:p>
        </p:txBody>
      </p:sp>
      <p:sp>
        <p:nvSpPr>
          <p:cNvPr id="84" name="Tusex2"/>
          <p:cNvSpPr/>
          <p:nvPr/>
        </p:nvSpPr>
        <p:spPr>
          <a:xfrm>
            <a:off x="6286500" y="5546864"/>
            <a:ext cx="25031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grade (Jun/SM/Ass)</a:t>
            </a:r>
            <a:r>
              <a:rPr lang="en-US" sz="850" b="1" kern="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H élevé = groupes ≠</a:t>
            </a:r>
          </a:p>
        </p:txBody>
      </p:sp>
      <p:sp>
        <p:nvSpPr>
          <p:cNvPr id="85" name="Tsym3"/>
          <p:cNvSpPr/>
          <p:nvPr/>
        </p:nvSpPr>
        <p:spPr>
          <a:xfrm>
            <a:off x="8926830" y="476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kern="0" spc="-25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</a:p>
        </p:txBody>
      </p:sp>
      <p:sp>
        <p:nvSpPr>
          <p:cNvPr id="86" name="Tname3"/>
          <p:cNvSpPr/>
          <p:nvPr/>
        </p:nvSpPr>
        <p:spPr>
          <a:xfrm>
            <a:off x="9475470" y="4792484"/>
            <a:ext cx="19545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15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COMPARAISON 2 GROUPES</a:t>
            </a:r>
          </a:p>
        </p:txBody>
      </p:sp>
      <p:sp>
        <p:nvSpPr>
          <p:cNvPr id="87" name="Tnameb3"/>
          <p:cNvSpPr/>
          <p:nvPr/>
        </p:nvSpPr>
        <p:spPr>
          <a:xfrm>
            <a:off x="9475470" y="4998224"/>
            <a:ext cx="19545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 spc="-1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Mann-Whitney</a:t>
            </a:r>
          </a:p>
        </p:txBody>
      </p:sp>
      <p:sp>
        <p:nvSpPr>
          <p:cNvPr id="89" name="Tusex3"/>
          <p:cNvSpPr/>
          <p:nvPr/>
        </p:nvSpPr>
        <p:spPr>
          <a:xfrm>
            <a:off x="9172847" y="5557076"/>
            <a:ext cx="25031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vs </a:t>
            </a:r>
            <a:r>
              <a:rPr lang="en-US" sz="950" kern="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autres</a:t>
            </a:r>
            <a:r>
              <a:rPr lang="en-US" sz="850" b="1" kern="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30" grpId="0" animBg="1"/>
      <p:bldP spid="31" grpId="0" animBg="1"/>
      <p:bldP spid="32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60" grpId="0" animBg="1"/>
      <p:bldP spid="61" grpId="0" animBg="1"/>
      <p:bldP spid="62" grpId="0" animBg="1"/>
      <p:bldP spid="70" grpId="0" animBg="1"/>
      <p:bldP spid="72" grpId="0" animBg="1"/>
      <p:bldP spid="74" grpId="0" animBg="1"/>
      <p:bldP spid="75" grpId="0" animBg="1"/>
      <p:bldP spid="77" grpId="0" animBg="1"/>
      <p:bldP spid="79" grpId="0" animBg="1"/>
      <p:bldP spid="80" grpId="0" animBg="1"/>
      <p:bldP spid="81" grpId="0" animBg="1"/>
      <p:bldP spid="82" grpId="0" animBg="1"/>
      <p:bldP spid="84" grpId="0" animBg="1"/>
      <p:bldP spid="85" grpId="0" animBg="1"/>
      <p:bldP spid="86" grpId="0" animBg="1"/>
      <p:bldP spid="87" grpId="0" animBg="1"/>
      <p:bldP spid="8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 · CONSTITUTION DE L'ÉCHANTILLON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0332720" y="6537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SOUTENANCE · 2025–2026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-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Entonnoir de filtrage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b="1" kern="0" spc="-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8000" dirty="0"/>
          </a:p>
        </p:txBody>
      </p:sp>
      <p:sp>
        <p:nvSpPr>
          <p:cNvPr id="11" name="Shape 9"/>
          <p:cNvSpPr/>
          <p:nvPr/>
        </p:nvSpPr>
        <p:spPr>
          <a:xfrm>
            <a:off x="731520" y="3794760"/>
            <a:ext cx="914400" cy="0"/>
          </a:xfrm>
          <a:prstGeom prst="line">
            <a:avLst/>
          </a:prstGeom>
          <a:noFill/>
          <a:ln w="1270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731520" y="38862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-3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Réponses brutes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2519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collectées </a:t>
            </a:r>
            <a:r>
              <a:rPr lang="en-US" sz="1100" i="1" dirty="0" err="1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janv</a:t>
            </a:r>
            <a:r>
              <a:rPr lang="en-US" sz="1100" i="1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.– mars 2026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276606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474720" y="246888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b="1" kern="0" spc="-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8000" dirty="0"/>
          </a:p>
        </p:txBody>
      </p:sp>
      <p:sp>
        <p:nvSpPr>
          <p:cNvPr id="16" name="Shape 14"/>
          <p:cNvSpPr/>
          <p:nvPr/>
        </p:nvSpPr>
        <p:spPr>
          <a:xfrm>
            <a:off x="3474720" y="3794760"/>
            <a:ext cx="914400" cy="0"/>
          </a:xfrm>
          <a:prstGeom prst="line">
            <a:avLst/>
          </a:prstGeom>
          <a:noFill/>
          <a:ln w="1270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474720" y="38862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-3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 exclus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42519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= « Jamais »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non-utilisateurs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25845" y="276987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217920" y="246888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b="1" kern="0" spc="-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8000" dirty="0"/>
          </a:p>
        </p:txBody>
      </p:sp>
      <p:sp>
        <p:nvSpPr>
          <p:cNvPr id="21" name="Shape 19"/>
          <p:cNvSpPr/>
          <p:nvPr/>
        </p:nvSpPr>
        <p:spPr>
          <a:xfrm>
            <a:off x="6217920" y="3794760"/>
            <a:ext cx="914400" cy="0"/>
          </a:xfrm>
          <a:prstGeom prst="line">
            <a:avLst/>
          </a:prstGeom>
          <a:noFill/>
          <a:ln w="1270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217920" y="38862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-3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 exclus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42519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Q29 ≠ « Neutre »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réponses inattentives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998542" y="2761348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8961120" y="246888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b="1" kern="0" spc="-300" dirty="0">
                <a:solidFill>
                  <a:srgbClr val="B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8000" dirty="0"/>
          </a:p>
        </p:txBody>
      </p:sp>
      <p:sp>
        <p:nvSpPr>
          <p:cNvPr id="26" name="Shape 24"/>
          <p:cNvSpPr/>
          <p:nvPr/>
        </p:nvSpPr>
        <p:spPr>
          <a:xfrm>
            <a:off x="8961120" y="3794760"/>
            <a:ext cx="914400" cy="0"/>
          </a:xfrm>
          <a:prstGeom prst="line">
            <a:avLst/>
          </a:prstGeom>
          <a:noFill/>
          <a:ln w="12700">
            <a:solidFill>
              <a:srgbClr val="B85C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8961120" y="38862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-30" dirty="0">
                <a:solidFill>
                  <a:srgbClr val="B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 exclus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961120" y="42519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Q35 hors périmètre audit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(EC pur, autre)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5760720"/>
            <a:ext cx="1828800" cy="0"/>
          </a:xfrm>
          <a:prstGeom prst="line">
            <a:avLst/>
          </a:prstGeom>
          <a:noFill/>
          <a:ln w="12700">
            <a:solidFill>
              <a:srgbClr val="2C4A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TAUX D'EXPLOITATION  </a:t>
            </a:r>
            <a:r>
              <a:rPr lang="en-US" sz="2000" b="1" dirty="0">
                <a:solidFill>
                  <a:srgbClr val="B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78,8 %</a:t>
            </a: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(67 sur 85 réponses brutes retenues pour l'analyse)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push/>
      </p:transition>
    </mc:Choice>
    <mc:Fallback xmlns="">
      <p:transition spd="med">
        <p:push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137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0" b="1" kern="0" spc="-600" dirty="0">
                <a:solidFill>
                  <a:srgbClr val="B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4206240" y="2926080"/>
            <a:ext cx="0" cy="1280160"/>
          </a:xfrm>
          <a:prstGeom prst="line">
            <a:avLst/>
          </a:prstGeom>
          <a:noFill/>
          <a:ln w="19050">
            <a:solidFill>
              <a:srgbClr val="2C4A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480560" y="283464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kern="0" spc="-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kern="0" spc="-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l'échantillon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0332720" y="6537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SOUTENANCE · 2025–2026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Line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2" name="HeadPart"/>
          <p:cNvSpPr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kern="0" spc="400" dirty="0">
              <a:solidFill>
                <a:srgbClr val="8B7E6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04" name="Line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5" name="PageNum"/>
          <p:cNvSpPr/>
          <p:nvPr/>
        </p:nvSpPr>
        <p:spPr>
          <a:xfrm>
            <a:off x="10332720" y="6537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27</a:t>
            </a:r>
          </a:p>
        </p:txBody>
      </p:sp>
      <p:sp>
        <p:nvSpPr>
          <p:cNvPr id="1006" name="Deck"/>
          <p:cNvSpPr/>
          <p:nvPr/>
        </p:nvSpPr>
        <p:spPr>
          <a:xfrm>
            <a:off x="54864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SOUTENANCE · 2025–2026</a:t>
            </a:r>
          </a:p>
        </p:txBody>
      </p:sp>
      <p:sp>
        <p:nvSpPr>
          <p:cNvPr id="10" name="Eyebrow"/>
          <p:cNvSpPr/>
          <p:nvPr/>
        </p:nvSpPr>
        <p:spPr>
          <a:xfrm>
            <a:off x="731520" y="731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· PROFIL SOCIODÉMOGRAPHIQUE · N = 67</a:t>
            </a:r>
          </a:p>
        </p:txBody>
      </p:sp>
      <p:sp>
        <p:nvSpPr>
          <p:cNvPr id="11" name="Title"/>
          <p:cNvSpPr/>
          <p:nvPr/>
        </p:nvSpPr>
        <p:spPr>
          <a:xfrm>
            <a:off x="731520" y="100647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kern="0" spc="-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échantillon jeune, majoritairement Big 4</a:t>
            </a:r>
          </a:p>
        </p:txBody>
      </p:sp>
      <p:sp>
        <p:nvSpPr>
          <p:cNvPr id="12" name="Subtitle"/>
          <p:cNvSpPr/>
          <p:nvPr/>
        </p:nvSpPr>
        <p:spPr>
          <a:xfrm>
            <a:off x="731520" y="1554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kern="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Cohérent avec la structure pyramidale de la profession</a:t>
            </a:r>
          </a:p>
        </p:txBody>
      </p:sp>
      <p:sp>
        <p:nvSpPr>
          <p:cNvPr id="20" name="KStrip0"/>
          <p:cNvSpPr/>
          <p:nvPr/>
        </p:nvSpPr>
        <p:spPr>
          <a:xfrm>
            <a:off x="731520" y="2011680"/>
            <a:ext cx="27432" cy="1097280"/>
          </a:xfrm>
          <a:prstGeom prst="rect">
            <a:avLst/>
          </a:prstGeom>
          <a:solidFill>
            <a:srgbClr val="A64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Klab0"/>
          <p:cNvSpPr/>
          <p:nvPr/>
        </p:nvSpPr>
        <p:spPr>
          <a:xfrm>
            <a:off x="822960" y="201168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</a:t>
            </a:r>
          </a:p>
        </p:txBody>
      </p:sp>
      <p:sp>
        <p:nvSpPr>
          <p:cNvPr id="22" name="Kval0"/>
          <p:cNvSpPr/>
          <p:nvPr/>
        </p:nvSpPr>
        <p:spPr>
          <a:xfrm>
            <a:off x="822960" y="22860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kern="0" spc="-3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67,2 %</a:t>
            </a:r>
          </a:p>
        </p:txBody>
      </p:sp>
      <p:sp>
        <p:nvSpPr>
          <p:cNvPr id="23" name="Ktxt0"/>
          <p:cNvSpPr/>
          <p:nvPr/>
        </p:nvSpPr>
        <p:spPr>
          <a:xfrm>
            <a:off x="822960" y="2834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Hommes</a:t>
            </a:r>
          </a:p>
        </p:txBody>
      </p:sp>
      <p:sp>
        <p:nvSpPr>
          <p:cNvPr id="24" name="Ksub0"/>
          <p:cNvSpPr/>
          <p:nvPr/>
        </p:nvSpPr>
        <p:spPr>
          <a:xfrm>
            <a:off x="822960" y="30175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32,8 % Femmes</a:t>
            </a:r>
          </a:p>
        </p:txBody>
      </p:sp>
      <p:sp>
        <p:nvSpPr>
          <p:cNvPr id="30" name="KStrip1"/>
          <p:cNvSpPr/>
          <p:nvPr/>
        </p:nvSpPr>
        <p:spPr>
          <a:xfrm>
            <a:off x="3520440" y="2011680"/>
            <a:ext cx="27432" cy="1097280"/>
          </a:xfrm>
          <a:prstGeom prst="rect">
            <a:avLst/>
          </a:prstGeom>
          <a:solidFill>
            <a:srgbClr val="A64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Klab1"/>
          <p:cNvSpPr/>
          <p:nvPr/>
        </p:nvSpPr>
        <p:spPr>
          <a:xfrm>
            <a:off x="3611880" y="201168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ÂGE</a:t>
            </a:r>
          </a:p>
        </p:txBody>
      </p:sp>
      <p:sp>
        <p:nvSpPr>
          <p:cNvPr id="32" name="Kval1"/>
          <p:cNvSpPr/>
          <p:nvPr/>
        </p:nvSpPr>
        <p:spPr>
          <a:xfrm>
            <a:off x="3611880" y="22860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kern="0" spc="-3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73,2 %</a:t>
            </a:r>
          </a:p>
        </p:txBody>
      </p:sp>
      <p:sp>
        <p:nvSpPr>
          <p:cNvPr id="33" name="Ktxt1"/>
          <p:cNvSpPr/>
          <p:nvPr/>
        </p:nvSpPr>
        <p:spPr>
          <a:xfrm>
            <a:off x="3611880" y="2834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moins de 35 ans</a:t>
            </a:r>
          </a:p>
        </p:txBody>
      </p:sp>
      <p:sp>
        <p:nvSpPr>
          <p:cNvPr id="34" name="Ksub1"/>
          <p:cNvSpPr/>
          <p:nvPr/>
        </p:nvSpPr>
        <p:spPr>
          <a:xfrm>
            <a:off x="3611880" y="30175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47,8 % ont 18–25 ans</a:t>
            </a:r>
          </a:p>
        </p:txBody>
      </p:sp>
      <p:sp>
        <p:nvSpPr>
          <p:cNvPr id="40" name="KStrip2"/>
          <p:cNvSpPr/>
          <p:nvPr/>
        </p:nvSpPr>
        <p:spPr>
          <a:xfrm>
            <a:off x="6309360" y="2011680"/>
            <a:ext cx="27432" cy="1097280"/>
          </a:xfrm>
          <a:prstGeom prst="rect">
            <a:avLst/>
          </a:prstGeom>
          <a:solidFill>
            <a:srgbClr val="A64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Klab2"/>
          <p:cNvSpPr/>
          <p:nvPr/>
        </p:nvSpPr>
        <p:spPr>
          <a:xfrm>
            <a:off x="6400800" y="201168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</a:t>
            </a:r>
          </a:p>
        </p:txBody>
      </p:sp>
      <p:sp>
        <p:nvSpPr>
          <p:cNvPr id="42" name="Kval2"/>
          <p:cNvSpPr/>
          <p:nvPr/>
        </p:nvSpPr>
        <p:spPr>
          <a:xfrm>
            <a:off x="6400800" y="22860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kern="0" spc="-3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47,8 %</a:t>
            </a:r>
          </a:p>
        </p:txBody>
      </p:sp>
      <p:sp>
        <p:nvSpPr>
          <p:cNvPr id="43" name="Ktxt2"/>
          <p:cNvSpPr/>
          <p:nvPr/>
        </p:nvSpPr>
        <p:spPr>
          <a:xfrm>
            <a:off x="6400800" y="2834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Juniors</a:t>
            </a:r>
          </a:p>
        </p:txBody>
      </p:sp>
      <p:sp>
        <p:nvSpPr>
          <p:cNvPr id="44" name="Ksub2"/>
          <p:cNvSpPr/>
          <p:nvPr/>
        </p:nvSpPr>
        <p:spPr>
          <a:xfrm>
            <a:off x="6400800" y="30175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26,9 % Associés</a:t>
            </a:r>
          </a:p>
        </p:txBody>
      </p:sp>
      <p:sp>
        <p:nvSpPr>
          <p:cNvPr id="50" name="KStrip3"/>
          <p:cNvSpPr/>
          <p:nvPr/>
        </p:nvSpPr>
        <p:spPr>
          <a:xfrm>
            <a:off x="9098280" y="2011680"/>
            <a:ext cx="27432" cy="1097280"/>
          </a:xfrm>
          <a:prstGeom prst="rect">
            <a:avLst/>
          </a:prstGeom>
          <a:solidFill>
            <a:srgbClr val="A64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Klab3"/>
          <p:cNvSpPr/>
          <p:nvPr/>
        </p:nvSpPr>
        <p:spPr>
          <a:xfrm>
            <a:off x="9189720" y="201168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CABINET</a:t>
            </a:r>
          </a:p>
        </p:txBody>
      </p:sp>
      <p:sp>
        <p:nvSpPr>
          <p:cNvPr id="52" name="Kval3"/>
          <p:cNvSpPr/>
          <p:nvPr/>
        </p:nvSpPr>
        <p:spPr>
          <a:xfrm>
            <a:off x="9189720" y="22860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kern="0" spc="-3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55,2 %</a:t>
            </a:r>
          </a:p>
        </p:txBody>
      </p:sp>
      <p:sp>
        <p:nvSpPr>
          <p:cNvPr id="53" name="Ktxt3"/>
          <p:cNvSpPr/>
          <p:nvPr/>
        </p:nvSpPr>
        <p:spPr>
          <a:xfrm>
            <a:off x="9189720" y="2834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(Big 4+)</a:t>
            </a:r>
          </a:p>
        </p:txBody>
      </p:sp>
      <p:sp>
        <p:nvSpPr>
          <p:cNvPr id="54" name="Ksub3"/>
          <p:cNvSpPr/>
          <p:nvPr/>
        </p:nvSpPr>
        <p:spPr>
          <a:xfrm>
            <a:off x="9189720" y="30175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28,4 % local · 16,4 % régional</a:t>
            </a:r>
          </a:p>
        </p:txBody>
      </p:sp>
      <p:sp>
        <p:nvSpPr>
          <p:cNvPr id="60" name="ToolsLabel"/>
          <p:cNvSpPr/>
          <p:nvPr/>
        </p:nvSpPr>
        <p:spPr>
          <a:xfrm>
            <a:off x="731520" y="333756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5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OUTILS IAG UTILISÉS · Q3 MULTI-RÉPONSES</a:t>
            </a:r>
          </a:p>
        </p:txBody>
      </p:sp>
      <p:sp>
        <p:nvSpPr>
          <p:cNvPr id="61" name="Line"/>
          <p:cNvSpPr/>
          <p:nvPr/>
        </p:nvSpPr>
        <p:spPr>
          <a:xfrm>
            <a:off x="731520" y="3657600"/>
            <a:ext cx="10972800" cy="0"/>
          </a:xfrm>
          <a:prstGeom prst="line">
            <a:avLst/>
          </a:prstGeom>
          <a:noFill/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0" name="ToolName0"/>
          <p:cNvSpPr/>
          <p:nvPr/>
        </p:nvSpPr>
        <p:spPr>
          <a:xfrm>
            <a:off x="731520" y="37719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</a:t>
            </a:r>
          </a:p>
        </p:txBody>
      </p:sp>
      <p:sp>
        <p:nvSpPr>
          <p:cNvPr id="71" name="Track0"/>
          <p:cNvSpPr/>
          <p:nvPr/>
        </p:nvSpPr>
        <p:spPr>
          <a:xfrm>
            <a:off x="2788920" y="3817620"/>
            <a:ext cx="8001000" cy="91440"/>
          </a:xfrm>
          <a:prstGeom prst="rect">
            <a:avLst/>
          </a:prstGeom>
          <a:solidFill>
            <a:srgbClr val="EEEA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2" name="Fill0"/>
          <p:cNvSpPr/>
          <p:nvPr/>
        </p:nvSpPr>
        <p:spPr>
          <a:xfrm>
            <a:off x="2788920" y="3817620"/>
            <a:ext cx="8001000" cy="91440"/>
          </a:xfrm>
          <a:prstGeom prst="rect">
            <a:avLst/>
          </a:prstGeom>
          <a:solidFill>
            <a:srgbClr val="A64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3" name="Val0"/>
          <p:cNvSpPr/>
          <p:nvPr/>
        </p:nvSpPr>
        <p:spPr>
          <a:xfrm>
            <a:off x="10789920" y="37719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73.1 %</a:t>
            </a:r>
          </a:p>
        </p:txBody>
      </p:sp>
      <p:sp>
        <p:nvSpPr>
          <p:cNvPr id="75" name="ToolName1"/>
          <p:cNvSpPr/>
          <p:nvPr/>
        </p:nvSpPr>
        <p:spPr>
          <a:xfrm>
            <a:off x="731520" y="40005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</a:p>
        </p:txBody>
      </p:sp>
      <p:sp>
        <p:nvSpPr>
          <p:cNvPr id="76" name="Track1"/>
          <p:cNvSpPr/>
          <p:nvPr/>
        </p:nvSpPr>
        <p:spPr>
          <a:xfrm>
            <a:off x="2788920" y="4046220"/>
            <a:ext cx="8001000" cy="91440"/>
          </a:xfrm>
          <a:prstGeom prst="rect">
            <a:avLst/>
          </a:prstGeom>
          <a:solidFill>
            <a:srgbClr val="EEEA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7" name="Fill1"/>
          <p:cNvSpPr/>
          <p:nvPr/>
        </p:nvSpPr>
        <p:spPr>
          <a:xfrm>
            <a:off x="2788920" y="4046220"/>
            <a:ext cx="5877615" cy="91440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8" name="Val1"/>
          <p:cNvSpPr/>
          <p:nvPr/>
        </p:nvSpPr>
        <p:spPr>
          <a:xfrm>
            <a:off x="10789920" y="40005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53.7 %</a:t>
            </a:r>
          </a:p>
        </p:txBody>
      </p:sp>
      <p:sp>
        <p:nvSpPr>
          <p:cNvPr id="80" name="ToolName2"/>
          <p:cNvSpPr/>
          <p:nvPr/>
        </p:nvSpPr>
        <p:spPr>
          <a:xfrm>
            <a:off x="731520" y="42291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Outils cabinet</a:t>
            </a:r>
          </a:p>
        </p:txBody>
      </p:sp>
      <p:sp>
        <p:nvSpPr>
          <p:cNvPr id="81" name="Track2"/>
          <p:cNvSpPr/>
          <p:nvPr/>
        </p:nvSpPr>
        <p:spPr>
          <a:xfrm>
            <a:off x="2788920" y="4274820"/>
            <a:ext cx="8001000" cy="91440"/>
          </a:xfrm>
          <a:prstGeom prst="rect">
            <a:avLst/>
          </a:prstGeom>
          <a:solidFill>
            <a:srgbClr val="EEEA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2" name="Fill2"/>
          <p:cNvSpPr/>
          <p:nvPr/>
        </p:nvSpPr>
        <p:spPr>
          <a:xfrm>
            <a:off x="2788920" y="4274820"/>
            <a:ext cx="3272638" cy="91440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3" name="Val2"/>
          <p:cNvSpPr/>
          <p:nvPr/>
        </p:nvSpPr>
        <p:spPr>
          <a:xfrm>
            <a:off x="10789920" y="42291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29.9 %</a:t>
            </a:r>
          </a:p>
        </p:txBody>
      </p:sp>
      <p:sp>
        <p:nvSpPr>
          <p:cNvPr id="85" name="ToolName3"/>
          <p:cNvSpPr/>
          <p:nvPr/>
        </p:nvSpPr>
        <p:spPr>
          <a:xfrm>
            <a:off x="731520" y="44577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</a:p>
        </p:txBody>
      </p:sp>
      <p:sp>
        <p:nvSpPr>
          <p:cNvPr id="86" name="Track3"/>
          <p:cNvSpPr/>
          <p:nvPr/>
        </p:nvSpPr>
        <p:spPr>
          <a:xfrm>
            <a:off x="2788920" y="4503420"/>
            <a:ext cx="8001000" cy="91440"/>
          </a:xfrm>
          <a:prstGeom prst="rect">
            <a:avLst/>
          </a:prstGeom>
          <a:solidFill>
            <a:srgbClr val="EEEA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7" name="Fill3"/>
          <p:cNvSpPr/>
          <p:nvPr/>
        </p:nvSpPr>
        <p:spPr>
          <a:xfrm>
            <a:off x="2788920" y="4503420"/>
            <a:ext cx="2451742" cy="91440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8" name="Val3"/>
          <p:cNvSpPr/>
          <p:nvPr/>
        </p:nvSpPr>
        <p:spPr>
          <a:xfrm>
            <a:off x="10789920" y="44577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22.4 %</a:t>
            </a:r>
          </a:p>
        </p:txBody>
      </p:sp>
      <p:sp>
        <p:nvSpPr>
          <p:cNvPr id="90" name="ToolName4"/>
          <p:cNvSpPr/>
          <p:nvPr/>
        </p:nvSpPr>
        <p:spPr>
          <a:xfrm>
            <a:off x="731520" y="46863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</a:t>
            </a:r>
          </a:p>
        </p:txBody>
      </p:sp>
      <p:sp>
        <p:nvSpPr>
          <p:cNvPr id="91" name="Track4"/>
          <p:cNvSpPr/>
          <p:nvPr/>
        </p:nvSpPr>
        <p:spPr>
          <a:xfrm>
            <a:off x="2788920" y="4732020"/>
            <a:ext cx="8001000" cy="91440"/>
          </a:xfrm>
          <a:prstGeom prst="rect">
            <a:avLst/>
          </a:prstGeom>
          <a:solidFill>
            <a:srgbClr val="EEEA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2" name="Fill4"/>
          <p:cNvSpPr/>
          <p:nvPr/>
        </p:nvSpPr>
        <p:spPr>
          <a:xfrm>
            <a:off x="2788920" y="4732020"/>
            <a:ext cx="1466667" cy="91440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3" name="Val4"/>
          <p:cNvSpPr/>
          <p:nvPr/>
        </p:nvSpPr>
        <p:spPr>
          <a:xfrm>
            <a:off x="10789920" y="46863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13.4 %</a:t>
            </a:r>
          </a:p>
        </p:txBody>
      </p:sp>
      <p:sp>
        <p:nvSpPr>
          <p:cNvPr id="95" name="ToolName5"/>
          <p:cNvSpPr/>
          <p:nvPr/>
        </p:nvSpPr>
        <p:spPr>
          <a:xfrm>
            <a:off x="731520" y="49149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</a:p>
        </p:txBody>
      </p:sp>
      <p:sp>
        <p:nvSpPr>
          <p:cNvPr id="96" name="Track5"/>
          <p:cNvSpPr/>
          <p:nvPr/>
        </p:nvSpPr>
        <p:spPr>
          <a:xfrm>
            <a:off x="2788920" y="4960620"/>
            <a:ext cx="8001000" cy="91440"/>
          </a:xfrm>
          <a:prstGeom prst="rect">
            <a:avLst/>
          </a:prstGeom>
          <a:solidFill>
            <a:srgbClr val="EEEA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7" name="Fill5"/>
          <p:cNvSpPr/>
          <p:nvPr/>
        </p:nvSpPr>
        <p:spPr>
          <a:xfrm>
            <a:off x="2788920" y="4960620"/>
            <a:ext cx="1302488" cy="91440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8" name="Val5"/>
          <p:cNvSpPr/>
          <p:nvPr/>
        </p:nvSpPr>
        <p:spPr>
          <a:xfrm>
            <a:off x="10789920" y="49149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11.9 %</a:t>
            </a:r>
          </a:p>
        </p:txBody>
      </p:sp>
      <p:sp>
        <p:nvSpPr>
          <p:cNvPr id="100" name="ToolName6"/>
          <p:cNvSpPr/>
          <p:nvPr/>
        </p:nvSpPr>
        <p:spPr>
          <a:xfrm>
            <a:off x="731520" y="51435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Perplexity</a:t>
            </a:r>
          </a:p>
        </p:txBody>
      </p:sp>
      <p:sp>
        <p:nvSpPr>
          <p:cNvPr id="101" name="Track6"/>
          <p:cNvSpPr/>
          <p:nvPr/>
        </p:nvSpPr>
        <p:spPr>
          <a:xfrm>
            <a:off x="2788920" y="5189220"/>
            <a:ext cx="8001000" cy="91440"/>
          </a:xfrm>
          <a:prstGeom prst="rect">
            <a:avLst/>
          </a:prstGeom>
          <a:solidFill>
            <a:srgbClr val="EEEA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2" name="Fill6"/>
          <p:cNvSpPr/>
          <p:nvPr/>
        </p:nvSpPr>
        <p:spPr>
          <a:xfrm>
            <a:off x="2788920" y="5189220"/>
            <a:ext cx="1149254" cy="91440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3" name="Val6"/>
          <p:cNvSpPr/>
          <p:nvPr/>
        </p:nvSpPr>
        <p:spPr>
          <a:xfrm>
            <a:off x="10789920" y="51435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10.5 %</a:t>
            </a:r>
          </a:p>
        </p:txBody>
      </p:sp>
      <p:sp>
        <p:nvSpPr>
          <p:cNvPr id="105" name="ToolName7"/>
          <p:cNvSpPr/>
          <p:nvPr/>
        </p:nvSpPr>
        <p:spPr>
          <a:xfrm>
            <a:off x="731520" y="53721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Autres</a:t>
            </a:r>
          </a:p>
        </p:txBody>
      </p:sp>
      <p:sp>
        <p:nvSpPr>
          <p:cNvPr id="106" name="Track7"/>
          <p:cNvSpPr/>
          <p:nvPr/>
        </p:nvSpPr>
        <p:spPr>
          <a:xfrm>
            <a:off x="2788920" y="5417820"/>
            <a:ext cx="8001000" cy="91440"/>
          </a:xfrm>
          <a:prstGeom prst="rect">
            <a:avLst/>
          </a:prstGeom>
          <a:solidFill>
            <a:srgbClr val="EEEA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7" name="Fill7"/>
          <p:cNvSpPr/>
          <p:nvPr/>
        </p:nvSpPr>
        <p:spPr>
          <a:xfrm>
            <a:off x="2788920" y="5417820"/>
            <a:ext cx="820896" cy="91440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8" name="Val7"/>
          <p:cNvSpPr/>
          <p:nvPr/>
        </p:nvSpPr>
        <p:spPr>
          <a:xfrm>
            <a:off x="10789920" y="53721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7.5 %</a:t>
            </a:r>
          </a:p>
        </p:txBody>
      </p:sp>
      <p:sp>
        <p:nvSpPr>
          <p:cNvPr id="110" name="ToolName8"/>
          <p:cNvSpPr/>
          <p:nvPr/>
        </p:nvSpPr>
        <p:spPr>
          <a:xfrm>
            <a:off x="731520" y="56007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Grok</a:t>
            </a:r>
          </a:p>
        </p:txBody>
      </p:sp>
      <p:sp>
        <p:nvSpPr>
          <p:cNvPr id="111" name="Track8"/>
          <p:cNvSpPr/>
          <p:nvPr/>
        </p:nvSpPr>
        <p:spPr>
          <a:xfrm>
            <a:off x="2788920" y="5646420"/>
            <a:ext cx="8001000" cy="91440"/>
          </a:xfrm>
          <a:prstGeom prst="rect">
            <a:avLst/>
          </a:prstGeom>
          <a:solidFill>
            <a:srgbClr val="EEEA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2" name="Fill8"/>
          <p:cNvSpPr/>
          <p:nvPr/>
        </p:nvSpPr>
        <p:spPr>
          <a:xfrm>
            <a:off x="2788920" y="5646420"/>
            <a:ext cx="656716" cy="91440"/>
          </a:xfrm>
          <a:prstGeom prst="rect">
            <a:avLst/>
          </a:prstGeom>
          <a:solidFill>
            <a:srgbClr val="3A3A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3" name="Val8"/>
          <p:cNvSpPr/>
          <p:nvPr/>
        </p:nvSpPr>
        <p:spPr>
          <a:xfrm>
            <a:off x="10789920" y="56007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6.0 %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Line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2" name="HeadPart"/>
          <p:cNvSpPr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kern="0" spc="400" dirty="0">
              <a:solidFill>
                <a:srgbClr val="8B7E6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04" name="Line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5" name="PageNum"/>
          <p:cNvSpPr/>
          <p:nvPr/>
        </p:nvSpPr>
        <p:spPr>
          <a:xfrm>
            <a:off x="10332720" y="6537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27</a:t>
            </a:r>
          </a:p>
        </p:txBody>
      </p:sp>
      <p:sp>
        <p:nvSpPr>
          <p:cNvPr id="1006" name="Deck"/>
          <p:cNvSpPr/>
          <p:nvPr/>
        </p:nvSpPr>
        <p:spPr>
          <a:xfrm>
            <a:off x="54864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SOUTENANCE · 2025–2026</a:t>
            </a:r>
          </a:p>
        </p:txBody>
      </p:sp>
      <p:sp>
        <p:nvSpPr>
          <p:cNvPr id="10" name="Eyebrow"/>
          <p:cNvSpPr/>
          <p:nvPr/>
        </p:nvSpPr>
        <p:spPr>
          <a:xfrm>
            <a:off x="731520" y="731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 · USAGES DÉCLARÉS</a:t>
            </a:r>
          </a:p>
        </p:txBody>
      </p:sp>
      <p:sp>
        <p:nvSpPr>
          <p:cNvPr id="11" name="Title"/>
          <p:cNvSpPr/>
          <p:nvPr/>
        </p:nvSpPr>
        <p:spPr>
          <a:xfrm>
            <a:off x="731520" y="100647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kern="0" spc="-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Hiérarchie des tâches IAG</a:t>
            </a:r>
          </a:p>
        </p:txBody>
      </p:sp>
      <p:sp>
        <p:nvSpPr>
          <p:cNvPr id="12" name="Subtitle"/>
          <p:cNvSpPr/>
          <p:nvPr/>
        </p:nvSpPr>
        <p:spPr>
          <a:xfrm>
            <a:off x="731520" y="1554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100" i="1" kern="0" dirty="0">
              <a:solidFill>
                <a:srgbClr val="8B7E6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0" name="TaskName0"/>
          <p:cNvSpPr/>
          <p:nvPr/>
        </p:nvSpPr>
        <p:spPr>
          <a:xfrm>
            <a:off x="731520" y="17830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Reformulation · Traduction</a:t>
            </a:r>
          </a:p>
        </p:txBody>
      </p:sp>
      <p:sp>
        <p:nvSpPr>
          <p:cNvPr id="21" name="Tag0"/>
          <p:cNvSpPr/>
          <p:nvPr/>
        </p:nvSpPr>
        <p:spPr>
          <a:xfrm>
            <a:off x="3840480" y="1783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FAIBLE VA</a:t>
            </a:r>
          </a:p>
        </p:txBody>
      </p:sp>
      <p:sp>
        <p:nvSpPr>
          <p:cNvPr id="22" name="Track0"/>
          <p:cNvSpPr/>
          <p:nvPr/>
        </p:nvSpPr>
        <p:spPr>
          <a:xfrm>
            <a:off x="5029200" y="1851660"/>
            <a:ext cx="5760720" cy="91440"/>
          </a:xfrm>
          <a:prstGeom prst="rect">
            <a:avLst/>
          </a:prstGeom>
          <a:solidFill>
            <a:srgbClr val="EEEA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Fill0"/>
          <p:cNvSpPr/>
          <p:nvPr/>
        </p:nvSpPr>
        <p:spPr>
          <a:xfrm>
            <a:off x="5029200" y="1851660"/>
            <a:ext cx="5760720" cy="914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Val0"/>
          <p:cNvSpPr/>
          <p:nvPr/>
        </p:nvSpPr>
        <p:spPr>
          <a:xfrm>
            <a:off x="10789920" y="1783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74.6 %</a:t>
            </a:r>
          </a:p>
        </p:txBody>
      </p:sp>
      <p:sp>
        <p:nvSpPr>
          <p:cNvPr id="26" name="TaskName1"/>
          <p:cNvSpPr/>
          <p:nvPr/>
        </p:nvSpPr>
        <p:spPr>
          <a:xfrm>
            <a:off x="731520" y="21031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Rédaction (rapports, synthèses)</a:t>
            </a:r>
          </a:p>
        </p:txBody>
      </p:sp>
      <p:sp>
        <p:nvSpPr>
          <p:cNvPr id="27" name="Tag1"/>
          <p:cNvSpPr/>
          <p:nvPr/>
        </p:nvSpPr>
        <p:spPr>
          <a:xfrm>
            <a:off x="3840480" y="21031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FAIBLE VA</a:t>
            </a:r>
          </a:p>
        </p:txBody>
      </p:sp>
      <p:sp>
        <p:nvSpPr>
          <p:cNvPr id="28" name="Track1"/>
          <p:cNvSpPr/>
          <p:nvPr/>
        </p:nvSpPr>
        <p:spPr>
          <a:xfrm>
            <a:off x="5029200" y="2171700"/>
            <a:ext cx="5760720" cy="91440"/>
          </a:xfrm>
          <a:prstGeom prst="rect">
            <a:avLst/>
          </a:prstGeom>
          <a:solidFill>
            <a:srgbClr val="EEEA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Fill1"/>
          <p:cNvSpPr/>
          <p:nvPr/>
        </p:nvSpPr>
        <p:spPr>
          <a:xfrm>
            <a:off x="5029200" y="2171700"/>
            <a:ext cx="5644887" cy="914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Val1"/>
          <p:cNvSpPr/>
          <p:nvPr/>
        </p:nvSpPr>
        <p:spPr>
          <a:xfrm>
            <a:off x="10789920" y="2103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73.1 %</a:t>
            </a:r>
          </a:p>
        </p:txBody>
      </p:sp>
      <p:sp>
        <p:nvSpPr>
          <p:cNvPr id="32" name="TaskName2"/>
          <p:cNvSpPr/>
          <p:nvPr/>
        </p:nvSpPr>
        <p:spPr>
          <a:xfrm>
            <a:off x="731520" y="24231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d'informations</a:t>
            </a:r>
          </a:p>
        </p:txBody>
      </p:sp>
      <p:sp>
        <p:nvSpPr>
          <p:cNvPr id="33" name="Tag2"/>
          <p:cNvSpPr/>
          <p:nvPr/>
        </p:nvSpPr>
        <p:spPr>
          <a:xfrm>
            <a:off x="3840480" y="2423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FAIBLE VA</a:t>
            </a:r>
          </a:p>
        </p:txBody>
      </p:sp>
      <p:sp>
        <p:nvSpPr>
          <p:cNvPr id="34" name="Track2"/>
          <p:cNvSpPr/>
          <p:nvPr/>
        </p:nvSpPr>
        <p:spPr>
          <a:xfrm>
            <a:off x="5029200" y="2491740"/>
            <a:ext cx="5760720" cy="91440"/>
          </a:xfrm>
          <a:prstGeom prst="rect">
            <a:avLst/>
          </a:prstGeom>
          <a:solidFill>
            <a:srgbClr val="EEEA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Fill2"/>
          <p:cNvSpPr/>
          <p:nvPr/>
        </p:nvSpPr>
        <p:spPr>
          <a:xfrm>
            <a:off x="5029200" y="2491740"/>
            <a:ext cx="5420945" cy="914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Val2"/>
          <p:cNvSpPr/>
          <p:nvPr/>
        </p:nvSpPr>
        <p:spPr>
          <a:xfrm>
            <a:off x="10789920" y="2423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70.2 %</a:t>
            </a:r>
          </a:p>
        </p:txBody>
      </p:sp>
      <p:sp>
        <p:nvSpPr>
          <p:cNvPr id="38" name="TaskName3"/>
          <p:cNvSpPr/>
          <p:nvPr/>
        </p:nvSpPr>
        <p:spPr>
          <a:xfrm>
            <a:off x="731520" y="27432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 · Mise en cohérence</a:t>
            </a:r>
          </a:p>
        </p:txBody>
      </p:sp>
      <p:sp>
        <p:nvSpPr>
          <p:cNvPr id="39" name="Tag3"/>
          <p:cNvSpPr/>
          <p:nvPr/>
        </p:nvSpPr>
        <p:spPr>
          <a:xfrm>
            <a:off x="3840480" y="2743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INTERMÉD.</a:t>
            </a:r>
          </a:p>
        </p:txBody>
      </p:sp>
      <p:sp>
        <p:nvSpPr>
          <p:cNvPr id="40" name="Track3"/>
          <p:cNvSpPr/>
          <p:nvPr/>
        </p:nvSpPr>
        <p:spPr>
          <a:xfrm>
            <a:off x="5029200" y="2811780"/>
            <a:ext cx="5760720" cy="91440"/>
          </a:xfrm>
          <a:prstGeom prst="rect">
            <a:avLst/>
          </a:prstGeom>
          <a:solidFill>
            <a:srgbClr val="EEEA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Fill3"/>
          <p:cNvSpPr/>
          <p:nvPr/>
        </p:nvSpPr>
        <p:spPr>
          <a:xfrm>
            <a:off x="5029200" y="2811780"/>
            <a:ext cx="2648695" cy="91440"/>
          </a:xfrm>
          <a:prstGeom prst="rect">
            <a:avLst/>
          </a:prstGeom>
          <a:solidFill>
            <a:srgbClr val="7A74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Val3"/>
          <p:cNvSpPr/>
          <p:nvPr/>
        </p:nvSpPr>
        <p:spPr>
          <a:xfrm>
            <a:off x="10789920" y="2743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34.3 %</a:t>
            </a:r>
          </a:p>
        </p:txBody>
      </p:sp>
      <p:sp>
        <p:nvSpPr>
          <p:cNvPr id="44" name="TaskName4"/>
          <p:cNvSpPr/>
          <p:nvPr/>
        </p:nvSpPr>
        <p:spPr>
          <a:xfrm>
            <a:off x="731520" y="30632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Préparation de données</a:t>
            </a:r>
          </a:p>
        </p:txBody>
      </p:sp>
      <p:sp>
        <p:nvSpPr>
          <p:cNvPr id="45" name="Tag4"/>
          <p:cNvSpPr/>
          <p:nvPr/>
        </p:nvSpPr>
        <p:spPr>
          <a:xfrm>
            <a:off x="3840480" y="3063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INTERMÉD.</a:t>
            </a:r>
          </a:p>
        </p:txBody>
      </p:sp>
      <p:sp>
        <p:nvSpPr>
          <p:cNvPr id="46" name="Track4"/>
          <p:cNvSpPr/>
          <p:nvPr/>
        </p:nvSpPr>
        <p:spPr>
          <a:xfrm>
            <a:off x="5029200" y="3131820"/>
            <a:ext cx="5760720" cy="91440"/>
          </a:xfrm>
          <a:prstGeom prst="rect">
            <a:avLst/>
          </a:prstGeom>
          <a:solidFill>
            <a:srgbClr val="EEEA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Fill4"/>
          <p:cNvSpPr/>
          <p:nvPr/>
        </p:nvSpPr>
        <p:spPr>
          <a:xfrm>
            <a:off x="5029200" y="3131820"/>
            <a:ext cx="2077256" cy="91440"/>
          </a:xfrm>
          <a:prstGeom prst="rect">
            <a:avLst/>
          </a:prstGeom>
          <a:solidFill>
            <a:srgbClr val="7A74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Val4"/>
          <p:cNvSpPr/>
          <p:nvPr/>
        </p:nvSpPr>
        <p:spPr>
          <a:xfrm>
            <a:off x="10789920" y="3063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26.9 %</a:t>
            </a:r>
          </a:p>
        </p:txBody>
      </p:sp>
      <p:sp>
        <p:nvSpPr>
          <p:cNvPr id="50" name="TaskName5"/>
          <p:cNvSpPr/>
          <p:nvPr/>
        </p:nvSpPr>
        <p:spPr>
          <a:xfrm>
            <a:off x="731520" y="33832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Automatisation · Scripts (SQL, VBA)</a:t>
            </a:r>
          </a:p>
        </p:txBody>
      </p:sp>
      <p:sp>
        <p:nvSpPr>
          <p:cNvPr id="51" name="Tag5"/>
          <p:cNvSpPr/>
          <p:nvPr/>
        </p:nvSpPr>
        <p:spPr>
          <a:xfrm>
            <a:off x="3840480" y="33832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INTERMÉD.</a:t>
            </a:r>
          </a:p>
        </p:txBody>
      </p:sp>
      <p:sp>
        <p:nvSpPr>
          <p:cNvPr id="52" name="Track5"/>
          <p:cNvSpPr/>
          <p:nvPr/>
        </p:nvSpPr>
        <p:spPr>
          <a:xfrm>
            <a:off x="5029200" y="3451860"/>
            <a:ext cx="5760720" cy="91440"/>
          </a:xfrm>
          <a:prstGeom prst="rect">
            <a:avLst/>
          </a:prstGeom>
          <a:solidFill>
            <a:srgbClr val="EEEA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Fill5"/>
          <p:cNvSpPr/>
          <p:nvPr/>
        </p:nvSpPr>
        <p:spPr>
          <a:xfrm>
            <a:off x="5029200" y="3451860"/>
            <a:ext cx="1961424" cy="91440"/>
          </a:xfrm>
          <a:prstGeom prst="rect">
            <a:avLst/>
          </a:prstGeom>
          <a:solidFill>
            <a:srgbClr val="7A74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Val5"/>
          <p:cNvSpPr/>
          <p:nvPr/>
        </p:nvSpPr>
        <p:spPr>
          <a:xfrm>
            <a:off x="10789920" y="3383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25.4 %</a:t>
            </a:r>
          </a:p>
        </p:txBody>
      </p:sp>
      <p:sp>
        <p:nvSpPr>
          <p:cNvPr id="56" name="TaskName6"/>
          <p:cNvSpPr/>
          <p:nvPr/>
        </p:nvSpPr>
        <p:spPr>
          <a:xfrm>
            <a:off x="731520" y="37033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de données · Insights</a:t>
            </a:r>
          </a:p>
        </p:txBody>
      </p:sp>
      <p:sp>
        <p:nvSpPr>
          <p:cNvPr id="57" name="Tag6"/>
          <p:cNvSpPr/>
          <p:nvPr/>
        </p:nvSpPr>
        <p:spPr>
          <a:xfrm>
            <a:off x="3840480" y="3703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INTERMÉD.</a:t>
            </a:r>
          </a:p>
        </p:txBody>
      </p:sp>
      <p:sp>
        <p:nvSpPr>
          <p:cNvPr id="58" name="Track6"/>
          <p:cNvSpPr/>
          <p:nvPr/>
        </p:nvSpPr>
        <p:spPr>
          <a:xfrm>
            <a:off x="5029200" y="3771900"/>
            <a:ext cx="5760720" cy="91440"/>
          </a:xfrm>
          <a:prstGeom prst="rect">
            <a:avLst/>
          </a:prstGeom>
          <a:solidFill>
            <a:srgbClr val="EEEA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9" name="Fill6"/>
          <p:cNvSpPr/>
          <p:nvPr/>
        </p:nvSpPr>
        <p:spPr>
          <a:xfrm>
            <a:off x="5029200" y="3771900"/>
            <a:ext cx="1961424" cy="91440"/>
          </a:xfrm>
          <a:prstGeom prst="rect">
            <a:avLst/>
          </a:prstGeom>
          <a:solidFill>
            <a:srgbClr val="7A74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Val6"/>
          <p:cNvSpPr/>
          <p:nvPr/>
        </p:nvSpPr>
        <p:spPr>
          <a:xfrm>
            <a:off x="10789920" y="3703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25.4 %</a:t>
            </a:r>
          </a:p>
        </p:txBody>
      </p:sp>
      <p:sp>
        <p:nvSpPr>
          <p:cNvPr id="62" name="TaskName7"/>
          <p:cNvSpPr/>
          <p:nvPr/>
        </p:nvSpPr>
        <p:spPr>
          <a:xfrm>
            <a:off x="731520" y="40233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Rapprochement · Comparaison docs</a:t>
            </a:r>
          </a:p>
        </p:txBody>
      </p:sp>
      <p:sp>
        <p:nvSpPr>
          <p:cNvPr id="63" name="Tag7"/>
          <p:cNvSpPr/>
          <p:nvPr/>
        </p:nvSpPr>
        <p:spPr>
          <a:xfrm>
            <a:off x="3840480" y="40233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INTERMÉD.</a:t>
            </a:r>
          </a:p>
        </p:txBody>
      </p:sp>
      <p:sp>
        <p:nvSpPr>
          <p:cNvPr id="64" name="Track7"/>
          <p:cNvSpPr/>
          <p:nvPr/>
        </p:nvSpPr>
        <p:spPr>
          <a:xfrm>
            <a:off x="5029200" y="4091940"/>
            <a:ext cx="5760720" cy="91440"/>
          </a:xfrm>
          <a:prstGeom prst="rect">
            <a:avLst/>
          </a:prstGeom>
          <a:solidFill>
            <a:srgbClr val="EEEA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5" name="Fill7"/>
          <p:cNvSpPr/>
          <p:nvPr/>
        </p:nvSpPr>
        <p:spPr>
          <a:xfrm>
            <a:off x="5029200" y="4091940"/>
            <a:ext cx="1613928" cy="91440"/>
          </a:xfrm>
          <a:prstGeom prst="rect">
            <a:avLst/>
          </a:prstGeom>
          <a:solidFill>
            <a:srgbClr val="7A74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6" name="Val7"/>
          <p:cNvSpPr/>
          <p:nvPr/>
        </p:nvSpPr>
        <p:spPr>
          <a:xfrm>
            <a:off x="10789920" y="40233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20.9 %</a:t>
            </a:r>
          </a:p>
        </p:txBody>
      </p:sp>
      <p:sp>
        <p:nvSpPr>
          <p:cNvPr id="68" name="TaskName8"/>
          <p:cNvSpPr/>
          <p:nvPr/>
        </p:nvSpPr>
        <p:spPr>
          <a:xfrm>
            <a:off x="731520" y="43434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Aide à la décision</a:t>
            </a:r>
          </a:p>
        </p:txBody>
      </p:sp>
      <p:sp>
        <p:nvSpPr>
          <p:cNvPr id="69" name="Tag8"/>
          <p:cNvSpPr/>
          <p:nvPr/>
        </p:nvSpPr>
        <p:spPr>
          <a:xfrm>
            <a:off x="3840480" y="43434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JUGEMENT</a:t>
            </a:r>
          </a:p>
        </p:txBody>
      </p:sp>
      <p:sp>
        <p:nvSpPr>
          <p:cNvPr id="70" name="Track8"/>
          <p:cNvSpPr/>
          <p:nvPr/>
        </p:nvSpPr>
        <p:spPr>
          <a:xfrm>
            <a:off x="5029200" y="4411980"/>
            <a:ext cx="5760720" cy="91440"/>
          </a:xfrm>
          <a:prstGeom prst="rect">
            <a:avLst/>
          </a:prstGeom>
          <a:solidFill>
            <a:srgbClr val="EEEA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1" name="Fill8"/>
          <p:cNvSpPr/>
          <p:nvPr/>
        </p:nvSpPr>
        <p:spPr>
          <a:xfrm>
            <a:off x="5029200" y="4411980"/>
            <a:ext cx="1498096" cy="91440"/>
          </a:xfrm>
          <a:prstGeom prst="rect">
            <a:avLst/>
          </a:prstGeom>
          <a:solidFill>
            <a:srgbClr val="A64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2" name="Val8"/>
          <p:cNvSpPr/>
          <p:nvPr/>
        </p:nvSpPr>
        <p:spPr>
          <a:xfrm>
            <a:off x="10789920" y="43434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19.4 %</a:t>
            </a:r>
          </a:p>
        </p:txBody>
      </p:sp>
      <p:sp>
        <p:nvSpPr>
          <p:cNvPr id="74" name="TaskName9"/>
          <p:cNvSpPr/>
          <p:nvPr/>
        </p:nvSpPr>
        <p:spPr>
          <a:xfrm>
            <a:off x="731520" y="46634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Évaluation du contrôle interne</a:t>
            </a:r>
          </a:p>
        </p:txBody>
      </p:sp>
      <p:sp>
        <p:nvSpPr>
          <p:cNvPr id="75" name="Tag9"/>
          <p:cNvSpPr/>
          <p:nvPr/>
        </p:nvSpPr>
        <p:spPr>
          <a:xfrm>
            <a:off x="3840480" y="4663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JUGEMENT</a:t>
            </a:r>
          </a:p>
        </p:txBody>
      </p:sp>
      <p:sp>
        <p:nvSpPr>
          <p:cNvPr id="76" name="Track9"/>
          <p:cNvSpPr/>
          <p:nvPr/>
        </p:nvSpPr>
        <p:spPr>
          <a:xfrm>
            <a:off x="5029200" y="4732020"/>
            <a:ext cx="5760720" cy="91440"/>
          </a:xfrm>
          <a:prstGeom prst="rect">
            <a:avLst/>
          </a:prstGeom>
          <a:solidFill>
            <a:srgbClr val="EEEA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7" name="Fill9"/>
          <p:cNvSpPr/>
          <p:nvPr/>
        </p:nvSpPr>
        <p:spPr>
          <a:xfrm>
            <a:off x="5029200" y="4732020"/>
            <a:ext cx="918935" cy="91440"/>
          </a:xfrm>
          <a:prstGeom prst="rect">
            <a:avLst/>
          </a:prstGeom>
          <a:solidFill>
            <a:srgbClr val="A64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8" name="Val9"/>
          <p:cNvSpPr/>
          <p:nvPr/>
        </p:nvSpPr>
        <p:spPr>
          <a:xfrm>
            <a:off x="10789920" y="46634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11.9 %</a:t>
            </a:r>
          </a:p>
        </p:txBody>
      </p:sp>
      <p:sp>
        <p:nvSpPr>
          <p:cNvPr id="80" name="TaskName10"/>
          <p:cNvSpPr/>
          <p:nvPr/>
        </p:nvSpPr>
        <p:spPr>
          <a:xfrm>
            <a:off x="731520" y="49834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Révision d'estimations comptables</a:t>
            </a:r>
          </a:p>
        </p:txBody>
      </p:sp>
      <p:sp>
        <p:nvSpPr>
          <p:cNvPr id="81" name="Tag10"/>
          <p:cNvSpPr/>
          <p:nvPr/>
        </p:nvSpPr>
        <p:spPr>
          <a:xfrm>
            <a:off x="3840480" y="49834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JUGEMENT</a:t>
            </a:r>
          </a:p>
        </p:txBody>
      </p:sp>
      <p:sp>
        <p:nvSpPr>
          <p:cNvPr id="82" name="Track10"/>
          <p:cNvSpPr/>
          <p:nvPr/>
        </p:nvSpPr>
        <p:spPr>
          <a:xfrm>
            <a:off x="5029200" y="5052060"/>
            <a:ext cx="5760720" cy="91440"/>
          </a:xfrm>
          <a:prstGeom prst="rect">
            <a:avLst/>
          </a:prstGeom>
          <a:solidFill>
            <a:srgbClr val="EEEAE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3" name="Fill10"/>
          <p:cNvSpPr/>
          <p:nvPr/>
        </p:nvSpPr>
        <p:spPr>
          <a:xfrm>
            <a:off x="5029200" y="5052060"/>
            <a:ext cx="694993" cy="91440"/>
          </a:xfrm>
          <a:prstGeom prst="rect">
            <a:avLst/>
          </a:prstGeom>
          <a:solidFill>
            <a:srgbClr val="A64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4" name="Val10"/>
          <p:cNvSpPr/>
          <p:nvPr/>
        </p:nvSpPr>
        <p:spPr>
          <a:xfrm>
            <a:off x="10789920" y="49834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9.0 %</a:t>
            </a:r>
          </a:p>
        </p:txBody>
      </p:sp>
      <p:sp>
        <p:nvSpPr>
          <p:cNvPr id="90" name="CalloutBg"/>
          <p:cNvSpPr/>
          <p:nvPr/>
        </p:nvSpPr>
        <p:spPr>
          <a:xfrm>
            <a:off x="731520" y="5692140"/>
            <a:ext cx="10972800" cy="5029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1" name="CalloutLab"/>
          <p:cNvSpPr/>
          <p:nvPr/>
        </p:nvSpPr>
        <p:spPr>
          <a:xfrm>
            <a:off x="1005840" y="5852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250" dirty="0">
                <a:solidFill>
                  <a:srgbClr val="F4C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</a:p>
        </p:txBody>
      </p:sp>
      <p:sp>
        <p:nvSpPr>
          <p:cNvPr id="92" name="CalloutTxt"/>
          <p:cNvSpPr/>
          <p:nvPr/>
        </p:nvSpPr>
        <p:spPr>
          <a:xfrm>
            <a:off x="3017520" y="58293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kern="0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tâches à </a:t>
            </a:r>
            <a:r>
              <a:rPr lang="en-US" sz="1150" b="1" kern="0" dirty="0">
                <a:solidFill>
                  <a:srgbClr val="F4C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enjeu de jugement</a:t>
            </a:r>
            <a:r>
              <a:rPr lang="en-US" sz="1150" kern="0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restent à l'écart de </a:t>
            </a:r>
            <a:r>
              <a:rPr lang="en-US" sz="1150" kern="0" dirty="0" err="1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l'IAG</a:t>
            </a:r>
            <a:endParaRPr lang="en-US" sz="1150" kern="0" dirty="0">
              <a:solidFill>
                <a:srgbClr val="FAF8F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137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0" b="1" kern="0" spc="-600" dirty="0">
                <a:solidFill>
                  <a:srgbClr val="B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4206240" y="2926080"/>
            <a:ext cx="0" cy="1280160"/>
          </a:xfrm>
          <a:prstGeom prst="line">
            <a:avLst/>
          </a:prstGeom>
          <a:noFill/>
          <a:ln w="19050">
            <a:solidFill>
              <a:srgbClr val="2C4A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480560" y="283464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kern="0" spc="-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&amp;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kern="0" spc="-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d'hypothèses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0332720" y="6537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SOUTENANCE · 2025–2026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Line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2" name="HeadPart"/>
          <p:cNvSpPr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kern="0" spc="400" dirty="0">
              <a:solidFill>
                <a:srgbClr val="8B7E6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04" name="Line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5" name="PageNum"/>
          <p:cNvSpPr/>
          <p:nvPr/>
        </p:nvSpPr>
        <p:spPr>
          <a:xfrm>
            <a:off x="10332720" y="6537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27</a:t>
            </a:r>
          </a:p>
        </p:txBody>
      </p:sp>
      <p:sp>
        <p:nvSpPr>
          <p:cNvPr id="1006" name="Deck"/>
          <p:cNvSpPr/>
          <p:nvPr/>
        </p:nvSpPr>
        <p:spPr>
          <a:xfrm>
            <a:off x="54864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SOUTENANCE · 2025–2026</a:t>
            </a:r>
          </a:p>
        </p:txBody>
      </p:sp>
      <p:sp>
        <p:nvSpPr>
          <p:cNvPr id="10" name="IcoBg"/>
          <p:cNvSpPr/>
          <p:nvPr/>
        </p:nvSpPr>
        <p:spPr>
          <a:xfrm>
            <a:off x="731520" y="731520"/>
            <a:ext cx="548640" cy="5486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Ico"/>
          <p:cNvSpPr/>
          <p:nvPr/>
        </p:nvSpPr>
        <p:spPr>
          <a:xfrm>
            <a:off x="731520" y="731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</a:p>
        </p:txBody>
      </p:sp>
      <p:sp>
        <p:nvSpPr>
          <p:cNvPr id="12" name="HypLabel"/>
          <p:cNvSpPr/>
          <p:nvPr/>
        </p:nvSpPr>
        <p:spPr>
          <a:xfrm>
            <a:off x="1371600" y="76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kern="0" spc="10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· INFIRMÉE</a:t>
            </a:r>
          </a:p>
        </p:txBody>
      </p:sp>
      <p:sp>
        <p:nvSpPr>
          <p:cNvPr id="13" name="HypStats"/>
          <p:cNvSpPr/>
          <p:nvPr/>
        </p:nvSpPr>
        <p:spPr>
          <a:xfrm>
            <a:off x="1371600" y="1051560"/>
            <a:ext cx="800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kern="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ρ(SUP, Q1) = 0,168   ·   p-value = 0,174   ·   </a:t>
            </a:r>
            <a:r>
              <a:rPr lang="en-US" sz="1100" b="1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</a:t>
            </a:r>
          </a:p>
        </p:txBody>
      </p:sp>
      <p:sp>
        <p:nvSpPr>
          <p:cNvPr id="14" name="Title"/>
          <p:cNvSpPr/>
          <p:nvPr/>
        </p:nvSpPr>
        <p:spPr>
          <a:xfrm>
            <a:off x="731520" y="17373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kern="0" spc="-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L'utilité perçue ne prédit plus l'usage</a:t>
            </a:r>
          </a:p>
        </p:txBody>
      </p:sp>
      <p:sp>
        <p:nvSpPr>
          <p:cNvPr id="20" name="LLab"/>
          <p:cNvSpPr/>
          <p:nvPr/>
        </p:nvSpPr>
        <p:spPr>
          <a:xfrm>
            <a:off x="731520" y="248412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EXPLICATION · EFFET PLAFOND</a:t>
            </a:r>
          </a:p>
        </p:txBody>
      </p:sp>
      <p:sp>
        <p:nvSpPr>
          <p:cNvPr id="21" name="Line"/>
          <p:cNvSpPr/>
          <p:nvPr/>
        </p:nvSpPr>
        <p:spPr>
          <a:xfrm>
            <a:off x="731520" y="2743200"/>
            <a:ext cx="5394960" cy="0"/>
          </a:xfrm>
          <a:prstGeom prst="line">
            <a:avLst/>
          </a:prstGeom>
          <a:noFill/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LDesc"/>
          <p:cNvSpPr/>
          <p:nvPr/>
        </p:nvSpPr>
        <p:spPr>
          <a:xfrm>
            <a:off x="731520" y="283464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0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Moy. SUP = 3,399 / 5 (68 %) · σ = 0,580 → très </a:t>
            </a:r>
            <a:r>
              <a:rPr lang="en-US" sz="1100" kern="0" dirty="0" err="1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faible</a:t>
            </a:r>
            <a:r>
              <a:rPr lang="en-US" sz="110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dispersion. </a:t>
            </a:r>
          </a:p>
          <a:p>
            <a:pPr>
              <a:lnSpc>
                <a:spcPct val="135000"/>
              </a:lnSpc>
            </a:pPr>
            <a:r>
              <a:rPr lang="fr-FR" sz="110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</a:rPr>
              <a:t>→ variable peu discriminante pour expliquer l’intensité d’usage</a:t>
            </a:r>
            <a:endParaRPr lang="en-US" sz="1100" kern="0" dirty="0">
              <a:solidFill>
                <a:srgbClr val="3A3A3A"/>
              </a:solidFill>
              <a:latin typeface="Arial" pitchFamily="34" charset="0"/>
              <a:ea typeface="Arial" pitchFamily="34" charset="-122"/>
            </a:endParaRPr>
          </a:p>
        </p:txBody>
      </p:sp>
      <p:sp>
        <p:nvSpPr>
          <p:cNvPr id="23" name="QuoteBar"/>
          <p:cNvSpPr/>
          <p:nvPr/>
        </p:nvSpPr>
        <p:spPr>
          <a:xfrm>
            <a:off x="731520" y="3703320"/>
            <a:ext cx="27432" cy="457200"/>
          </a:xfrm>
          <a:prstGeom prst="rect">
            <a:avLst/>
          </a:prstGeom>
          <a:solidFill>
            <a:srgbClr val="A64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Quote"/>
          <p:cNvSpPr/>
          <p:nvPr/>
        </p:nvSpPr>
        <p:spPr>
          <a:xfrm>
            <a:off x="822960" y="37261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00" i="1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Je ne pense pas qu'il y a une seule tâche sur laquelle je suis meilleur que lui. »</a:t>
            </a:r>
            <a:r>
              <a:rPr lang="en-US" sz="900" kern="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en-US" sz="900" kern="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r>
              <a:rPr lang="en-US" sz="900" kern="0" dirty="0" err="1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</a:t>
            </a:r>
            <a:r>
              <a:rPr lang="en-US" sz="900" kern="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A, </a:t>
            </a:r>
            <a:r>
              <a:rPr lang="en-US" sz="900" kern="0" dirty="0" err="1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Auditeur</a:t>
            </a:r>
            <a:r>
              <a:rPr lang="en-US" sz="900" kern="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</a:t>
            </a:r>
          </a:p>
        </p:txBody>
      </p:sp>
      <p:sp>
        <p:nvSpPr>
          <p:cNvPr id="30" name="RLab"/>
          <p:cNvSpPr/>
          <p:nvPr/>
        </p:nvSpPr>
        <p:spPr>
          <a:xfrm>
            <a:off x="6309360" y="246888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 </a:t>
            </a:r>
            <a:r>
              <a:rPr lang="en-US" sz="900" b="1" kern="0" spc="200" dirty="0" err="1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productivité</a:t>
            </a:r>
            <a:r>
              <a:rPr lang="en-US" sz="900" b="1" kern="0" spc="20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900" b="1" kern="0" spc="200" dirty="0" err="1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qualité</a:t>
            </a:r>
            <a:r>
              <a:rPr lang="en-US" sz="900" b="1" kern="0" spc="20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-&gt; Augmentation </a:t>
            </a:r>
            <a:r>
              <a:rPr lang="en-US" sz="900" b="1" kern="0" spc="200" dirty="0" err="1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utilisation</a:t>
            </a:r>
            <a:endParaRPr lang="en-US" sz="900" b="1" kern="0" spc="200" dirty="0">
              <a:solidFill>
                <a:srgbClr val="A64B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1" name="Line"/>
          <p:cNvSpPr/>
          <p:nvPr/>
        </p:nvSpPr>
        <p:spPr>
          <a:xfrm>
            <a:off x="6309360" y="2743200"/>
            <a:ext cx="5394960" cy="0"/>
          </a:xfrm>
          <a:prstGeom prst="line">
            <a:avLst/>
          </a:prstGeom>
          <a:noFill/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I0Lab"/>
          <p:cNvSpPr/>
          <p:nvPr/>
        </p:nvSpPr>
        <p:spPr>
          <a:xfrm>
            <a:off x="6312818" y="34975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 · Rédaction (qualité)</a:t>
            </a:r>
          </a:p>
        </p:txBody>
      </p:sp>
      <p:sp>
        <p:nvSpPr>
          <p:cNvPr id="41" name="I0Val"/>
          <p:cNvSpPr/>
          <p:nvPr/>
        </p:nvSpPr>
        <p:spPr>
          <a:xfrm>
            <a:off x="10076688" y="34518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kern="0" dirty="0">
                <a:solidFill>
                  <a:srgbClr val="2C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 = 0,326</a:t>
            </a:r>
            <a:r>
              <a:rPr lang="en-US" sz="1000" kern="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**</a:t>
            </a:r>
          </a:p>
        </p:txBody>
      </p:sp>
      <p:sp>
        <p:nvSpPr>
          <p:cNvPr id="42" name="I1Lab"/>
          <p:cNvSpPr/>
          <p:nvPr/>
        </p:nvSpPr>
        <p:spPr>
          <a:xfrm>
            <a:off x="6309360" y="37871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 · Gain de temps</a:t>
            </a:r>
          </a:p>
        </p:txBody>
      </p:sp>
      <p:sp>
        <p:nvSpPr>
          <p:cNvPr id="43" name="I1Val"/>
          <p:cNvSpPr/>
          <p:nvPr/>
        </p:nvSpPr>
        <p:spPr>
          <a:xfrm>
            <a:off x="10104120" y="37871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kern="0" dirty="0">
                <a:solidFill>
                  <a:srgbClr val="2C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 = 0,355</a:t>
            </a:r>
            <a:r>
              <a:rPr lang="en-US" sz="1000" kern="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**</a:t>
            </a:r>
          </a:p>
        </p:txBody>
      </p:sp>
      <p:sp>
        <p:nvSpPr>
          <p:cNvPr id="44" name="I2Lab"/>
          <p:cNvSpPr/>
          <p:nvPr/>
        </p:nvSpPr>
        <p:spPr>
          <a:xfrm>
            <a:off x="6306185" y="2856465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 · Développement SQL/VBA (prod.)</a:t>
            </a:r>
          </a:p>
        </p:txBody>
      </p:sp>
      <p:sp>
        <p:nvSpPr>
          <p:cNvPr id="45" name="I2Val"/>
          <p:cNvSpPr/>
          <p:nvPr/>
        </p:nvSpPr>
        <p:spPr>
          <a:xfrm>
            <a:off x="10100945" y="2856465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kern="0" dirty="0">
                <a:solidFill>
                  <a:srgbClr val="2C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 = 0,407</a:t>
            </a:r>
            <a:r>
              <a:rPr lang="en-US" sz="1000" kern="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***</a:t>
            </a:r>
          </a:p>
        </p:txBody>
      </p:sp>
      <p:sp>
        <p:nvSpPr>
          <p:cNvPr id="46" name="I3Lab"/>
          <p:cNvSpPr/>
          <p:nvPr/>
        </p:nvSpPr>
        <p:spPr>
          <a:xfrm>
            <a:off x="6309360" y="32004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 · Développement SQL/VBA (qualité)</a:t>
            </a:r>
          </a:p>
        </p:txBody>
      </p:sp>
      <p:sp>
        <p:nvSpPr>
          <p:cNvPr id="47" name="I3Val"/>
          <p:cNvSpPr/>
          <p:nvPr/>
        </p:nvSpPr>
        <p:spPr>
          <a:xfrm>
            <a:off x="10076688" y="31699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kern="0" dirty="0">
                <a:solidFill>
                  <a:srgbClr val="2C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 = 0,350</a:t>
            </a:r>
            <a:r>
              <a:rPr lang="en-US" sz="1000" kern="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**</a:t>
            </a:r>
          </a:p>
        </p:txBody>
      </p:sp>
      <p:sp>
        <p:nvSpPr>
          <p:cNvPr id="55" name="VSep"/>
          <p:cNvSpPr/>
          <p:nvPr/>
        </p:nvSpPr>
        <p:spPr>
          <a:xfrm>
            <a:off x="6214745" y="2514600"/>
            <a:ext cx="6350" cy="2286000"/>
          </a:xfrm>
          <a:prstGeom prst="rect">
            <a:avLst/>
          </a:prstGeom>
          <a:solidFill>
            <a:srgbClr val="D9D0C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0" name="Line"/>
          <p:cNvSpPr/>
          <p:nvPr/>
        </p:nvSpPr>
        <p:spPr>
          <a:xfrm>
            <a:off x="731520" y="5760720"/>
            <a:ext cx="32004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0" name="NoteSig"/>
          <p:cNvSpPr/>
          <p:nvPr/>
        </p:nvSpPr>
        <p:spPr>
          <a:xfrm>
            <a:off x="728345" y="590550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b="1" kern="0" spc="200" dirty="0">
                <a:solidFill>
                  <a:srgbClr val="8B7E6B"/>
                </a:solidFill>
                <a:latin typeface="Arial" pitchFamily="34" charset="0"/>
              </a:rPr>
              <a:t>SEUILS DE SIGNIFICATIVITÉ  </a:t>
            </a:r>
            <a:r>
              <a:rPr lang="en-US" sz="800" b="1" kern="0" dirty="0">
                <a:solidFill>
                  <a:srgbClr val="A64B3A"/>
                </a:solidFill>
                <a:latin typeface="Arial" pitchFamily="34" charset="0"/>
              </a:rPr>
              <a:t>*** </a:t>
            </a:r>
            <a:r>
              <a:rPr lang="en-US" sz="800" kern="0" dirty="0">
                <a:solidFill>
                  <a:srgbClr val="1A1A1A"/>
                </a:solidFill>
                <a:latin typeface="Arial" pitchFamily="34" charset="0"/>
              </a:rPr>
              <a:t>p-value &lt; 0,001 (très fort)   ·   </a:t>
            </a:r>
            <a:r>
              <a:rPr lang="en-US" sz="800" b="1" kern="0" dirty="0">
                <a:solidFill>
                  <a:srgbClr val="A64B3A"/>
                </a:solidFill>
                <a:latin typeface="Arial" pitchFamily="34" charset="0"/>
              </a:rPr>
              <a:t>** </a:t>
            </a:r>
            <a:r>
              <a:rPr lang="en-US" sz="800" kern="0" dirty="0">
                <a:solidFill>
                  <a:srgbClr val="1A1A1A"/>
                </a:solidFill>
                <a:latin typeface="Arial" pitchFamily="34" charset="0"/>
              </a:rPr>
              <a:t>p-value &lt; 0,01 (fort)   ·   </a:t>
            </a:r>
            <a:r>
              <a:rPr lang="en-US" sz="800" b="1" kern="0" dirty="0">
                <a:solidFill>
                  <a:srgbClr val="A64B3A"/>
                </a:solidFill>
                <a:latin typeface="Arial" pitchFamily="34" charset="0"/>
              </a:rPr>
              <a:t>* </a:t>
            </a:r>
            <a:r>
              <a:rPr lang="en-US" sz="800" kern="0" dirty="0">
                <a:solidFill>
                  <a:srgbClr val="1A1A1A"/>
                </a:solidFill>
                <a:latin typeface="Arial" pitchFamily="34" charset="0"/>
              </a:rPr>
              <a:t>p-value &lt; 0,05 (significatif)   ·   </a:t>
            </a:r>
            <a:r>
              <a:rPr lang="en-US" sz="800" b="1" kern="0" dirty="0">
                <a:solidFill>
                  <a:srgbClr val="8B7E6B"/>
                </a:solidFill>
                <a:latin typeface="Arial" pitchFamily="34" charset="0"/>
              </a:rPr>
              <a:t>NS </a:t>
            </a:r>
            <a:r>
              <a:rPr lang="en-US" sz="800" kern="0" dirty="0">
                <a:solidFill>
                  <a:srgbClr val="1A1A1A"/>
                </a:solidFill>
                <a:latin typeface="Arial" pitchFamily="34" charset="0"/>
              </a:rPr>
              <a:t>non significatif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30" grpId="0" animBg="1"/>
      <p:bldP spid="31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55" grpId="0" animBg="1"/>
      <p:bldP spid="50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Line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2" name="HeadPart"/>
          <p:cNvSpPr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kern="0" spc="400" dirty="0">
              <a:solidFill>
                <a:srgbClr val="8B7E6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04" name="Line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5" name="PageNum"/>
          <p:cNvSpPr/>
          <p:nvPr/>
        </p:nvSpPr>
        <p:spPr>
          <a:xfrm>
            <a:off x="10332720" y="6537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27</a:t>
            </a:r>
          </a:p>
        </p:txBody>
      </p:sp>
      <p:sp>
        <p:nvSpPr>
          <p:cNvPr id="1006" name="Deck"/>
          <p:cNvSpPr/>
          <p:nvPr/>
        </p:nvSpPr>
        <p:spPr>
          <a:xfrm>
            <a:off x="54864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SOUTENANCE · 2025–2026</a:t>
            </a:r>
          </a:p>
        </p:txBody>
      </p:sp>
      <p:sp>
        <p:nvSpPr>
          <p:cNvPr id="10" name="IcoBg"/>
          <p:cNvSpPr/>
          <p:nvPr/>
        </p:nvSpPr>
        <p:spPr>
          <a:xfrm>
            <a:off x="731520" y="731520"/>
            <a:ext cx="548640" cy="548640"/>
          </a:xfrm>
          <a:prstGeom prst="rect">
            <a:avLst/>
          </a:prstGeom>
          <a:solidFill>
            <a:srgbClr val="2C4A3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Ico"/>
          <p:cNvSpPr/>
          <p:nvPr/>
        </p:nvSpPr>
        <p:spPr>
          <a:xfrm>
            <a:off x="731520" y="731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12" name="HypLabel"/>
          <p:cNvSpPr/>
          <p:nvPr/>
        </p:nvSpPr>
        <p:spPr>
          <a:xfrm>
            <a:off x="1371600" y="76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kern="0" spc="100" dirty="0">
                <a:solidFill>
                  <a:srgbClr val="2C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· CONFIRMÉE</a:t>
            </a:r>
          </a:p>
        </p:txBody>
      </p:sp>
      <p:sp>
        <p:nvSpPr>
          <p:cNvPr id="13" name="HypStats"/>
          <p:cNvSpPr/>
          <p:nvPr/>
        </p:nvSpPr>
        <p:spPr>
          <a:xfrm>
            <a:off x="1371600" y="1051560"/>
            <a:ext cx="800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kern="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ρ(SFU, Q1) = 0,325   ·   p-value = 0,007</a:t>
            </a:r>
            <a:r>
              <a:rPr lang="en-US" sz="1100" b="1" kern="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**</a:t>
            </a:r>
          </a:p>
        </p:txBody>
      </p:sp>
      <p:sp>
        <p:nvSpPr>
          <p:cNvPr id="14" name="Title"/>
          <p:cNvSpPr/>
          <p:nvPr/>
        </p:nvSpPr>
        <p:spPr>
          <a:xfrm>
            <a:off x="731520" y="15544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kern="0" spc="-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Facilité d'usage : l'intégration au workflow écrase la prise </a:t>
            </a:r>
            <a:r>
              <a:rPr lang="en-US" sz="2400" b="1" kern="0" spc="-25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2400" b="1" kern="0" spc="-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main</a:t>
            </a:r>
          </a:p>
        </p:txBody>
      </p:sp>
      <p:sp>
        <p:nvSpPr>
          <p:cNvPr id="20" name="R0Strip"/>
          <p:cNvSpPr/>
          <p:nvPr/>
        </p:nvSpPr>
        <p:spPr>
          <a:xfrm>
            <a:off x="731520" y="2446020"/>
            <a:ext cx="54864" cy="594360"/>
          </a:xfrm>
          <a:prstGeom prst="rect">
            <a:avLst/>
          </a:prstGeom>
          <a:solidFill>
            <a:srgbClr val="8B7E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R0Code"/>
          <p:cNvSpPr/>
          <p:nvPr/>
        </p:nvSpPr>
        <p:spPr>
          <a:xfrm>
            <a:off x="914400" y="24917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spc="-1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</a:t>
            </a:r>
          </a:p>
        </p:txBody>
      </p:sp>
      <p:sp>
        <p:nvSpPr>
          <p:cNvPr id="22" name="R0Title"/>
          <p:cNvSpPr/>
          <p:nvPr/>
        </p:nvSpPr>
        <p:spPr>
          <a:xfrm>
            <a:off x="1920240" y="24917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kern="0" spc="-1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Prise en main intuitive</a:t>
            </a:r>
          </a:p>
        </p:txBody>
      </p:sp>
      <p:sp>
        <p:nvSpPr>
          <p:cNvPr id="23" name="R0Sub"/>
          <p:cNvSpPr/>
          <p:nvPr/>
        </p:nvSpPr>
        <p:spPr>
          <a:xfrm>
            <a:off x="1920240" y="28117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900" i="1" kern="0" dirty="0">
              <a:solidFill>
                <a:srgbClr val="8B7E6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4" name="R0Rho"/>
          <p:cNvSpPr/>
          <p:nvPr/>
        </p:nvSpPr>
        <p:spPr>
          <a:xfrm>
            <a:off x="9144000" y="25374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" b="1" kern="0" spc="-1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 = 0,257</a:t>
            </a:r>
            <a:r>
              <a:rPr lang="en-US" sz="1000" b="1" kern="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*</a:t>
            </a:r>
          </a:p>
        </p:txBody>
      </p:sp>
      <p:sp>
        <p:nvSpPr>
          <p:cNvPr id="25" name="R1Strip"/>
          <p:cNvSpPr/>
          <p:nvPr/>
        </p:nvSpPr>
        <p:spPr>
          <a:xfrm>
            <a:off x="731520" y="3131820"/>
            <a:ext cx="54864" cy="594360"/>
          </a:xfrm>
          <a:prstGeom prst="rect">
            <a:avLst/>
          </a:prstGeom>
          <a:solidFill>
            <a:srgbClr val="A64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R1Code"/>
          <p:cNvSpPr/>
          <p:nvPr/>
        </p:nvSpPr>
        <p:spPr>
          <a:xfrm>
            <a:off x="914400" y="31775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kern="0" spc="-1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</a:t>
            </a:r>
          </a:p>
        </p:txBody>
      </p:sp>
      <p:sp>
        <p:nvSpPr>
          <p:cNvPr id="27" name="R1Title"/>
          <p:cNvSpPr/>
          <p:nvPr/>
        </p:nvSpPr>
        <p:spPr>
          <a:xfrm>
            <a:off x="1920240" y="31775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kern="0" spc="-1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Intégration au workflow quotidien</a:t>
            </a:r>
          </a:p>
        </p:txBody>
      </p:sp>
      <p:sp>
        <p:nvSpPr>
          <p:cNvPr id="28" name="R1Sub"/>
          <p:cNvSpPr/>
          <p:nvPr/>
        </p:nvSpPr>
        <p:spPr>
          <a:xfrm>
            <a:off x="1920240" y="34975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900" i="1" kern="0" dirty="0">
              <a:solidFill>
                <a:srgbClr val="8B7E6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9" name="R1Rho"/>
          <p:cNvSpPr/>
          <p:nvPr/>
        </p:nvSpPr>
        <p:spPr>
          <a:xfrm>
            <a:off x="9144000" y="32232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kern="0" spc="-1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 = 0,492</a:t>
            </a:r>
            <a:r>
              <a:rPr lang="en-US" sz="1200" b="1" kern="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***</a:t>
            </a:r>
          </a:p>
        </p:txBody>
      </p:sp>
      <p:sp>
        <p:nvSpPr>
          <p:cNvPr id="30" name="R2Strip"/>
          <p:cNvSpPr/>
          <p:nvPr/>
        </p:nvSpPr>
        <p:spPr>
          <a:xfrm>
            <a:off x="731520" y="3817620"/>
            <a:ext cx="54864" cy="594360"/>
          </a:xfrm>
          <a:prstGeom prst="rect">
            <a:avLst/>
          </a:prstGeom>
          <a:solidFill>
            <a:srgbClr val="8B7E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R2Code"/>
          <p:cNvSpPr/>
          <p:nvPr/>
        </p:nvSpPr>
        <p:spPr>
          <a:xfrm>
            <a:off x="914400" y="38633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spc="-1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Q11_inv</a:t>
            </a:r>
          </a:p>
        </p:txBody>
      </p:sp>
      <p:sp>
        <p:nvSpPr>
          <p:cNvPr id="32" name="R2Title"/>
          <p:cNvSpPr/>
          <p:nvPr/>
        </p:nvSpPr>
        <p:spPr>
          <a:xfrm>
            <a:off x="1920240" y="38633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kern="0" spc="-1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Faible besoin de formation</a:t>
            </a:r>
          </a:p>
        </p:txBody>
      </p:sp>
      <p:sp>
        <p:nvSpPr>
          <p:cNvPr id="33" name="R2Sub"/>
          <p:cNvSpPr/>
          <p:nvPr/>
        </p:nvSpPr>
        <p:spPr>
          <a:xfrm>
            <a:off x="1920240" y="41833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900" i="1" kern="0" dirty="0">
              <a:solidFill>
                <a:srgbClr val="8B7E6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4" name="R2Rho"/>
          <p:cNvSpPr/>
          <p:nvPr/>
        </p:nvSpPr>
        <p:spPr>
          <a:xfrm>
            <a:off x="9144000" y="39090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" b="1" kern="0" spc="-1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 = 0,140</a:t>
            </a:r>
            <a:r>
              <a:rPr lang="en-US" sz="1000" b="1" kern="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NS</a:t>
            </a:r>
          </a:p>
        </p:txBody>
      </p:sp>
      <p:sp>
        <p:nvSpPr>
          <p:cNvPr id="60" name="QBar"/>
          <p:cNvSpPr/>
          <p:nvPr/>
        </p:nvSpPr>
        <p:spPr>
          <a:xfrm>
            <a:off x="731520" y="4846320"/>
            <a:ext cx="27432" cy="548640"/>
          </a:xfrm>
          <a:prstGeom prst="rect">
            <a:avLst/>
          </a:prstGeom>
          <a:solidFill>
            <a:srgbClr val="2C4A3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QText"/>
          <p:cNvSpPr/>
          <p:nvPr/>
        </p:nvSpPr>
        <p:spPr>
          <a:xfrm>
            <a:off x="914400" y="4846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i="1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[Ça serait vraiment utile si c'était intégré] directement dans le workflow. Et si avec l'IA je pouvais créer moi-même mon propre logiciel d'audit, ça serait génial. » </a:t>
            </a:r>
          </a:p>
          <a:p>
            <a:pPr>
              <a:lnSpc>
                <a:spcPct val="130000"/>
              </a:lnSpc>
            </a:pPr>
            <a:r>
              <a:rPr lang="en-US" sz="1000" kern="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r>
              <a:rPr lang="en-US" sz="1000" kern="0" dirty="0" err="1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</a:t>
            </a:r>
            <a:r>
              <a:rPr lang="en-US" sz="1000" kern="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C, CAC </a:t>
            </a:r>
            <a:r>
              <a:rPr lang="en-US" sz="1000" kern="0" dirty="0" err="1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signataire</a:t>
            </a:r>
            <a:endParaRPr lang="en-US" sz="1000" kern="0" dirty="0">
              <a:solidFill>
                <a:srgbClr val="8B7E6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l">
              <a:lnSpc>
                <a:spcPct val="130000"/>
              </a:lnSpc>
              <a:buNone/>
            </a:pPr>
            <a:br>
              <a:rPr lang="en-US" sz="1000" i="1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1000" i="1" kern="0" dirty="0">
              <a:solidFill>
                <a:srgbClr val="3A3A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70" name="Line"/>
          <p:cNvSpPr/>
          <p:nvPr/>
        </p:nvSpPr>
        <p:spPr>
          <a:xfrm>
            <a:off x="731520" y="5806440"/>
            <a:ext cx="32004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1" name="ImplLab"/>
          <p:cNvSpPr/>
          <p:nvPr/>
        </p:nvSpPr>
        <p:spPr>
          <a:xfrm>
            <a:off x="731520" y="58978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900" b="1" kern="0" spc="200" dirty="0">
              <a:solidFill>
                <a:srgbClr val="A64B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72" name="ImplBody"/>
          <p:cNvSpPr/>
          <p:nvPr/>
        </p:nvSpPr>
        <p:spPr>
          <a:xfrm>
            <a:off x="2651760" y="589788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endParaRPr lang="en-US" sz="1100" kern="0" dirty="0">
              <a:solidFill>
                <a:srgbClr val="1A1A1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" name="CalloutBg">
            <a:extLst>
              <a:ext uri="{FF2B5EF4-FFF2-40B4-BE49-F238E27FC236}">
                <a16:creationId xmlns:a16="http://schemas.microsoft.com/office/drawing/2014/main" id="{C840FAC6-5065-95BB-66C1-AE72AC22FC9C}"/>
              </a:ext>
            </a:extLst>
          </p:cNvPr>
          <p:cNvSpPr/>
          <p:nvPr/>
        </p:nvSpPr>
        <p:spPr>
          <a:xfrm>
            <a:off x="731520" y="5692140"/>
            <a:ext cx="10972800" cy="5029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CalloutLab">
            <a:extLst>
              <a:ext uri="{FF2B5EF4-FFF2-40B4-BE49-F238E27FC236}">
                <a16:creationId xmlns:a16="http://schemas.microsoft.com/office/drawing/2014/main" id="{AD77777C-F229-FC95-14BE-1857B1A90048}"/>
              </a:ext>
            </a:extLst>
          </p:cNvPr>
          <p:cNvSpPr/>
          <p:nvPr/>
        </p:nvSpPr>
        <p:spPr>
          <a:xfrm>
            <a:off x="1005840" y="5852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250" dirty="0" err="1">
                <a:solidFill>
                  <a:srgbClr val="F4C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Essentiel</a:t>
            </a:r>
            <a:endParaRPr lang="en-US" sz="1050" b="1" kern="0" spc="250" dirty="0">
              <a:solidFill>
                <a:srgbClr val="F4C28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4B95EC8-3629-2210-E60F-24345723786B}"/>
              </a:ext>
            </a:extLst>
          </p:cNvPr>
          <p:cNvSpPr txBox="1"/>
          <p:nvPr/>
        </p:nvSpPr>
        <p:spPr>
          <a:xfrm>
            <a:off x="2331720" y="5813852"/>
            <a:ext cx="76180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fr-FR" sz="1200" kern="0" noProof="0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</a:t>
            </a:r>
            <a:r>
              <a:rPr lang="fr-FR" sz="1200" kern="0" noProof="0" dirty="0" err="1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r>
              <a:rPr lang="fr-FR" sz="1200" kern="0" noProof="0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directement dans les outils du quotidien est l’élément </a:t>
            </a:r>
            <a:r>
              <a:rPr lang="fr-FR" sz="1200" kern="0" noProof="0" dirty="0">
                <a:solidFill>
                  <a:srgbClr val="FF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plus déterminant </a:t>
            </a:r>
            <a:r>
              <a:rPr lang="fr-FR" sz="1200" kern="0" noProof="0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l’utilisation de l’IAG.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Line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2" name="HeadPart"/>
          <p:cNvSpPr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kern="0" spc="400" dirty="0">
              <a:solidFill>
                <a:srgbClr val="8B7E6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04" name="Line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5" name="PageNum"/>
          <p:cNvSpPr/>
          <p:nvPr/>
        </p:nvSpPr>
        <p:spPr>
          <a:xfrm>
            <a:off x="10332720" y="6537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27</a:t>
            </a:r>
          </a:p>
        </p:txBody>
      </p:sp>
      <p:sp>
        <p:nvSpPr>
          <p:cNvPr id="1006" name="Deck"/>
          <p:cNvSpPr/>
          <p:nvPr/>
        </p:nvSpPr>
        <p:spPr>
          <a:xfrm>
            <a:off x="54864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SOUTENANCE · 2025–2026</a:t>
            </a:r>
          </a:p>
        </p:txBody>
      </p:sp>
      <p:sp>
        <p:nvSpPr>
          <p:cNvPr id="10" name="IcoBg"/>
          <p:cNvSpPr/>
          <p:nvPr/>
        </p:nvSpPr>
        <p:spPr>
          <a:xfrm>
            <a:off x="731520" y="731520"/>
            <a:ext cx="548640" cy="548640"/>
          </a:xfrm>
          <a:prstGeom prst="rect">
            <a:avLst/>
          </a:prstGeom>
          <a:solidFill>
            <a:srgbClr val="2C4A3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Ico"/>
          <p:cNvSpPr/>
          <p:nvPr/>
        </p:nvSpPr>
        <p:spPr>
          <a:xfrm>
            <a:off x="731520" y="731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12" name="HypLabel"/>
          <p:cNvSpPr/>
          <p:nvPr/>
        </p:nvSpPr>
        <p:spPr>
          <a:xfrm>
            <a:off x="1371599" y="731520"/>
            <a:ext cx="64008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500" b="1" kern="0" spc="100" dirty="0">
                <a:solidFill>
                  <a:srgbClr val="2C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 (</a:t>
            </a:r>
            <a:r>
              <a:rPr lang="en-US" sz="1500" b="1" i="1" kern="0" spc="100" dirty="0">
                <a:solidFill>
                  <a:srgbClr val="2C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</a:t>
            </a:r>
            <a:r>
              <a:rPr lang="en-US" sz="1500" b="1" i="1" kern="0" spc="100" dirty="0" err="1">
                <a:solidFill>
                  <a:srgbClr val="2C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risques</a:t>
            </a:r>
            <a:r>
              <a:rPr lang="en-US" sz="1500" b="1" i="1" kern="0" spc="100" dirty="0">
                <a:solidFill>
                  <a:srgbClr val="2C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i="1" kern="0" spc="100" dirty="0" err="1">
                <a:solidFill>
                  <a:srgbClr val="2C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perçus</a:t>
            </a:r>
            <a:r>
              <a:rPr lang="en-US" sz="1500" b="1" i="1" kern="0" spc="100" dirty="0">
                <a:solidFill>
                  <a:srgbClr val="2C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i="1" kern="0" spc="100" dirty="0" err="1">
                <a:solidFill>
                  <a:srgbClr val="2C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freinent</a:t>
            </a:r>
            <a:r>
              <a:rPr lang="en-US" sz="1500" b="1" i="1" kern="0" spc="100" dirty="0">
                <a:solidFill>
                  <a:srgbClr val="2C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i="1" kern="0" spc="100" dirty="0" err="1">
                <a:solidFill>
                  <a:srgbClr val="2C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l’utilisation</a:t>
            </a:r>
            <a:r>
              <a:rPr lang="en-US" sz="1500" b="1" kern="0" spc="100" dirty="0">
                <a:solidFill>
                  <a:srgbClr val="2C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· CONFIRMÉE</a:t>
            </a:r>
          </a:p>
        </p:txBody>
      </p:sp>
      <p:sp>
        <p:nvSpPr>
          <p:cNvPr id="13" name="HypStats1"/>
          <p:cNvSpPr/>
          <p:nvPr/>
        </p:nvSpPr>
        <p:spPr>
          <a:xfrm>
            <a:off x="1371600" y="100584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ρ(SRP, Q1) = − 0,231</a:t>
            </a:r>
            <a:r>
              <a:rPr lang="en-US" sz="1000" kern="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p-value = 0,060   ·   </a:t>
            </a:r>
            <a:r>
              <a:rPr lang="en-US" sz="1000" b="1" kern="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(.)</a:t>
            </a:r>
            <a:r>
              <a:rPr lang="en-US" sz="900" i="1" kern="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marginal</a:t>
            </a:r>
          </a:p>
        </p:txBody>
      </p:sp>
      <p:sp>
        <p:nvSpPr>
          <p:cNvPr id="14" name="HypStats2"/>
          <p:cNvSpPr/>
          <p:nvPr/>
        </p:nvSpPr>
        <p:spPr>
          <a:xfrm>
            <a:off x="1371600" y="123444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ρ(SRP, Q17) = 0,310</a:t>
            </a:r>
            <a:r>
              <a:rPr lang="en-US" sz="1000" kern="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p-value = 0,011   ·   </a:t>
            </a:r>
            <a:r>
              <a:rPr lang="en-US" sz="1000" b="1" kern="0" dirty="0">
                <a:solidFill>
                  <a:srgbClr val="2C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r>
              <a:rPr lang="en-US" sz="900" i="1" kern="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plus on perçoit les risques, plus on se sent freiné</a:t>
            </a:r>
          </a:p>
        </p:txBody>
      </p:sp>
      <p:sp>
        <p:nvSpPr>
          <p:cNvPr id="15" name="Title"/>
          <p:cNvSpPr/>
          <p:nvPr/>
        </p:nvSpPr>
        <p:spPr>
          <a:xfrm>
            <a:off x="731520" y="1600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kern="0" spc="-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frein n°1 n'est pas celui qu'on attendait</a:t>
            </a:r>
          </a:p>
        </p:txBody>
      </p:sp>
      <p:sp>
        <p:nvSpPr>
          <p:cNvPr id="20" name="LLab"/>
          <p:cNvSpPr/>
          <p:nvPr/>
        </p:nvSpPr>
        <p:spPr>
          <a:xfrm>
            <a:off x="731520" y="21945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HIÉRARCHIE DES RISQUES · ITEMS → Q17 (FREIN DÉCLARÉ)</a:t>
            </a:r>
          </a:p>
        </p:txBody>
      </p:sp>
      <p:sp>
        <p:nvSpPr>
          <p:cNvPr id="21" name="Line"/>
          <p:cNvSpPr/>
          <p:nvPr/>
        </p:nvSpPr>
        <p:spPr>
          <a:xfrm>
            <a:off x="731520" y="2468880"/>
            <a:ext cx="6400800" cy="0"/>
          </a:xfrm>
          <a:prstGeom prst="line">
            <a:avLst/>
          </a:prstGeom>
          <a:noFill/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Rk0"/>
          <p:cNvSpPr/>
          <p:nvPr/>
        </p:nvSpPr>
        <p:spPr>
          <a:xfrm>
            <a:off x="731520" y="25831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</a:p>
        </p:txBody>
      </p:sp>
      <p:sp>
        <p:nvSpPr>
          <p:cNvPr id="31" name="Lb0"/>
          <p:cNvSpPr/>
          <p:nvPr/>
        </p:nvSpPr>
        <p:spPr>
          <a:xfrm>
            <a:off x="1188720" y="256032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Q15 · Responsabilité individuelle</a:t>
            </a:r>
          </a:p>
        </p:txBody>
      </p:sp>
      <p:sp>
        <p:nvSpPr>
          <p:cNvPr id="32" name="Sb0"/>
          <p:cNvSpPr/>
          <p:nvPr/>
        </p:nvSpPr>
        <p:spPr>
          <a:xfrm>
            <a:off x="1188720" y="278892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800" i="1" kern="0" dirty="0">
              <a:solidFill>
                <a:srgbClr val="8B7E6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3" name="Rho0"/>
          <p:cNvSpPr/>
          <p:nvPr/>
        </p:nvSpPr>
        <p:spPr>
          <a:xfrm>
            <a:off x="5486400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b="1" kern="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 = 0,304</a:t>
            </a:r>
            <a:r>
              <a:rPr lang="en-US" sz="950" b="1" kern="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*</a:t>
            </a:r>
          </a:p>
        </p:txBody>
      </p:sp>
      <p:sp>
        <p:nvSpPr>
          <p:cNvPr id="34" name="Line"/>
          <p:cNvSpPr/>
          <p:nvPr/>
        </p:nvSpPr>
        <p:spPr>
          <a:xfrm>
            <a:off x="731520" y="3017520"/>
            <a:ext cx="6400800" cy="0"/>
          </a:xfrm>
          <a:prstGeom prst="line">
            <a:avLst/>
          </a:prstGeom>
          <a:noFill/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Rk1"/>
          <p:cNvSpPr/>
          <p:nvPr/>
        </p:nvSpPr>
        <p:spPr>
          <a:xfrm>
            <a:off x="731520" y="30861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</a:p>
        </p:txBody>
      </p:sp>
      <p:sp>
        <p:nvSpPr>
          <p:cNvPr id="36" name="Lb1"/>
          <p:cNvSpPr/>
          <p:nvPr/>
        </p:nvSpPr>
        <p:spPr>
          <a:xfrm>
            <a:off x="1188720" y="306324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Q14 · Boîte noire (opacité)</a:t>
            </a:r>
          </a:p>
        </p:txBody>
      </p:sp>
      <p:sp>
        <p:nvSpPr>
          <p:cNvPr id="37" name="Sb1"/>
          <p:cNvSpPr/>
          <p:nvPr/>
        </p:nvSpPr>
        <p:spPr>
          <a:xfrm>
            <a:off x="1188720" y="329184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800" i="1" kern="0" dirty="0">
              <a:solidFill>
                <a:srgbClr val="8B7E6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8" name="Rho1"/>
          <p:cNvSpPr/>
          <p:nvPr/>
        </p:nvSpPr>
        <p:spPr>
          <a:xfrm>
            <a:off x="5486400" y="3108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 = 0,237</a:t>
            </a:r>
            <a:r>
              <a:rPr lang="en-US" sz="950" b="1" kern="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(.)</a:t>
            </a:r>
          </a:p>
        </p:txBody>
      </p:sp>
      <p:sp>
        <p:nvSpPr>
          <p:cNvPr id="39" name="Line"/>
          <p:cNvSpPr/>
          <p:nvPr/>
        </p:nvSpPr>
        <p:spPr>
          <a:xfrm>
            <a:off x="731520" y="3520440"/>
            <a:ext cx="6400800" cy="0"/>
          </a:xfrm>
          <a:prstGeom prst="line">
            <a:avLst/>
          </a:prstGeom>
          <a:noFill/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Rk2"/>
          <p:cNvSpPr/>
          <p:nvPr/>
        </p:nvSpPr>
        <p:spPr>
          <a:xfrm>
            <a:off x="731520" y="35890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</a:p>
        </p:txBody>
      </p:sp>
      <p:sp>
        <p:nvSpPr>
          <p:cNvPr id="41" name="Lb2"/>
          <p:cNvSpPr/>
          <p:nvPr/>
        </p:nvSpPr>
        <p:spPr>
          <a:xfrm>
            <a:off x="1188720" y="356616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Q12 · Hallucinations</a:t>
            </a:r>
          </a:p>
        </p:txBody>
      </p:sp>
      <p:sp>
        <p:nvSpPr>
          <p:cNvPr id="42" name="Sb2"/>
          <p:cNvSpPr/>
          <p:nvPr/>
        </p:nvSpPr>
        <p:spPr>
          <a:xfrm>
            <a:off x="1188720" y="379476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800" i="1" kern="0" dirty="0">
              <a:solidFill>
                <a:srgbClr val="8B7E6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3" name="Rho2"/>
          <p:cNvSpPr/>
          <p:nvPr/>
        </p:nvSpPr>
        <p:spPr>
          <a:xfrm>
            <a:off x="5486400" y="3611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 = 0,233</a:t>
            </a:r>
            <a:r>
              <a:rPr lang="en-US" sz="950" b="1" kern="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(.)</a:t>
            </a:r>
          </a:p>
        </p:txBody>
      </p:sp>
      <p:sp>
        <p:nvSpPr>
          <p:cNvPr id="44" name="Line"/>
          <p:cNvSpPr/>
          <p:nvPr/>
        </p:nvSpPr>
        <p:spPr>
          <a:xfrm>
            <a:off x="731520" y="4023360"/>
            <a:ext cx="6400800" cy="0"/>
          </a:xfrm>
          <a:prstGeom prst="line">
            <a:avLst/>
          </a:prstGeom>
          <a:noFill/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Rk3"/>
          <p:cNvSpPr/>
          <p:nvPr/>
        </p:nvSpPr>
        <p:spPr>
          <a:xfrm>
            <a:off x="731520" y="40919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</a:p>
        </p:txBody>
      </p:sp>
      <p:sp>
        <p:nvSpPr>
          <p:cNvPr id="46" name="Lb3"/>
          <p:cNvSpPr/>
          <p:nvPr/>
        </p:nvSpPr>
        <p:spPr>
          <a:xfrm>
            <a:off x="1188720" y="406908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Q13 · Confidentialité</a:t>
            </a:r>
          </a:p>
        </p:txBody>
      </p:sp>
      <p:sp>
        <p:nvSpPr>
          <p:cNvPr id="47" name="Sb3"/>
          <p:cNvSpPr/>
          <p:nvPr/>
        </p:nvSpPr>
        <p:spPr>
          <a:xfrm>
            <a:off x="1188720" y="429768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800" i="1" kern="0" dirty="0">
              <a:solidFill>
                <a:srgbClr val="8B7E6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8" name="Rho3"/>
          <p:cNvSpPr/>
          <p:nvPr/>
        </p:nvSpPr>
        <p:spPr>
          <a:xfrm>
            <a:off x="5486400" y="4114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 = 0,109</a:t>
            </a:r>
            <a:r>
              <a:rPr lang="en-US" sz="950" b="1" kern="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NS</a:t>
            </a:r>
          </a:p>
        </p:txBody>
      </p:sp>
      <p:sp>
        <p:nvSpPr>
          <p:cNvPr id="60" name="VSep"/>
          <p:cNvSpPr/>
          <p:nvPr/>
        </p:nvSpPr>
        <p:spPr>
          <a:xfrm>
            <a:off x="7220585" y="2240280"/>
            <a:ext cx="6350" cy="2560320"/>
          </a:xfrm>
          <a:prstGeom prst="rect">
            <a:avLst/>
          </a:prstGeom>
          <a:solidFill>
            <a:srgbClr val="D9D0C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0" name="RLab"/>
          <p:cNvSpPr/>
          <p:nvPr/>
        </p:nvSpPr>
        <p:spPr>
          <a:xfrm>
            <a:off x="7315200" y="219456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CLÉ</a:t>
            </a:r>
          </a:p>
        </p:txBody>
      </p:sp>
      <p:sp>
        <p:nvSpPr>
          <p:cNvPr id="71" name="Line"/>
          <p:cNvSpPr/>
          <p:nvPr/>
        </p:nvSpPr>
        <p:spPr>
          <a:xfrm>
            <a:off x="7315200" y="2468880"/>
            <a:ext cx="4389120" cy="0"/>
          </a:xfrm>
          <a:prstGeom prst="line">
            <a:avLst/>
          </a:prstGeom>
          <a:noFill/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2" name="RTitle"/>
          <p:cNvSpPr/>
          <p:nvPr/>
        </p:nvSpPr>
        <p:spPr>
          <a:xfrm>
            <a:off x="7315200" y="2560320"/>
            <a:ext cx="4754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fr-FR" sz="1050" b="1" kern="0" spc="-1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responsabilité reste individuelle → non transférable à l’organisation</a:t>
            </a:r>
            <a:endParaRPr lang="en-US" sz="1050" b="1" kern="0" spc="-10" dirty="0">
              <a:solidFill>
                <a:srgbClr val="1A1A1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73" name="RBody"/>
          <p:cNvSpPr/>
          <p:nvPr/>
        </p:nvSpPr>
        <p:spPr>
          <a:xfrm>
            <a:off x="7315200" y="310896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endParaRPr lang="en-US" sz="900" i="1" kern="0" dirty="0">
              <a:solidFill>
                <a:srgbClr val="3A3A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80" name="QBar"/>
          <p:cNvSpPr/>
          <p:nvPr/>
        </p:nvSpPr>
        <p:spPr>
          <a:xfrm>
            <a:off x="7305472" y="3337559"/>
            <a:ext cx="27432" cy="822960"/>
          </a:xfrm>
          <a:prstGeom prst="rect">
            <a:avLst/>
          </a:prstGeom>
          <a:solidFill>
            <a:srgbClr val="2C4A3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1" name="QText"/>
          <p:cNvSpPr/>
          <p:nvPr/>
        </p:nvSpPr>
        <p:spPr>
          <a:xfrm>
            <a:off x="7396912" y="3337559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i="1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On était déjà complètement engagé quand c'était pas </a:t>
            </a:r>
            <a:r>
              <a:rPr lang="en-US" sz="900" i="1" kern="0" dirty="0" err="1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l’IA</a:t>
            </a:r>
            <a:r>
              <a:rPr lang="en-US" sz="900" i="1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que ce soit pas le cas serait un problème. »</a:t>
            </a:r>
          </a:p>
        </p:txBody>
      </p:sp>
      <p:sp>
        <p:nvSpPr>
          <p:cNvPr id="82" name="QAuthor"/>
          <p:cNvSpPr/>
          <p:nvPr/>
        </p:nvSpPr>
        <p:spPr>
          <a:xfrm>
            <a:off x="7396912" y="3977639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kern="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</a:t>
            </a:r>
            <a:r>
              <a:rPr lang="en-US" sz="850" kern="0" dirty="0" err="1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</a:t>
            </a:r>
            <a:r>
              <a:rPr lang="en-US" sz="850" kern="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B, </a:t>
            </a:r>
            <a:r>
              <a:rPr lang="en-US" sz="850" b="1" kern="0" dirty="0" err="1">
                <a:solidFill>
                  <a:srgbClr val="2C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Superviseur</a:t>
            </a:r>
            <a:r>
              <a:rPr lang="en-US" sz="850" b="1" kern="0" dirty="0">
                <a:solidFill>
                  <a:srgbClr val="2C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régional</a:t>
            </a:r>
          </a:p>
        </p:txBody>
      </p:sp>
      <p:sp>
        <p:nvSpPr>
          <p:cNvPr id="90" name="NoteBg"/>
          <p:cNvSpPr/>
          <p:nvPr/>
        </p:nvSpPr>
        <p:spPr>
          <a:xfrm>
            <a:off x="731520" y="4983479"/>
            <a:ext cx="10972800" cy="731517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1" name="NoteLab"/>
          <p:cNvSpPr/>
          <p:nvPr/>
        </p:nvSpPr>
        <p:spPr>
          <a:xfrm>
            <a:off x="937260" y="5271135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250" dirty="0" err="1">
                <a:solidFill>
                  <a:srgbClr val="F4C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Essentiel</a:t>
            </a:r>
            <a:r>
              <a:rPr lang="en-US" sz="1050" b="1" kern="0" spc="250" dirty="0">
                <a:solidFill>
                  <a:srgbClr val="F4C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</p:txBody>
      </p:sp>
      <p:sp>
        <p:nvSpPr>
          <p:cNvPr id="92" name="NoteBody"/>
          <p:cNvSpPr/>
          <p:nvPr/>
        </p:nvSpPr>
        <p:spPr>
          <a:xfrm>
            <a:off x="2080260" y="5212077"/>
            <a:ext cx="8808720" cy="36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confidentialité est </a:t>
            </a:r>
            <a:r>
              <a:rPr lang="en-US" sz="950" i="1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1ère en importance perçue</a:t>
            </a:r>
            <a:r>
              <a:rPr lang="en-US" sz="95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(Q16 = 4,43/5) mais </a:t>
            </a:r>
            <a:r>
              <a:rPr lang="en-US" sz="950" b="1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n'est pas corrélée au </a:t>
            </a:r>
            <a:r>
              <a:rPr lang="en-US" sz="950" b="1" kern="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frein</a:t>
            </a:r>
            <a:r>
              <a:rPr lang="en-US" sz="95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 Il </a:t>
            </a:r>
            <a:r>
              <a:rPr lang="en-US" sz="950" kern="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s’agit</a:t>
            </a:r>
            <a:r>
              <a:rPr lang="en-US" sz="95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la </a:t>
            </a:r>
            <a:r>
              <a:rPr lang="en-US" sz="950" kern="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réponsabilité</a:t>
            </a:r>
            <a:r>
              <a:rPr lang="en-US" sz="95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kern="0" dirty="0" err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individuelle</a:t>
            </a:r>
            <a:r>
              <a:rPr lang="en-US" sz="95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r>
              <a:rPr lang="en-US" sz="95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 utilisent des outils agréés (Copilot M365) → risque perçu comme géré par l'organisation.</a:t>
            </a:r>
          </a:p>
        </p:txBody>
      </p:sp>
      <p:sp>
        <p:nvSpPr>
          <p:cNvPr id="100" name="Line"/>
          <p:cNvSpPr/>
          <p:nvPr/>
        </p:nvSpPr>
        <p:spPr>
          <a:xfrm>
            <a:off x="731520" y="5760720"/>
            <a:ext cx="3200400" cy="0"/>
          </a:xfrm>
          <a:prstGeom prst="line">
            <a:avLst/>
          </a:prstGeom>
          <a:noFill/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1" name="ImplLab"/>
          <p:cNvSpPr/>
          <p:nvPr/>
        </p:nvSpPr>
        <p:spPr>
          <a:xfrm>
            <a:off x="731520" y="58521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900" b="1" kern="0" spc="200" dirty="0">
              <a:solidFill>
                <a:srgbClr val="A64B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2" name="ImplBody"/>
          <p:cNvSpPr/>
          <p:nvPr/>
        </p:nvSpPr>
        <p:spPr>
          <a:xfrm>
            <a:off x="2651760" y="585216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000" kern="0" dirty="0">
              <a:solidFill>
                <a:srgbClr val="1A1A1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60" grpId="0" animBg="1"/>
      <p:bldP spid="70" grpId="0" animBg="1"/>
      <p:bldP spid="71" grpId="0" animBg="1"/>
      <p:bldP spid="73" grpId="0" animBg="1"/>
      <p:bldP spid="80" grpId="0" animBg="1"/>
      <p:bldP spid="81" grpId="0" animBg="1"/>
      <p:bldP spid="82" grpId="0" animBg="1"/>
      <p:bldP spid="90" grpId="0" animBg="1"/>
      <p:bldP spid="91" grpId="0" animBg="1"/>
      <p:bldP spid="92" grpId="0" animBg="1"/>
      <p:bldP spid="100" grpId="0" animBg="1"/>
      <p:bldP spid="10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0332720" y="6537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SOUTENANCE · 2025–2026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822960"/>
            <a:ext cx="457200" cy="457200"/>
          </a:xfrm>
          <a:prstGeom prst="rect">
            <a:avLst/>
          </a:prstGeom>
          <a:solidFill>
            <a:srgbClr val="2C4A3E"/>
          </a:solidFill>
          <a:ln w="12700">
            <a:solidFill>
              <a:srgbClr val="2C4A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31520" y="822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2C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H4a · CONFIRMÉE (tendance)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1234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1737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-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maîtrise neutralise l'effet des risques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31520" y="2468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743200"/>
            <a:ext cx="10972800" cy="0"/>
          </a:xfrm>
          <a:prstGeom prst="line">
            <a:avLst/>
          </a:prstGeom>
          <a:noFill/>
          <a:ln w="6350">
            <a:solidFill>
              <a:srgbClr val="B85C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731520" y="2926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Maîtrise FAIBLE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2186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SMF &lt; 4,667 · n = 21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35661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kern="0" spc="-200" dirty="0">
                <a:solidFill>
                  <a:srgbClr val="B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−0,416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731520" y="4343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80560" y="2926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Maîtrise MOYENNE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80560" y="32186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4,667 ≤ SMF ≤ 5 · n = 24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80560" y="35661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kern="0" spc="-2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−0,274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4480560" y="4343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0" y="2926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Maîtrise ÉLEVÉE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0" y="32186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SMF &gt; 5,000 · n = 22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0" y="35661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kern="0" spc="-200" dirty="0">
                <a:solidFill>
                  <a:srgbClr val="2C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+0,030</a:t>
            </a:r>
            <a:endParaRPr lang="en-US" sz="4800" dirty="0"/>
          </a:p>
        </p:txBody>
      </p:sp>
      <p:sp>
        <p:nvSpPr>
          <p:cNvPr id="26" name="Text 24"/>
          <p:cNvSpPr/>
          <p:nvPr/>
        </p:nvSpPr>
        <p:spPr>
          <a:xfrm>
            <a:off x="8229600" y="4343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66160" y="37261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342730" y="369874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31520" y="4754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C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COMPÉTENCES OPÉRATIONNELLES CLÉS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" y="5029200"/>
            <a:ext cx="10972800" cy="0"/>
          </a:xfrm>
          <a:prstGeom prst="line">
            <a:avLst/>
          </a:prstGeom>
          <a:noFill/>
          <a:ln w="6350">
            <a:solidFill>
              <a:srgbClr val="2C4A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731520" y="52120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Q19 · Jours de formation reçus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0" y="5212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 = 0,095</a:t>
            </a:r>
            <a:r>
              <a:rPr lang="en-US" sz="1200" b="1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1520" y="55046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Q20 · Savoir prompter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58000" y="5504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 = 0,379</a:t>
            </a:r>
            <a:r>
              <a:rPr lang="en-US" sz="1200" b="1" dirty="0">
                <a:solidFill>
                  <a:srgbClr val="B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**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31520" y="579729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Q21 · Détecter erreurs de l'IAG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58000" y="57972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 = 0,242</a:t>
            </a:r>
            <a:r>
              <a:rPr lang="en-US" sz="1200" b="1" dirty="0">
                <a:solidFill>
                  <a:srgbClr val="B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*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961120" y="52120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900" i="1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</a:t>
            </a:r>
            <a:r>
              <a:rPr lang="fr-FR" sz="900" i="1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suis capable de contrôler les rendus qu'[une IA] me fait sur des informations financières. Si je fais la même chose sur [du] médical, je suis pas capable de savoir détecter [si] j'ai un cancer. » </a:t>
            </a:r>
          </a:p>
          <a:p>
            <a:pPr>
              <a:lnSpc>
                <a:spcPct val="130000"/>
              </a:lnSpc>
            </a:pPr>
            <a:r>
              <a:rPr lang="fr-FR" sz="900" i="1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Profil B, superviseur </a:t>
            </a:r>
            <a:r>
              <a:rPr lang="en-US" sz="900" kern="0" dirty="0" err="1">
                <a:solidFill>
                  <a:srgbClr val="2C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régional</a:t>
            </a:r>
            <a:endParaRPr lang="en-US" sz="900" i="1" kern="0" dirty="0">
              <a:solidFill>
                <a:srgbClr val="3A3A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8" name="QBar">
            <a:extLst>
              <a:ext uri="{FF2B5EF4-FFF2-40B4-BE49-F238E27FC236}">
                <a16:creationId xmlns:a16="http://schemas.microsoft.com/office/drawing/2014/main" id="{5CA00357-3EFF-7C3B-DF54-D6B6AAA7FDFE}"/>
              </a:ext>
            </a:extLst>
          </p:cNvPr>
          <p:cNvSpPr/>
          <p:nvPr/>
        </p:nvSpPr>
        <p:spPr>
          <a:xfrm>
            <a:off x="8842247" y="5248656"/>
            <a:ext cx="45719" cy="877824"/>
          </a:xfrm>
          <a:prstGeom prst="rect">
            <a:avLst/>
          </a:prstGeom>
          <a:solidFill>
            <a:srgbClr val="2C4A3E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push/>
      </p:transition>
    </mc:Choice>
    <mc:Fallback xmlns="">
      <p:transition spd="med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Bg">
            <a:extLst>
              <a:ext uri="{FF2B5EF4-FFF2-40B4-BE49-F238E27FC236}">
                <a16:creationId xmlns:a16="http://schemas.microsoft.com/office/drawing/2014/main" id="{33277EE3-E573-D1BB-B320-97BA14DB7898}"/>
              </a:ext>
            </a:extLst>
          </p:cNvPr>
          <p:cNvSpPr/>
          <p:nvPr/>
        </p:nvSpPr>
        <p:spPr>
          <a:xfrm>
            <a:off x="754379" y="5461864"/>
            <a:ext cx="10972800" cy="66461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01" name="Line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2" name="HeadPart"/>
          <p:cNvSpPr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kern="0" spc="400" dirty="0">
              <a:solidFill>
                <a:srgbClr val="8B7E6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04" name="Line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5" name="PageNum"/>
          <p:cNvSpPr/>
          <p:nvPr/>
        </p:nvSpPr>
        <p:spPr>
          <a:xfrm>
            <a:off x="10332720" y="6537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27</a:t>
            </a:r>
          </a:p>
        </p:txBody>
      </p:sp>
      <p:sp>
        <p:nvSpPr>
          <p:cNvPr id="1006" name="Deck"/>
          <p:cNvSpPr/>
          <p:nvPr/>
        </p:nvSpPr>
        <p:spPr>
          <a:xfrm>
            <a:off x="54864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SOUTENANCE · 2025–2026</a:t>
            </a:r>
          </a:p>
        </p:txBody>
      </p:sp>
      <p:sp>
        <p:nvSpPr>
          <p:cNvPr id="10" name="Eyebrow"/>
          <p:cNvSpPr/>
          <p:nvPr/>
        </p:nvSpPr>
        <p:spPr>
          <a:xfrm>
            <a:off x="731520" y="731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000" b="1" kern="0" spc="200" dirty="0">
              <a:solidFill>
                <a:srgbClr val="A64B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1" name="Title"/>
          <p:cNvSpPr/>
          <p:nvPr/>
        </p:nvSpPr>
        <p:spPr>
          <a:xfrm>
            <a:off x="1005840" y="1084258"/>
            <a:ext cx="10972800" cy="371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b="1" kern="0" spc="20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· H4b &amp; H4c · SCEPTICISME PROFESSIONNEL</a:t>
            </a:r>
          </a:p>
        </p:txBody>
      </p:sp>
      <p:sp>
        <p:nvSpPr>
          <p:cNvPr id="20" name="CardH4b"/>
          <p:cNvSpPr/>
          <p:nvPr/>
        </p:nvSpPr>
        <p:spPr>
          <a:xfrm>
            <a:off x="731520" y="2011680"/>
            <a:ext cx="53949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H4bLabel"/>
          <p:cNvSpPr/>
          <p:nvPr/>
        </p:nvSpPr>
        <p:spPr>
          <a:xfrm>
            <a:off x="100584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kern="0" spc="-25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H4b</a:t>
            </a:r>
          </a:p>
        </p:txBody>
      </p:sp>
      <p:sp>
        <p:nvSpPr>
          <p:cNvPr id="22" name="H4bPill"/>
          <p:cNvSpPr/>
          <p:nvPr/>
        </p:nvSpPr>
        <p:spPr>
          <a:xfrm>
            <a:off x="4754880" y="2286000"/>
            <a:ext cx="1097280" cy="274320"/>
          </a:xfrm>
          <a:prstGeom prst="rect">
            <a:avLst/>
          </a:prstGeom>
          <a:solidFill>
            <a:srgbClr val="F4E3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H4bPillTxt"/>
          <p:cNvSpPr/>
          <p:nvPr/>
        </p:nvSpPr>
        <p:spPr>
          <a:xfrm>
            <a:off x="4754880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8E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INFIRMÉE</a:t>
            </a:r>
          </a:p>
        </p:txBody>
      </p:sp>
      <p:sp>
        <p:nvSpPr>
          <p:cNvPr id="24" name="H4bDesc"/>
          <p:cNvSpPr/>
          <p:nvPr/>
        </p:nvSpPr>
        <p:spPr>
          <a:xfrm>
            <a:off x="1005840" y="2697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kern="0" spc="-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Maîtrise fonctionnelle → Scepticisme</a:t>
            </a:r>
          </a:p>
        </p:txBody>
      </p:sp>
      <p:sp>
        <p:nvSpPr>
          <p:cNvPr id="25" name="Line"/>
          <p:cNvSpPr/>
          <p:nvPr/>
        </p:nvSpPr>
        <p:spPr>
          <a:xfrm>
            <a:off x="1005840" y="3200400"/>
            <a:ext cx="4846320" cy="0"/>
          </a:xfrm>
          <a:prstGeom prst="line">
            <a:avLst/>
          </a:prstGeom>
          <a:noFill/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H4bStats"/>
          <p:cNvSpPr/>
          <p:nvPr/>
        </p:nvSpPr>
        <p:spPr>
          <a:xfrm>
            <a:off x="1005840" y="32918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2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 </a:t>
            </a:r>
            <a:r>
              <a:rPr lang="en-US" sz="10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SMF → SSP          </a:t>
            </a:r>
            <a:r>
              <a:rPr lang="en-US" sz="800" b="1" kern="0" spc="12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  </a:t>
            </a:r>
            <a:r>
              <a:rPr lang="en-US" sz="10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0,190          </a:t>
            </a:r>
            <a:r>
              <a:rPr lang="en-US" sz="800" b="1" kern="0" spc="12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p-value  </a:t>
            </a:r>
            <a:r>
              <a:rPr lang="en-US" sz="10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0,124 · NS</a:t>
            </a:r>
          </a:p>
        </p:txBody>
      </p:sp>
      <p:sp>
        <p:nvSpPr>
          <p:cNvPr id="30" name="CardH4c"/>
          <p:cNvSpPr/>
          <p:nvPr/>
        </p:nvSpPr>
        <p:spPr>
          <a:xfrm>
            <a:off x="6309360" y="2011680"/>
            <a:ext cx="53949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H4cLabel"/>
          <p:cNvSpPr/>
          <p:nvPr/>
        </p:nvSpPr>
        <p:spPr>
          <a:xfrm>
            <a:off x="6583680" y="2194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kern="0" spc="-25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H4c</a:t>
            </a:r>
          </a:p>
        </p:txBody>
      </p:sp>
      <p:sp>
        <p:nvSpPr>
          <p:cNvPr id="32" name="H4cPill"/>
          <p:cNvSpPr/>
          <p:nvPr/>
        </p:nvSpPr>
        <p:spPr>
          <a:xfrm>
            <a:off x="10332720" y="2286000"/>
            <a:ext cx="1097280" cy="274320"/>
          </a:xfrm>
          <a:prstGeom prst="rect">
            <a:avLst/>
          </a:prstGeom>
          <a:solidFill>
            <a:srgbClr val="F4E3D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H4cPillTxt"/>
          <p:cNvSpPr/>
          <p:nvPr/>
        </p:nvSpPr>
        <p:spPr>
          <a:xfrm>
            <a:off x="10332720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8E2A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INFIRMÉE</a:t>
            </a:r>
          </a:p>
        </p:txBody>
      </p:sp>
      <p:sp>
        <p:nvSpPr>
          <p:cNvPr id="34" name="H4cDesc"/>
          <p:cNvSpPr/>
          <p:nvPr/>
        </p:nvSpPr>
        <p:spPr>
          <a:xfrm>
            <a:off x="6583680" y="2697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kern="0" spc="-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Risques perçus → Érosion scepticisme</a:t>
            </a:r>
          </a:p>
        </p:txBody>
      </p:sp>
      <p:sp>
        <p:nvSpPr>
          <p:cNvPr id="35" name="Line"/>
          <p:cNvSpPr/>
          <p:nvPr/>
        </p:nvSpPr>
        <p:spPr>
          <a:xfrm>
            <a:off x="6583680" y="3200400"/>
            <a:ext cx="4846320" cy="0"/>
          </a:xfrm>
          <a:prstGeom prst="line">
            <a:avLst/>
          </a:prstGeom>
          <a:noFill/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H4cStats"/>
          <p:cNvSpPr/>
          <p:nvPr/>
        </p:nvSpPr>
        <p:spPr>
          <a:xfrm>
            <a:off x="6583680" y="32918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00" b="1" kern="0" spc="12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 </a:t>
            </a:r>
            <a:r>
              <a:rPr lang="en-US" sz="10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SRP → SSP          </a:t>
            </a:r>
            <a:r>
              <a:rPr lang="en-US" sz="800" b="1" kern="0" spc="12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  </a:t>
            </a:r>
            <a:r>
              <a:rPr lang="en-US" sz="10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0,113          </a:t>
            </a:r>
            <a:r>
              <a:rPr lang="en-US" sz="800" b="1" kern="0" spc="12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p-value  </a:t>
            </a:r>
            <a:r>
              <a:rPr lang="en-US" sz="10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0,364 · NS</a:t>
            </a:r>
          </a:p>
        </p:txBody>
      </p:sp>
      <p:sp>
        <p:nvSpPr>
          <p:cNvPr id="40" name="LeftStrip"/>
          <p:cNvSpPr/>
          <p:nvPr/>
        </p:nvSpPr>
        <p:spPr>
          <a:xfrm>
            <a:off x="731520" y="3886200"/>
            <a:ext cx="45719" cy="1463037"/>
          </a:xfrm>
          <a:prstGeom prst="rect">
            <a:avLst/>
          </a:prstGeom>
          <a:solidFill>
            <a:srgbClr val="A64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RightBg"/>
          <p:cNvSpPr/>
          <p:nvPr/>
        </p:nvSpPr>
        <p:spPr>
          <a:xfrm>
            <a:off x="777240" y="3886200"/>
            <a:ext cx="10927080" cy="1463040"/>
          </a:xfrm>
          <a:prstGeom prst="rect">
            <a:avLst/>
          </a:prstGeom>
          <a:solidFill>
            <a:srgbClr val="F0E2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RightTitle"/>
          <p:cNvSpPr/>
          <p:nvPr/>
        </p:nvSpPr>
        <p:spPr>
          <a:xfrm>
            <a:off x="1051560" y="416052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DÉSAGRÉGÉ · BIAIS D'AUTOMATISATION</a:t>
            </a:r>
          </a:p>
        </p:txBody>
      </p:sp>
      <p:sp>
        <p:nvSpPr>
          <p:cNvPr id="52" name="Line"/>
          <p:cNvSpPr/>
          <p:nvPr/>
        </p:nvSpPr>
        <p:spPr>
          <a:xfrm>
            <a:off x="1051560" y="4572000"/>
            <a:ext cx="10332720" cy="0"/>
          </a:xfrm>
          <a:prstGeom prst="line">
            <a:avLst/>
          </a:prstGeom>
          <a:noFill/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Bias1Label"/>
          <p:cNvSpPr/>
          <p:nvPr/>
        </p:nvSpPr>
        <p:spPr>
          <a:xfrm>
            <a:off x="1051560" y="4617720"/>
            <a:ext cx="75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× Q24 · Usage → </a:t>
            </a:r>
            <a:r>
              <a:rPr lang="en-US" sz="1100" kern="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confiance</a:t>
            </a:r>
            <a:r>
              <a:rPr lang="en-US" sz="1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kern="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jugement</a:t>
            </a:r>
            <a:endParaRPr lang="en-US" sz="1100" kern="0" dirty="0">
              <a:solidFill>
                <a:srgbClr val="1A1A1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54" name="Bias1Val"/>
          <p:cNvSpPr/>
          <p:nvPr/>
        </p:nvSpPr>
        <p:spPr>
          <a:xfrm>
            <a:off x="9144000" y="4617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kern="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 = 0,282  </a:t>
            </a:r>
            <a:r>
              <a:rPr lang="en-US" sz="1000" kern="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</a:p>
        </p:txBody>
      </p:sp>
      <p:sp>
        <p:nvSpPr>
          <p:cNvPr id="55" name="Line"/>
          <p:cNvSpPr/>
          <p:nvPr/>
        </p:nvSpPr>
        <p:spPr>
          <a:xfrm>
            <a:off x="1051560" y="4983480"/>
            <a:ext cx="10332720" cy="0"/>
          </a:xfrm>
          <a:prstGeom prst="line">
            <a:avLst/>
          </a:prstGeom>
          <a:noFill/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Bias2Label"/>
          <p:cNvSpPr/>
          <p:nvPr/>
        </p:nvSpPr>
        <p:spPr>
          <a:xfrm>
            <a:off x="1051560" y="5029200"/>
            <a:ext cx="75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× Q25_inv · Usage → ne </a:t>
            </a:r>
            <a:r>
              <a:rPr lang="en-US" sz="1100" kern="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cèdent</a:t>
            </a:r>
            <a:r>
              <a:rPr lang="en-US" sz="1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pas à l'IAG</a:t>
            </a:r>
          </a:p>
        </p:txBody>
      </p:sp>
      <p:sp>
        <p:nvSpPr>
          <p:cNvPr id="57" name="Bias2Val"/>
          <p:cNvSpPr/>
          <p:nvPr/>
        </p:nvSpPr>
        <p:spPr>
          <a:xfrm>
            <a:off x="9144000" y="5029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b="1" kern="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 = −0,271  </a:t>
            </a:r>
            <a:r>
              <a:rPr lang="en-US" sz="1000" kern="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</a:p>
        </p:txBody>
      </p:sp>
      <p:sp>
        <p:nvSpPr>
          <p:cNvPr id="58" name="BiasBody"/>
          <p:cNvSpPr/>
          <p:nvPr/>
        </p:nvSpPr>
        <p:spPr>
          <a:xfrm>
            <a:off x="2080260" y="5539794"/>
            <a:ext cx="9532620" cy="548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fr-FR" sz="105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n’y a pas de corrélation entre maitrise fonctionnelle et scepticisme professionnel ni entre risques perçus et scepticisme professionnel (NS).</a:t>
            </a:r>
          </a:p>
          <a:p>
            <a:pPr marL="171450" indent="-171450" algn="l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fr-FR" sz="105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auditeurs qui utilisent le plus l’IAG sont ceux qui ont le plus confiance dans leur jugement et aussi ceux qui cèdent le plus à l’IAG (</a:t>
            </a:r>
            <a:r>
              <a:rPr lang="fr-FR" sz="1050" kern="0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Biais d’automatisation</a:t>
            </a:r>
            <a:r>
              <a:rPr lang="fr-FR" sz="105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</a:p>
        </p:txBody>
      </p:sp>
      <p:sp>
        <p:nvSpPr>
          <p:cNvPr id="2" name="Ico">
            <a:extLst>
              <a:ext uri="{FF2B5EF4-FFF2-40B4-BE49-F238E27FC236}">
                <a16:creationId xmlns:a16="http://schemas.microsoft.com/office/drawing/2014/main" id="{94073067-7D67-A815-3E69-38752E6E080A}"/>
              </a:ext>
            </a:extLst>
          </p:cNvPr>
          <p:cNvSpPr/>
          <p:nvPr/>
        </p:nvSpPr>
        <p:spPr>
          <a:xfrm>
            <a:off x="548640" y="1013515"/>
            <a:ext cx="365760" cy="441850"/>
          </a:xfrm>
          <a:prstGeom prst="rect">
            <a:avLst/>
          </a:prstGeom>
          <a:solidFill>
            <a:srgbClr val="C0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</a:p>
        </p:txBody>
      </p:sp>
      <p:sp>
        <p:nvSpPr>
          <p:cNvPr id="4" name="NoteLab">
            <a:extLst>
              <a:ext uri="{FF2B5EF4-FFF2-40B4-BE49-F238E27FC236}">
                <a16:creationId xmlns:a16="http://schemas.microsoft.com/office/drawing/2014/main" id="{B44E008A-49B8-A1F0-A4C2-F0DC0C714317}"/>
              </a:ext>
            </a:extLst>
          </p:cNvPr>
          <p:cNvSpPr/>
          <p:nvPr/>
        </p:nvSpPr>
        <p:spPr>
          <a:xfrm>
            <a:off x="937260" y="5715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250" dirty="0" err="1">
                <a:solidFill>
                  <a:srgbClr val="F4C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Essentiel</a:t>
            </a:r>
            <a:r>
              <a:rPr lang="en-US" sz="1050" b="1" kern="0" spc="250" dirty="0">
                <a:solidFill>
                  <a:srgbClr val="F4C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0332720" y="6537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SOUTENANCE · 2025–2026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19" y="66673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0079" y="166343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69279" y="166343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78039" y="166343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458199" y="166343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555479" y="166343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424159" y="166343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2999" y="166343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HYPOTHÈSE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79" y="1983469"/>
            <a:ext cx="1088136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40079" y="202919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79" y="202919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 → Q1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78039" y="202919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0,168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58199" y="202919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0,174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555479" y="202919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424159" y="202919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INFIRMÉE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2999" y="202919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L'utilité perçue de l'IA générative influence positivement son utilisation.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79" y="2596118"/>
            <a:ext cx="10881359" cy="566928"/>
          </a:xfrm>
          <a:prstGeom prst="rect">
            <a:avLst/>
          </a:prstGeom>
          <a:solidFill>
            <a:srgbClr val="EFEAE0"/>
          </a:solidFill>
          <a:ln w="12700">
            <a:solidFill>
              <a:srgbClr val="EFEA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40079" y="2596118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69279" y="259611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SFU → Q1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78039" y="259611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0,325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58199" y="259611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0,007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555479" y="259611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424159" y="259611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C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CONFIRMÉE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42999" y="2596118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facilité d'utilisation perçue de l'IAG influence positivement son adoption effective.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79" y="3163046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669279" y="316304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SRP → Q1 · Q17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78039" y="316304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−0,231 · 0,310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458199" y="316304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0,060 · 0,011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555479" y="3163046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(.) ·*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424159" y="316304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C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CONFIRMÉE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42999" y="3163046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perception des risques influence négativement l'intention d'utiliser l'IA générative.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0079" y="3729974"/>
            <a:ext cx="10881359" cy="566928"/>
          </a:xfrm>
          <a:prstGeom prst="rect">
            <a:avLst/>
          </a:prstGeom>
          <a:solidFill>
            <a:srgbClr val="EFEAE0"/>
          </a:solidFill>
          <a:ln w="12700">
            <a:solidFill>
              <a:srgbClr val="EFEA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640079" y="3729974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H4a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669279" y="3729974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SMF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178039" y="372997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−0,416 → 0,030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458199" y="372997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555479" y="3729974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Tendance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424159" y="372997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C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CONFIRMÉE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142999" y="3729974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niveau de formation et de maîtrise fonctionnelle agit comme un modérateur positif sur la relation entre risques perçus et utilisation de l'IAG.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0079" y="4296902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H4b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669279" y="429690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SMF → SSP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178039" y="429690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0,190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458199" y="429690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0,124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555479" y="4296902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0424159" y="4296902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INFIRMÉE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142999" y="4296902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maîtrise fonctionnelle de l'IAG est positivement associée au scepticisme professionnel de l'auditeur.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40079" y="4863830"/>
            <a:ext cx="10881359" cy="566928"/>
          </a:xfrm>
          <a:prstGeom prst="rect">
            <a:avLst/>
          </a:prstGeom>
          <a:solidFill>
            <a:srgbClr val="EFEAE0"/>
          </a:solidFill>
          <a:ln w="12700">
            <a:solidFill>
              <a:srgbClr val="EFEA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640079" y="486383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H4c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5669279" y="486383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SRP → SSP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178039" y="486383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0,113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458199" y="486383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0,364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9555479" y="486383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0424159" y="486383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INFIRMÉE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1142999" y="4863830"/>
            <a:ext cx="4434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perception des risques liés à l'IAG est négativement associée au scepticisme professionnel de l'auditeur.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40079" y="5476478"/>
            <a:ext cx="1088136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4" name="Text 62"/>
          <p:cNvSpPr/>
          <p:nvPr/>
        </p:nvSpPr>
        <p:spPr>
          <a:xfrm>
            <a:off x="731520" y="6007607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(.) p &lt; 0,10    *  p &lt; 0,05    **  p &lt; 0,01    ***  p &lt; 0,001    NS non significatif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460484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push/>
      </p:transition>
    </mc:Choice>
    <mc:Fallback xmlns="">
      <p:transition spd="med">
        <p:push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137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0" b="1" kern="0" spc="-600" dirty="0">
                <a:solidFill>
                  <a:srgbClr val="B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4206240" y="2926080"/>
            <a:ext cx="0" cy="1280160"/>
          </a:xfrm>
          <a:prstGeom prst="line">
            <a:avLst/>
          </a:prstGeom>
          <a:noFill/>
          <a:ln w="19050">
            <a:solidFill>
              <a:srgbClr val="2C4A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480560" y="283464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kern="0" spc="-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kern="0" spc="-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entretiens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0332720" y="6537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SOUTENANCE · 2025–2026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Line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2" name="HeadPart"/>
          <p:cNvSpPr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kern="0" spc="400" dirty="0">
              <a:solidFill>
                <a:srgbClr val="8B7E6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04" name="Line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5" name="PageNum"/>
          <p:cNvSpPr/>
          <p:nvPr/>
        </p:nvSpPr>
        <p:spPr>
          <a:xfrm>
            <a:off x="10332720" y="6537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27</a:t>
            </a:r>
          </a:p>
        </p:txBody>
      </p:sp>
      <p:sp>
        <p:nvSpPr>
          <p:cNvPr id="1006" name="Deck"/>
          <p:cNvSpPr/>
          <p:nvPr/>
        </p:nvSpPr>
        <p:spPr>
          <a:xfrm>
            <a:off x="54864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SOUTENANCE · 2025–2026</a:t>
            </a:r>
          </a:p>
        </p:txBody>
      </p:sp>
      <p:sp>
        <p:nvSpPr>
          <p:cNvPr id="11" name="Title"/>
          <p:cNvSpPr/>
          <p:nvPr/>
        </p:nvSpPr>
        <p:spPr>
          <a:xfrm>
            <a:off x="731520" y="622921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kern="0" spc="-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profils contrastés</a:t>
            </a:r>
          </a:p>
        </p:txBody>
      </p:sp>
      <p:sp>
        <p:nvSpPr>
          <p:cNvPr id="20" name="BgP0"/>
          <p:cNvSpPr/>
          <p:nvPr/>
        </p:nvSpPr>
        <p:spPr>
          <a:xfrm>
            <a:off x="731520" y="1126166"/>
            <a:ext cx="3535680" cy="4663440"/>
          </a:xfrm>
          <a:prstGeom prst="rect">
            <a:avLst/>
          </a:prstGeom>
          <a:solidFill>
            <a:srgbClr val="F0E2D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Big0"/>
          <p:cNvSpPr/>
          <p:nvPr/>
        </p:nvSpPr>
        <p:spPr>
          <a:xfrm>
            <a:off x="1005840" y="1354766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600" b="1" kern="0" spc="-35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</a:p>
        </p:txBody>
      </p:sp>
      <p:sp>
        <p:nvSpPr>
          <p:cNvPr id="22" name="Lab0"/>
          <p:cNvSpPr/>
          <p:nvPr/>
        </p:nvSpPr>
        <p:spPr>
          <a:xfrm>
            <a:off x="2895600" y="140048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kern="0" spc="25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 A</a:t>
            </a:r>
          </a:p>
        </p:txBody>
      </p:sp>
      <p:sp>
        <p:nvSpPr>
          <p:cNvPr id="23" name="T0"/>
          <p:cNvSpPr/>
          <p:nvPr/>
        </p:nvSpPr>
        <p:spPr>
          <a:xfrm>
            <a:off x="1005840" y="2314886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kern="0" spc="-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Auditeur IT</a:t>
            </a:r>
          </a:p>
        </p:txBody>
      </p:sp>
      <p:sp>
        <p:nvSpPr>
          <p:cNvPr id="24" name="S0"/>
          <p:cNvSpPr/>
          <p:nvPr/>
        </p:nvSpPr>
        <p:spPr>
          <a:xfrm>
            <a:off x="1005840" y="2680646"/>
            <a:ext cx="298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kern="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2 · Grand Cabinet · utilisateur intensif</a:t>
            </a:r>
          </a:p>
        </p:txBody>
      </p:sp>
      <p:sp>
        <p:nvSpPr>
          <p:cNvPr id="25" name="Line"/>
          <p:cNvSpPr/>
          <p:nvPr/>
        </p:nvSpPr>
        <p:spPr>
          <a:xfrm>
            <a:off x="1005840" y="2954966"/>
            <a:ext cx="2987040" cy="0"/>
          </a:xfrm>
          <a:prstGeom prst="line">
            <a:avLst/>
          </a:prstGeom>
          <a:noFill/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g0_0"/>
          <p:cNvSpPr/>
          <p:nvPr/>
        </p:nvSpPr>
        <p:spPr>
          <a:xfrm>
            <a:off x="1005840" y="3000686"/>
            <a:ext cx="298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INTERROGE H2</a:t>
            </a:r>
          </a:p>
        </p:txBody>
      </p:sp>
      <p:sp>
        <p:nvSpPr>
          <p:cNvPr id="27" name="Tx0_0"/>
          <p:cNvSpPr/>
          <p:nvPr/>
        </p:nvSpPr>
        <p:spPr>
          <a:xfrm>
            <a:off x="1005840" y="3183566"/>
            <a:ext cx="298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fr-FR" sz="9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</a:rPr>
              <a:t>Utilisation intensive même si « l'IA n'est pas intégrée de façon fluide » Pour lui, la performance de l’outil prime sur la facilité d’utilisation.</a:t>
            </a:r>
            <a:endParaRPr lang="en-US" sz="900" kern="0" dirty="0">
              <a:solidFill>
                <a:srgbClr val="1A1A1A"/>
              </a:solidFill>
              <a:latin typeface="Arial" pitchFamily="34" charset="0"/>
              <a:ea typeface="Arial" pitchFamily="34" charset="-122"/>
            </a:endParaRPr>
          </a:p>
        </p:txBody>
      </p:sp>
      <p:sp>
        <p:nvSpPr>
          <p:cNvPr id="28" name="Tg0_1"/>
          <p:cNvSpPr/>
          <p:nvPr/>
        </p:nvSpPr>
        <p:spPr>
          <a:xfrm>
            <a:off x="1005840" y="3823010"/>
            <a:ext cx="298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ILLUSTRE H4B</a:t>
            </a:r>
          </a:p>
        </p:txBody>
      </p:sp>
      <p:sp>
        <p:nvSpPr>
          <p:cNvPr id="29" name="Tx0_1"/>
          <p:cNvSpPr/>
          <p:nvPr/>
        </p:nvSpPr>
        <p:spPr>
          <a:xfrm>
            <a:off x="1005840" y="3971599"/>
            <a:ext cx="3169920" cy="959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fr-FR" sz="9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Déjà arrivé de suivre une conclusion de l'IAG mais après avoir vérifié pourquoi j'avais tort […] Mais certains peuvent aussi juste accepter les résultats. Pas forcément un biais d'automatisation mais parfois juste un avis contraire […]. »</a:t>
            </a:r>
            <a:endParaRPr lang="en-US" sz="900" kern="0" dirty="0">
              <a:solidFill>
                <a:srgbClr val="1A1A1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0" name="Tg0_2"/>
          <p:cNvSpPr/>
          <p:nvPr/>
        </p:nvSpPr>
        <p:spPr>
          <a:xfrm>
            <a:off x="1005840" y="4852346"/>
            <a:ext cx="298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EFFET DUNNING-KRUGER</a:t>
            </a:r>
          </a:p>
        </p:txBody>
      </p:sp>
      <p:sp>
        <p:nvSpPr>
          <p:cNvPr id="31" name="Tx0_2"/>
          <p:cNvSpPr/>
          <p:nvPr/>
        </p:nvSpPr>
        <p:spPr>
          <a:xfrm>
            <a:off x="1005840" y="5035226"/>
            <a:ext cx="298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fr-FR" sz="9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L'IAG peut les emmener à un endroit qu'ils ne maîtrisent pas. Ils pensent pouvoir devenir senior en utilisant l'IA, mais n'ont pas les compétences nécessaires. »</a:t>
            </a:r>
            <a:endParaRPr lang="en-US" sz="900" kern="0" dirty="0">
              <a:solidFill>
                <a:srgbClr val="1A1A1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2" name="BgP1"/>
          <p:cNvSpPr/>
          <p:nvPr/>
        </p:nvSpPr>
        <p:spPr>
          <a:xfrm>
            <a:off x="4450080" y="1113467"/>
            <a:ext cx="35356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Big1"/>
          <p:cNvSpPr/>
          <p:nvPr/>
        </p:nvSpPr>
        <p:spPr>
          <a:xfrm>
            <a:off x="4632960" y="1387151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600" b="1" kern="0" spc="-3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</a:p>
        </p:txBody>
      </p:sp>
      <p:sp>
        <p:nvSpPr>
          <p:cNvPr id="34" name="Lab1"/>
          <p:cNvSpPr/>
          <p:nvPr/>
        </p:nvSpPr>
        <p:spPr>
          <a:xfrm>
            <a:off x="6522720" y="1432871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kern="0" spc="25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 B</a:t>
            </a:r>
          </a:p>
        </p:txBody>
      </p:sp>
      <p:sp>
        <p:nvSpPr>
          <p:cNvPr id="35" name="T1"/>
          <p:cNvSpPr/>
          <p:nvPr/>
        </p:nvSpPr>
        <p:spPr>
          <a:xfrm>
            <a:off x="4632960" y="2347271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kern="0" spc="-1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Superviseur régional</a:t>
            </a:r>
          </a:p>
        </p:txBody>
      </p:sp>
      <p:sp>
        <p:nvSpPr>
          <p:cNvPr id="36" name="S1"/>
          <p:cNvSpPr/>
          <p:nvPr/>
        </p:nvSpPr>
        <p:spPr>
          <a:xfrm>
            <a:off x="4632960" y="2713031"/>
            <a:ext cx="298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kern="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Cabinet </a:t>
            </a:r>
            <a:r>
              <a:rPr lang="en-US" sz="900" i="1" kern="0" dirty="0" err="1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régional</a:t>
            </a:r>
            <a:r>
              <a:rPr lang="en-US" sz="900" i="1" kern="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usage encadré</a:t>
            </a:r>
          </a:p>
        </p:txBody>
      </p:sp>
      <p:sp>
        <p:nvSpPr>
          <p:cNvPr id="37" name="Line"/>
          <p:cNvSpPr/>
          <p:nvPr/>
        </p:nvSpPr>
        <p:spPr>
          <a:xfrm>
            <a:off x="4632960" y="2987351"/>
            <a:ext cx="2987040" cy="0"/>
          </a:xfrm>
          <a:prstGeom prst="line">
            <a:avLst/>
          </a:prstGeom>
          <a:noFill/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g1_0"/>
          <p:cNvSpPr/>
          <p:nvPr/>
        </p:nvSpPr>
        <p:spPr>
          <a:xfrm>
            <a:off x="4632960" y="3046203"/>
            <a:ext cx="298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 H3</a:t>
            </a:r>
          </a:p>
        </p:txBody>
      </p:sp>
      <p:sp>
        <p:nvSpPr>
          <p:cNvPr id="39" name="Tx1_0"/>
          <p:cNvSpPr/>
          <p:nvPr/>
        </p:nvSpPr>
        <p:spPr>
          <a:xfrm>
            <a:off x="4632960" y="3215951"/>
            <a:ext cx="298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fr-FR" sz="9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On injecte aucune donnée client dedans donc ça reste très limité [p</a:t>
            </a:r>
            <a:r>
              <a:rPr lang="en-US" sz="900" kern="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</a:t>
            </a:r>
            <a:r>
              <a:rPr lang="en-US" sz="9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 </a:t>
            </a:r>
            <a:r>
              <a:rPr lang="en-US" sz="900" kern="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confidentialité</a:t>
            </a:r>
            <a:r>
              <a:rPr lang="en-US" sz="9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 » </a:t>
            </a:r>
          </a:p>
        </p:txBody>
      </p:sp>
      <p:sp>
        <p:nvSpPr>
          <p:cNvPr id="40" name="Tg1_1"/>
          <p:cNvSpPr/>
          <p:nvPr/>
        </p:nvSpPr>
        <p:spPr>
          <a:xfrm>
            <a:off x="4632960" y="3901751"/>
            <a:ext cx="298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NUANCE H4B</a:t>
            </a:r>
          </a:p>
        </p:txBody>
      </p:sp>
      <p:sp>
        <p:nvSpPr>
          <p:cNvPr id="41" name="Tx1_1"/>
          <p:cNvSpPr/>
          <p:nvPr/>
        </p:nvSpPr>
        <p:spPr>
          <a:xfrm>
            <a:off x="4632960" y="4130351"/>
            <a:ext cx="298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9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</a:t>
            </a:r>
            <a:r>
              <a:rPr lang="fr-FR" sz="9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Je pars du principe que j'ai plus confiance en mon jugement professionnel. </a:t>
            </a:r>
            <a:r>
              <a:rPr lang="en-US" sz="9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» </a:t>
            </a:r>
            <a:r>
              <a:rPr lang="en-US" sz="900" kern="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l’IAG</a:t>
            </a:r>
            <a:r>
              <a:rPr lang="en-US" sz="9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utilisée comme </a:t>
            </a:r>
            <a:r>
              <a:rPr lang="en-US" sz="900" kern="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outil</a:t>
            </a:r>
            <a:r>
              <a:rPr lang="en-US" sz="9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pour </a:t>
            </a:r>
            <a:r>
              <a:rPr lang="en-US" sz="900" kern="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corroborer</a:t>
            </a:r>
            <a:r>
              <a:rPr lang="en-US" sz="9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seulement.</a:t>
            </a:r>
          </a:p>
        </p:txBody>
      </p:sp>
      <p:sp>
        <p:nvSpPr>
          <p:cNvPr id="42" name="Tg1_2"/>
          <p:cNvSpPr/>
          <p:nvPr/>
        </p:nvSpPr>
        <p:spPr>
          <a:xfrm>
            <a:off x="4632960" y="4816151"/>
            <a:ext cx="298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 DESKILLING</a:t>
            </a:r>
          </a:p>
        </p:txBody>
      </p:sp>
      <p:sp>
        <p:nvSpPr>
          <p:cNvPr id="43" name="Tx1_2"/>
          <p:cNvSpPr/>
          <p:nvPr/>
        </p:nvSpPr>
        <p:spPr>
          <a:xfrm>
            <a:off x="4632960" y="5044751"/>
            <a:ext cx="298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Juniors qui « s'abreuvent d'un compte-</a:t>
            </a:r>
            <a:r>
              <a:rPr lang="en-US" sz="900" kern="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rendu</a:t>
            </a:r>
            <a:r>
              <a:rPr lang="en-US" sz="9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sans </a:t>
            </a:r>
            <a:r>
              <a:rPr lang="en-US" sz="900" kern="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vraiment</a:t>
            </a:r>
            <a:r>
              <a:rPr lang="en-US" sz="9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comprendre » — risque de perte de compétence.</a:t>
            </a:r>
          </a:p>
        </p:txBody>
      </p:sp>
      <p:sp>
        <p:nvSpPr>
          <p:cNvPr id="44" name="BgP2"/>
          <p:cNvSpPr/>
          <p:nvPr/>
        </p:nvSpPr>
        <p:spPr>
          <a:xfrm>
            <a:off x="8168640" y="1126166"/>
            <a:ext cx="3535680" cy="466344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Big2"/>
          <p:cNvSpPr/>
          <p:nvPr/>
        </p:nvSpPr>
        <p:spPr>
          <a:xfrm>
            <a:off x="8442960" y="1354766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600" b="1" kern="0" spc="-35" dirty="0">
                <a:solidFill>
                  <a:srgbClr val="F4C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</a:p>
        </p:txBody>
      </p:sp>
      <p:sp>
        <p:nvSpPr>
          <p:cNvPr id="46" name="Lab2"/>
          <p:cNvSpPr/>
          <p:nvPr/>
        </p:nvSpPr>
        <p:spPr>
          <a:xfrm>
            <a:off x="10332720" y="140048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kern="0" spc="250" dirty="0">
                <a:solidFill>
                  <a:srgbClr val="8E8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 C</a:t>
            </a:r>
          </a:p>
        </p:txBody>
      </p:sp>
      <p:sp>
        <p:nvSpPr>
          <p:cNvPr id="47" name="T2"/>
          <p:cNvSpPr/>
          <p:nvPr/>
        </p:nvSpPr>
        <p:spPr>
          <a:xfrm>
            <a:off x="8442960" y="2314886"/>
            <a:ext cx="298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kern="0" spc="-15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signataire</a:t>
            </a:r>
          </a:p>
        </p:txBody>
      </p:sp>
      <p:sp>
        <p:nvSpPr>
          <p:cNvPr id="48" name="S2"/>
          <p:cNvSpPr/>
          <p:nvPr/>
        </p:nvSpPr>
        <p:spPr>
          <a:xfrm>
            <a:off x="8442960" y="2680646"/>
            <a:ext cx="298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kern="0" dirty="0">
                <a:solidFill>
                  <a:srgbClr val="8E8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Cabinet solo · formateur CNCC · bêta-testeur IA</a:t>
            </a:r>
          </a:p>
        </p:txBody>
      </p:sp>
      <p:sp>
        <p:nvSpPr>
          <p:cNvPr id="49" name="Line"/>
          <p:cNvSpPr/>
          <p:nvPr/>
        </p:nvSpPr>
        <p:spPr>
          <a:xfrm>
            <a:off x="8442960" y="2954966"/>
            <a:ext cx="2987040" cy="0"/>
          </a:xfrm>
          <a:prstGeom prst="line">
            <a:avLst/>
          </a:prstGeom>
          <a:noFill/>
          <a:ln w="6350">
            <a:solidFill>
              <a:srgbClr val="8E8B8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g2_0"/>
          <p:cNvSpPr/>
          <p:nvPr/>
        </p:nvSpPr>
        <p:spPr>
          <a:xfrm>
            <a:off x="8442960" y="3007346"/>
            <a:ext cx="298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pt-BR" sz="700" b="1" kern="0" spc="200" dirty="0">
                <a:solidFill>
                  <a:srgbClr val="F4C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 H4B (et nuance H4a)</a:t>
            </a:r>
            <a:endParaRPr lang="en-US" sz="700" b="1" kern="0" spc="200" dirty="0">
              <a:solidFill>
                <a:srgbClr val="F4C28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51" name="Tx2_0"/>
          <p:cNvSpPr/>
          <p:nvPr/>
        </p:nvSpPr>
        <p:spPr>
          <a:xfrm>
            <a:off x="8442960" y="3183566"/>
            <a:ext cx="298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fr-FR" sz="900" kern="0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Effet Dunning-Kruger, tu te sens super compétent tu crois tout savoir »  illustre le mécanisme du biais d'automatisation observé chez les utilisateurs intensifs</a:t>
            </a:r>
            <a:endParaRPr lang="en-US" sz="900" kern="0" dirty="0">
              <a:solidFill>
                <a:srgbClr val="FAF8F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52" name="Tg2_1"/>
          <p:cNvSpPr/>
          <p:nvPr/>
        </p:nvSpPr>
        <p:spPr>
          <a:xfrm>
            <a:off x="8442960" y="3869366"/>
            <a:ext cx="298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F4C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FORMALISE H3</a:t>
            </a:r>
          </a:p>
        </p:txBody>
      </p:sp>
      <p:sp>
        <p:nvSpPr>
          <p:cNvPr id="53" name="Tx2_1"/>
          <p:cNvSpPr/>
          <p:nvPr/>
        </p:nvSpPr>
        <p:spPr>
          <a:xfrm>
            <a:off x="8442960" y="4097966"/>
            <a:ext cx="298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fr-FR" sz="900" kern="0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Je me pose des questions que je ne me posais pas comme collaborateur, quand tu mets ta signature sur les comptes, c'est ta responsabilité que t'engages. »</a:t>
            </a:r>
          </a:p>
        </p:txBody>
      </p:sp>
      <p:sp>
        <p:nvSpPr>
          <p:cNvPr id="54" name="Tg2_2"/>
          <p:cNvSpPr/>
          <p:nvPr/>
        </p:nvSpPr>
        <p:spPr>
          <a:xfrm>
            <a:off x="8442960" y="4783766"/>
            <a:ext cx="298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F4C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IA &amp; CHARTE</a:t>
            </a:r>
          </a:p>
        </p:txBody>
      </p:sp>
      <p:sp>
        <p:nvSpPr>
          <p:cNvPr id="55" name="Tx2_2"/>
          <p:cNvSpPr/>
          <p:nvPr/>
        </p:nvSpPr>
        <p:spPr>
          <a:xfrm>
            <a:off x="8442960" y="5012366"/>
            <a:ext cx="298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fr-FR" sz="900" kern="0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Décrit le </a:t>
            </a:r>
            <a:r>
              <a:rPr lang="fr-FR" sz="900" kern="0" dirty="0" err="1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</a:t>
            </a:r>
            <a:r>
              <a:rPr lang="fr-FR" sz="900" kern="0" dirty="0">
                <a:solidFill>
                  <a:srgbClr val="FAF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IA chez les juniors. « Charte d'usage IA » + fiches CNCC pour reprendre le contrôle.</a:t>
            </a:r>
            <a:endParaRPr lang="en-US" sz="900" kern="0" dirty="0">
              <a:solidFill>
                <a:srgbClr val="FAF8F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D7782803-04B3-B6CA-0908-DC5B6484BDF8}"/>
              </a:ext>
            </a:extLst>
          </p:cNvPr>
          <p:cNvGrpSpPr/>
          <p:nvPr/>
        </p:nvGrpSpPr>
        <p:grpSpPr>
          <a:xfrm>
            <a:off x="731520" y="5878421"/>
            <a:ext cx="10972800" cy="526679"/>
            <a:chOff x="762000" y="5879140"/>
            <a:chExt cx="10972800" cy="526679"/>
          </a:xfrm>
        </p:grpSpPr>
        <p:sp>
          <p:nvSpPr>
            <p:cNvPr id="2" name="NoteBg">
              <a:extLst>
                <a:ext uri="{FF2B5EF4-FFF2-40B4-BE49-F238E27FC236}">
                  <a16:creationId xmlns:a16="http://schemas.microsoft.com/office/drawing/2014/main" id="{B4187141-52DC-610D-7407-6809C6A4FD82}"/>
                </a:ext>
              </a:extLst>
            </p:cNvPr>
            <p:cNvSpPr/>
            <p:nvPr/>
          </p:nvSpPr>
          <p:spPr>
            <a:xfrm>
              <a:off x="762000" y="5879140"/>
              <a:ext cx="10972800" cy="526679"/>
            </a:xfrm>
            <a:prstGeom prst="rect">
              <a:avLst/>
            </a:prstGeom>
            <a:solidFill>
              <a:srgbClr val="1A1A1A"/>
            </a:solidFill>
            <a:ln/>
          </p:spPr>
          <p:txBody>
            <a:bodyPr/>
            <a:lstStyle/>
            <a:p>
              <a:pPr marL="171450" indent="-171450">
                <a:lnSpc>
                  <a:spcPct val="135000"/>
                </a:lnSpc>
                <a:buFont typeface="Arial" panose="020B0604020202020204" pitchFamily="34" charset="0"/>
                <a:buChar char="•"/>
              </a:pPr>
              <a:endParaRPr lang="fr-FR" sz="105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endParaRPr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953C8CF2-ADE4-CF0D-8EEF-466F54938C06}"/>
                </a:ext>
              </a:extLst>
            </p:cNvPr>
            <p:cNvSpPr txBox="1"/>
            <p:nvPr/>
          </p:nvSpPr>
          <p:spPr>
            <a:xfrm>
              <a:off x="2296781" y="6019927"/>
              <a:ext cx="609414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50" b="1" dirty="0">
                  <a:solidFill>
                    <a:schemeClr val="bg1"/>
                  </a:solidFill>
                </a:rPr>
                <a:t>Les trois </a:t>
              </a:r>
              <a:r>
                <a:rPr lang="en-US" sz="1050" b="1" dirty="0" err="1">
                  <a:solidFill>
                    <a:schemeClr val="bg1"/>
                  </a:solidFill>
                </a:rPr>
                <a:t>entretiens</a:t>
              </a:r>
              <a:r>
                <a:rPr lang="en-US" sz="1050" b="1" dirty="0">
                  <a:solidFill>
                    <a:schemeClr val="bg1"/>
                  </a:solidFill>
                </a:rPr>
                <a:t> </a:t>
              </a:r>
              <a:r>
                <a:rPr lang="en-US" sz="1050" b="1" dirty="0" err="1">
                  <a:solidFill>
                    <a:schemeClr val="bg1"/>
                  </a:solidFill>
                </a:rPr>
                <a:t>permettent</a:t>
              </a:r>
              <a:r>
                <a:rPr lang="en-US" sz="1050" b="1" dirty="0">
                  <a:solidFill>
                    <a:schemeClr val="bg1"/>
                  </a:solidFill>
                </a:rPr>
                <a:t> de confirmer et nuance les </a:t>
              </a:r>
              <a:r>
                <a:rPr lang="en-US" sz="1050" b="1" dirty="0" err="1">
                  <a:solidFill>
                    <a:schemeClr val="bg1"/>
                  </a:solidFill>
                </a:rPr>
                <a:t>résultats</a:t>
              </a:r>
              <a:r>
                <a:rPr lang="en-US" sz="1050" b="1" dirty="0">
                  <a:solidFill>
                    <a:schemeClr val="bg1"/>
                  </a:solidFill>
                </a:rPr>
                <a:t> </a:t>
              </a:r>
              <a:r>
                <a:rPr lang="en-US" sz="1050" b="1" dirty="0" err="1">
                  <a:solidFill>
                    <a:schemeClr val="bg1"/>
                  </a:solidFill>
                </a:rPr>
                <a:t>statistiques</a:t>
              </a:r>
              <a:r>
                <a:rPr lang="en-US" sz="1050" b="1" dirty="0">
                  <a:solidFill>
                    <a:schemeClr val="bg1"/>
                  </a:solidFill>
                </a:rPr>
                <a:t>. </a:t>
              </a:r>
            </a:p>
          </p:txBody>
        </p:sp>
      </p:grpSp>
      <p:sp>
        <p:nvSpPr>
          <p:cNvPr id="3" name="NoteLab">
            <a:extLst>
              <a:ext uri="{FF2B5EF4-FFF2-40B4-BE49-F238E27FC236}">
                <a16:creationId xmlns:a16="http://schemas.microsoft.com/office/drawing/2014/main" id="{25E15C11-4873-B39E-815E-787C7C835602}"/>
              </a:ext>
            </a:extLst>
          </p:cNvPr>
          <p:cNvSpPr/>
          <p:nvPr/>
        </p:nvSpPr>
        <p:spPr>
          <a:xfrm>
            <a:off x="944881" y="6041784"/>
            <a:ext cx="2286000" cy="181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250" dirty="0" err="1">
                <a:solidFill>
                  <a:srgbClr val="F4C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Essentiel</a:t>
            </a:r>
            <a:r>
              <a:rPr lang="en-US" sz="1050" b="1" kern="0" spc="250" dirty="0">
                <a:solidFill>
                  <a:srgbClr val="F4C2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137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0" b="1" kern="0" spc="-600" dirty="0">
                <a:solidFill>
                  <a:srgbClr val="B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4206240" y="2926080"/>
            <a:ext cx="0" cy="1280160"/>
          </a:xfrm>
          <a:prstGeom prst="line">
            <a:avLst/>
          </a:prstGeom>
          <a:noFill/>
          <a:ln w="19050">
            <a:solidFill>
              <a:srgbClr val="2C4A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480560" y="283464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kern="0" spc="-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kern="0" spc="-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recommandations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0332720" y="6537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27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SOUTENANCE · 2025–2026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0332720" y="6537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SOUTENANCE · 2025–2026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-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Apports &amp; limites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3152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2C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APPORTS &amp; CONCLUSION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514600"/>
            <a:ext cx="5029200" cy="0"/>
          </a:xfrm>
          <a:prstGeom prst="line">
            <a:avLst/>
          </a:prstGeom>
          <a:noFill/>
          <a:ln w="12700">
            <a:solidFill>
              <a:srgbClr val="2C4A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731520" y="2697480"/>
            <a:ext cx="5029200" cy="279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q"/>
            </a:pPr>
            <a:r>
              <a:rPr lang="fr-FR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infirmée</a:t>
            </a:r>
            <a:r>
              <a:rPr lang="fr-FR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effet plafond sur l’utilité perçue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24057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q"/>
            </a:pPr>
            <a:r>
              <a:rPr lang="fr-FR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confirmée</a:t>
            </a:r>
            <a:r>
              <a:rPr lang="fr-FR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l’intégration au workflow prime sur la prise en main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797300"/>
            <a:ext cx="5029200" cy="36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q"/>
            </a:pPr>
            <a:r>
              <a:rPr lang="fr-FR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 confirmée</a:t>
            </a:r>
            <a:r>
              <a:rPr lang="fr-FR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la responsabilité individuelle, frein principal et non la confidentialité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497131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q"/>
            </a:pPr>
            <a:r>
              <a:rPr lang="fr-FR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H4a confirmée</a:t>
            </a:r>
            <a:r>
              <a:rPr lang="fr-FR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compétences opérationnelles (prompting, détection) supérieures à la formation théorique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5212079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q"/>
            </a:pPr>
            <a:r>
              <a:rPr lang="fr-FR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Biais d’automatisation</a:t>
            </a:r>
            <a:r>
              <a:rPr lang="fr-FR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détecté chez les utilisateurs intensifs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2194560"/>
            <a:ext cx="0" cy="402336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583680" y="21945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 &amp; OUVERTURE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0" y="2514600"/>
            <a:ext cx="5029200" cy="0"/>
          </a:xfrm>
          <a:prstGeom prst="line">
            <a:avLst/>
          </a:prstGeom>
          <a:noFill/>
          <a:ln w="12700">
            <a:solidFill>
              <a:srgbClr val="A64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583680" y="26974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q"/>
            </a:pPr>
            <a:r>
              <a:rPr lang="en-US" sz="115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Biais</a:t>
            </a: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volontariat : profils technophiles surreprésentés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32918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q"/>
            </a:pPr>
            <a:r>
              <a:rPr lang="en-US" sz="115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Surreprésentation</a:t>
            </a: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 cabinets internationaux et des juniors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38862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q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</a:t>
            </a:r>
            <a:r>
              <a:rPr lang="en-US" sz="115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utilisateurs</a:t>
            </a: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exclus — déterminants du non-usage non modélisables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0" y="45262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fr-FR" sz="1200" b="1" dirty="0">
                <a:solidFill>
                  <a:srgbClr val="B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Pistes de recherche : </a:t>
            </a:r>
            <a:r>
              <a:rPr lang="fr-FR" sz="115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étude longitudinale, observation directe et élargissement de l’échantillon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push/>
      </p:transition>
    </mc:Choice>
    <mc:Fallback xmlns="">
      <p:transition spd="med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0332720" y="6537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SOUTENANCE · 2025–2026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822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B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AXES D'ACTION POUR LES CABINETS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1887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-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Préconisations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731520" y="2194560"/>
            <a:ext cx="45720" cy="201168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960120" y="21945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B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960120" y="265176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kern="0" spc="-3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Former sur les compétences critiques, pas les clics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333756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Priorité : prompting avancé et détection d'erreurs IAG sur les formations générales aux interfaces.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38862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309360" y="2194560"/>
            <a:ext cx="45720" cy="201168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537960" y="21945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B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537960" y="265176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kern="0" spc="-3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Intégrer l'IAG dans les flux de travail existants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37960" y="333756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Connecter les outils IAG aux logiciels d'audit (Caseware, AuditBoard) et aux templates existants.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37960" y="38862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4389120"/>
            <a:ext cx="45720" cy="201168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960120" y="43891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B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60120" y="484632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kern="0" spc="-3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Formaliser la supervision et les logs d'usage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0120" y="553212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Protocoles de vérification obligatoires, traçabilité des outputs IAG dans les dossiers d'audit.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60807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309360" y="4389120"/>
            <a:ext cx="45720" cy="2011680"/>
          </a:xfrm>
          <a:prstGeom prst="rect">
            <a:avLst/>
          </a:prstGeom>
          <a:solidFill>
            <a:srgbClr val="B85C38"/>
          </a:solidFill>
          <a:ln w="12700">
            <a:solidFill>
              <a:srgbClr val="B85C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6537960" y="43891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B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537960" y="484632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kern="0" spc="-3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Anticiper et cadrer le risque de responsabilité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537960" y="553212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Chartes d'usage, formations déontologiques, clarification des responsabilités signataire / outil / cabinet.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37960" y="608076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push/>
      </p:transition>
    </mc:Choice>
    <mc:Fallback xmlns="">
      <p:transition spd="med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D6C055-2226-21C4-0147-F55E71279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8917B44-2C8A-A002-52BD-ECCFA41F7FEE}"/>
              </a:ext>
            </a:extLst>
          </p:cNvPr>
          <p:cNvSpPr/>
          <p:nvPr/>
        </p:nvSpPr>
        <p:spPr>
          <a:xfrm flipV="1">
            <a:off x="548641" y="391066"/>
            <a:ext cx="4889122" cy="20413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13B8584-F9B4-0359-7B11-BC678C8539E8}"/>
              </a:ext>
            </a:extLst>
          </p:cNvPr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B4E9434-DA6D-C503-07D0-208465503CAE}"/>
              </a:ext>
            </a:extLst>
          </p:cNvPr>
          <p:cNvSpPr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MÉMOIRE DE MASTER · IAE LILLE · 2025–2026</a:t>
            </a:r>
            <a:endParaRPr lang="en-US" sz="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C4F666E-7426-79E8-CE3F-7758E063E179}"/>
              </a:ext>
            </a:extLst>
          </p:cNvPr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EC393EC-CFF2-D1C1-A72C-B3AB20B0F59A}"/>
              </a:ext>
            </a:extLst>
          </p:cNvPr>
          <p:cNvSpPr/>
          <p:nvPr/>
        </p:nvSpPr>
        <p:spPr>
          <a:xfrm>
            <a:off x="685800" y="112014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400" b="1" kern="0" spc="-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 et adoption</a:t>
            </a:r>
            <a:endParaRPr lang="en-US" sz="4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400" b="1" kern="0" spc="-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</a:t>
            </a:r>
            <a:r>
              <a:rPr lang="en-US" sz="4400" b="1" kern="0" spc="-1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l'intelligence</a:t>
            </a:r>
            <a:r>
              <a:rPr lang="en-US" sz="4400" b="1" kern="0" spc="-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400" b="1" kern="0" spc="-1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artificielle</a:t>
            </a:r>
            <a:endParaRPr lang="en-US" sz="44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400" b="1" kern="0" spc="-1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générative</a:t>
            </a:r>
            <a:r>
              <a:rPr lang="en-US" sz="4400" b="1" kern="0" spc="-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400" b="1" kern="0" spc="-1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4400" b="1" kern="0" spc="-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cabinet </a:t>
            </a:r>
            <a:r>
              <a:rPr lang="en-US" sz="4400" b="1" kern="0" spc="-10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d'audit</a:t>
            </a:r>
            <a:endParaRPr lang="en-US" sz="44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FB7F16D-30C4-F57C-2D32-21E7F4E396FF}"/>
              </a:ext>
            </a:extLst>
          </p:cNvPr>
          <p:cNvSpPr/>
          <p:nvPr/>
        </p:nvSpPr>
        <p:spPr>
          <a:xfrm>
            <a:off x="731520" y="3977640"/>
            <a:ext cx="3200400" cy="0"/>
          </a:xfrm>
          <a:prstGeom prst="line">
            <a:avLst/>
          </a:prstGeom>
          <a:noFill/>
          <a:ln w="15240">
            <a:solidFill>
              <a:srgbClr val="2C4A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A78020A-9313-7D14-5368-F8D2A4A10B8C}"/>
              </a:ext>
            </a:extLst>
          </p:cNvPr>
          <p:cNvSpPr/>
          <p:nvPr/>
        </p:nvSpPr>
        <p:spPr>
          <a:xfrm>
            <a:off x="731520" y="4114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LYDÉRICK HENRY</a:t>
            </a:r>
            <a:endParaRPr lang="en-US" sz="13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2 CGAO — Audit Contrôle de Gestion (Big Data)</a:t>
            </a:r>
          </a:p>
          <a:p>
            <a:pPr marL="0" indent="0">
              <a:buNone/>
            </a:pPr>
            <a:endParaRPr lang="en-US" sz="1100" dirty="0">
              <a:solidFill>
                <a:srgbClr val="1A1A1A"/>
              </a:solidFill>
              <a:latin typeface="Arial" pitchFamily="34" charset="0"/>
              <a:ea typeface="Arial" pitchFamily="34" charset="-122"/>
            </a:endParaRPr>
          </a:p>
          <a:p>
            <a:pPr marL="0" indent="0">
              <a:buNone/>
            </a:pPr>
            <a:endParaRPr lang="en-US" sz="1100" dirty="0">
              <a:solidFill>
                <a:srgbClr val="1A1A1A"/>
              </a:solidFill>
              <a:latin typeface="Arial" pitchFamily="34" charset="0"/>
              <a:ea typeface="Arial" pitchFamily="34" charset="-122"/>
            </a:endParaRPr>
          </a:p>
          <a:p>
            <a:pPr marL="0" indent="0">
              <a:buNone/>
            </a:pPr>
            <a:endParaRPr lang="en-US" sz="1100" dirty="0">
              <a:solidFill>
                <a:srgbClr val="1A1A1A"/>
              </a:solidFill>
              <a:latin typeface="Arial" pitchFamily="34" charset="0"/>
              <a:ea typeface="Arial" pitchFamily="34" charset="-122"/>
            </a:endParaRPr>
          </a:p>
          <a:p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</a:rPr>
              <a:t>Pour plus de details : </a:t>
            </a:r>
            <a:r>
              <a:rPr lang="fr-FR" sz="1400" dirty="0">
                <a:hlinkClick r:id="rId3"/>
              </a:rPr>
              <a:t>Mémoire M2 — IA générative en audit · Lydérick Henry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56BAC9B-01D9-BC3A-0B55-C1DDB8F5AD27}"/>
              </a:ext>
            </a:extLst>
          </p:cNvPr>
          <p:cNvSpPr/>
          <p:nvPr/>
        </p:nvSpPr>
        <p:spPr>
          <a:xfrm>
            <a:off x="731520" y="50749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900" dirty="0"/>
          </a:p>
        </p:txBody>
      </p:sp>
      <p:pic>
        <p:nvPicPr>
          <p:cNvPr id="1026" name="Picture 2" descr="Espace presse - IAE Lille">
            <a:extLst>
              <a:ext uri="{FF2B5EF4-FFF2-40B4-BE49-F238E27FC236}">
                <a16:creationId xmlns:a16="http://schemas.microsoft.com/office/drawing/2014/main" id="{AD249C00-ABDD-1FC0-1337-C4714C8F02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7572" y="60311"/>
            <a:ext cx="646601" cy="591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ORVIS MAZARS - Chambre Officielle de Commerce D'Espagne en France">
            <a:extLst>
              <a:ext uri="{FF2B5EF4-FFF2-40B4-BE49-F238E27FC236}">
                <a16:creationId xmlns:a16="http://schemas.microsoft.com/office/drawing/2014/main" id="{931ABD92-E859-D8CB-FBB0-C61E86787B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6807" y="60311"/>
            <a:ext cx="1278459" cy="536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9446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:push/>
      </p:transition>
    </mc:Choice>
    <mc:Fallback xmlns="">
      <p:transition spd="slow">
        <p:push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SYNTHÈSE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0332720" y="6537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29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SOUTENANCE · 2025–2026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8229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kern="0" spc="-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L'IAG est déjà là — la question n'est plus si, mais comment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0" cy="2560320"/>
          </a:xfrm>
          <a:prstGeom prst="line">
            <a:avLst/>
          </a:prstGeom>
          <a:noFill/>
          <a:ln w="19050">
            <a:solidFill>
              <a:srgbClr val="B85C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868680" y="2834640"/>
            <a:ext cx="1956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kern="0" spc="-80" dirty="0">
                <a:solidFill>
                  <a:srgbClr val="B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70,1 %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68680" y="3657600"/>
            <a:ext cx="1956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kern="0" spc="-2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utilisent l'IAG ≥ 1× / semaine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475488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intégration réelle, pas expérimentale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08376" y="2743200"/>
            <a:ext cx="0" cy="2560320"/>
          </a:xfrm>
          <a:prstGeom prst="line">
            <a:avLst/>
          </a:prstGeom>
          <a:noFill/>
          <a:ln w="19050">
            <a:solidFill>
              <a:srgbClr val="2C4A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145536" y="2834640"/>
            <a:ext cx="1956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kern="0" spc="-80" dirty="0">
                <a:solidFill>
                  <a:srgbClr val="2C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145536" y="3657600"/>
            <a:ext cx="1956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kern="0" spc="-2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l'intégration workflow = déterminant n°1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45536" y="475488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 · ρ = 0,492 ***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85232" y="2743200"/>
            <a:ext cx="0" cy="2560320"/>
          </a:xfrm>
          <a:prstGeom prst="line">
            <a:avLst/>
          </a:prstGeom>
          <a:noFill/>
          <a:ln w="19050">
            <a:solidFill>
              <a:srgbClr val="2C4A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422392" y="2834640"/>
            <a:ext cx="1956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kern="0" spc="-80" dirty="0">
                <a:solidFill>
                  <a:srgbClr val="2C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422392" y="3657600"/>
            <a:ext cx="1956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kern="0" spc="-2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responsabilité = frein non mitigeable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22392" y="475488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Q15 · ρ = 0,304 *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562088" y="2743200"/>
            <a:ext cx="0" cy="2560320"/>
          </a:xfrm>
          <a:prstGeom prst="line">
            <a:avLst/>
          </a:prstGeom>
          <a:noFill/>
          <a:ln w="19050">
            <a:solidFill>
              <a:srgbClr val="A64B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7699248" y="2834640"/>
            <a:ext cx="1956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kern="0" spc="-8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BIAIS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699248" y="3657600"/>
            <a:ext cx="1956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kern="0" spc="-2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utilisateurs intensifs cèdent davantage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99248" y="475488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convergent des items désagrégés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838944" y="2743200"/>
            <a:ext cx="0" cy="2560320"/>
          </a:xfrm>
          <a:prstGeom prst="line">
            <a:avLst/>
          </a:prstGeom>
          <a:noFill/>
          <a:ln w="19050">
            <a:solidFill>
              <a:srgbClr val="B85C3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9976104" y="2834640"/>
            <a:ext cx="1956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kern="0" spc="-80" dirty="0">
                <a:solidFill>
                  <a:srgbClr val="B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976104" y="3657600"/>
            <a:ext cx="1956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kern="0" spc="-2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compétences opérationnelles &gt; heures de formation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976104" y="4754880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Q20 · ρ = 0,379 ** &gt; Q19 · 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5715000"/>
            <a:ext cx="2286000" cy="0"/>
          </a:xfrm>
          <a:prstGeom prst="line">
            <a:avLst/>
          </a:prstGeom>
          <a:noFill/>
          <a:ln w="15240">
            <a:solidFill>
              <a:srgbClr val="2C4A3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731520" y="58521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kern="0" spc="-2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L'utilisation de l'IAG en audit dépendra avant tout des conditions dans lesquelles elle est mise en œuvre. »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Line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2" name="HeadPart"/>
          <p:cNvSpPr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900" kern="0" spc="400" dirty="0">
              <a:solidFill>
                <a:srgbClr val="8B7E6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04" name="Line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06" name="Deck"/>
          <p:cNvSpPr/>
          <p:nvPr/>
        </p:nvSpPr>
        <p:spPr>
          <a:xfrm>
            <a:off x="54864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SOUTENANCE · 2025–2026</a:t>
            </a:r>
          </a:p>
        </p:txBody>
      </p:sp>
      <p:sp>
        <p:nvSpPr>
          <p:cNvPr id="10" name="Eyebrow"/>
          <p:cNvSpPr/>
          <p:nvPr/>
        </p:nvSpPr>
        <p:spPr>
          <a:xfrm>
            <a:off x="731520" y="731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DU QUESTIONNAIRE</a:t>
            </a:r>
          </a:p>
        </p:txBody>
      </p:sp>
      <p:sp>
        <p:nvSpPr>
          <p:cNvPr id="11" name="Title"/>
          <p:cNvSpPr/>
          <p:nvPr/>
        </p:nvSpPr>
        <p:spPr>
          <a:xfrm>
            <a:off x="731520" y="100647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kern="0" spc="-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questions structurées en six blocs</a:t>
            </a:r>
          </a:p>
        </p:txBody>
      </p:sp>
      <p:sp>
        <p:nvSpPr>
          <p:cNvPr id="12" name="Subtitle"/>
          <p:cNvSpPr/>
          <p:nvPr/>
        </p:nvSpPr>
        <p:spPr>
          <a:xfrm>
            <a:off x="731520" y="1554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100" i="1" kern="0" dirty="0">
              <a:solidFill>
                <a:srgbClr val="8B7E6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0" name="TBg0"/>
          <p:cNvSpPr/>
          <p:nvPr/>
        </p:nvSpPr>
        <p:spPr>
          <a:xfrm>
            <a:off x="731520" y="1966080"/>
            <a:ext cx="35356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Strip0"/>
          <p:cNvSpPr/>
          <p:nvPr/>
        </p:nvSpPr>
        <p:spPr>
          <a:xfrm>
            <a:off x="731520" y="1966080"/>
            <a:ext cx="54864" cy="1920240"/>
          </a:xfrm>
          <a:prstGeom prst="rect">
            <a:avLst/>
          </a:prstGeom>
          <a:solidFill>
            <a:srgbClr val="8B7E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Num0"/>
          <p:cNvSpPr/>
          <p:nvPr/>
        </p:nvSpPr>
        <p:spPr>
          <a:xfrm>
            <a:off x="960120" y="210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3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</a:p>
        </p:txBody>
      </p:sp>
      <p:sp>
        <p:nvSpPr>
          <p:cNvPr id="23" name="TQ0"/>
          <p:cNvSpPr/>
          <p:nvPr/>
        </p:nvSpPr>
        <p:spPr>
          <a:xfrm>
            <a:off x="2346960" y="2194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– Q5</a:t>
            </a:r>
          </a:p>
        </p:txBody>
      </p:sp>
      <p:sp>
        <p:nvSpPr>
          <p:cNvPr id="24" name="TTit0"/>
          <p:cNvSpPr/>
          <p:nvPr/>
        </p:nvSpPr>
        <p:spPr>
          <a:xfrm>
            <a:off x="960120" y="256044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kern="0" spc="-1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&amp; adoption</a:t>
            </a:r>
          </a:p>
        </p:txBody>
      </p:sp>
      <p:sp>
        <p:nvSpPr>
          <p:cNvPr id="25" name="TDesc0"/>
          <p:cNvSpPr/>
          <p:nvPr/>
        </p:nvSpPr>
        <p:spPr>
          <a:xfrm>
            <a:off x="960120" y="292620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Fréquence · outils mobilisés · contexte volontaire ou imposé</a:t>
            </a:r>
          </a:p>
        </p:txBody>
      </p:sp>
      <p:sp>
        <p:nvSpPr>
          <p:cNvPr id="26" name="Line"/>
          <p:cNvSpPr/>
          <p:nvPr/>
        </p:nvSpPr>
        <p:spPr>
          <a:xfrm>
            <a:off x="960120" y="3383400"/>
            <a:ext cx="3078480" cy="0"/>
          </a:xfrm>
          <a:prstGeom prst="line">
            <a:avLst/>
          </a:prstGeom>
          <a:noFill/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Sc0"/>
          <p:cNvSpPr/>
          <p:nvPr/>
        </p:nvSpPr>
        <p:spPr>
          <a:xfrm>
            <a:off x="960120" y="3474840"/>
            <a:ext cx="307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 </a:t>
            </a:r>
            <a:r>
              <a:rPr lang="en-US" sz="850" b="1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dépendante</a:t>
            </a:r>
          </a:p>
        </p:txBody>
      </p:sp>
      <p:sp>
        <p:nvSpPr>
          <p:cNvPr id="28" name="THyp0"/>
          <p:cNvSpPr/>
          <p:nvPr/>
        </p:nvSpPr>
        <p:spPr>
          <a:xfrm>
            <a:off x="960120" y="3703440"/>
            <a:ext cx="307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LIEN  </a:t>
            </a:r>
            <a:r>
              <a:rPr lang="en-US" sz="850" i="1" kern="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= fréquence d'usage</a:t>
            </a:r>
          </a:p>
        </p:txBody>
      </p:sp>
      <p:sp>
        <p:nvSpPr>
          <p:cNvPr id="29" name="TBg1"/>
          <p:cNvSpPr/>
          <p:nvPr/>
        </p:nvSpPr>
        <p:spPr>
          <a:xfrm>
            <a:off x="4450080" y="1966080"/>
            <a:ext cx="35356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Strip1"/>
          <p:cNvSpPr/>
          <p:nvPr/>
        </p:nvSpPr>
        <p:spPr>
          <a:xfrm>
            <a:off x="4450080" y="1966080"/>
            <a:ext cx="54864" cy="1920240"/>
          </a:xfrm>
          <a:prstGeom prst="rect">
            <a:avLst/>
          </a:prstGeom>
          <a:solidFill>
            <a:srgbClr val="A64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Num1"/>
          <p:cNvSpPr/>
          <p:nvPr/>
        </p:nvSpPr>
        <p:spPr>
          <a:xfrm>
            <a:off x="4678680" y="210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3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</a:p>
        </p:txBody>
      </p:sp>
      <p:sp>
        <p:nvSpPr>
          <p:cNvPr id="32" name="TQ1"/>
          <p:cNvSpPr/>
          <p:nvPr/>
        </p:nvSpPr>
        <p:spPr>
          <a:xfrm>
            <a:off x="6065520" y="2194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 – Q8</a:t>
            </a:r>
          </a:p>
        </p:txBody>
      </p:sp>
      <p:sp>
        <p:nvSpPr>
          <p:cNvPr id="33" name="TTit1"/>
          <p:cNvSpPr/>
          <p:nvPr/>
        </p:nvSpPr>
        <p:spPr>
          <a:xfrm>
            <a:off x="4678680" y="256044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kern="0" spc="-1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Utilité perçue</a:t>
            </a:r>
          </a:p>
        </p:txBody>
      </p:sp>
      <p:sp>
        <p:nvSpPr>
          <p:cNvPr id="34" name="TDesc1"/>
          <p:cNvSpPr/>
          <p:nvPr/>
        </p:nvSpPr>
        <p:spPr>
          <a:xfrm>
            <a:off x="4678680" y="292620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Productivité · qualité des travaux · gain de temps</a:t>
            </a:r>
          </a:p>
        </p:txBody>
      </p:sp>
      <p:sp>
        <p:nvSpPr>
          <p:cNvPr id="35" name="Line"/>
          <p:cNvSpPr/>
          <p:nvPr/>
        </p:nvSpPr>
        <p:spPr>
          <a:xfrm>
            <a:off x="4678680" y="3383400"/>
            <a:ext cx="3078480" cy="0"/>
          </a:xfrm>
          <a:prstGeom prst="line">
            <a:avLst/>
          </a:prstGeom>
          <a:noFill/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Sc1"/>
          <p:cNvSpPr/>
          <p:nvPr/>
        </p:nvSpPr>
        <p:spPr>
          <a:xfrm>
            <a:off x="4678680" y="3474840"/>
            <a:ext cx="307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 </a:t>
            </a:r>
            <a:r>
              <a:rPr lang="en-US" sz="850" b="1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SUP</a:t>
            </a:r>
          </a:p>
        </p:txBody>
      </p:sp>
      <p:sp>
        <p:nvSpPr>
          <p:cNvPr id="37" name="THyp1"/>
          <p:cNvSpPr/>
          <p:nvPr/>
        </p:nvSpPr>
        <p:spPr>
          <a:xfrm>
            <a:off x="4678680" y="3703440"/>
            <a:ext cx="307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LIEN  </a:t>
            </a:r>
            <a:r>
              <a:rPr lang="en-US" sz="850" i="1" kern="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H1</a:t>
            </a:r>
          </a:p>
        </p:txBody>
      </p:sp>
      <p:sp>
        <p:nvSpPr>
          <p:cNvPr id="38" name="TBg2"/>
          <p:cNvSpPr/>
          <p:nvPr/>
        </p:nvSpPr>
        <p:spPr>
          <a:xfrm>
            <a:off x="8168640" y="1966080"/>
            <a:ext cx="35356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Strip2"/>
          <p:cNvSpPr/>
          <p:nvPr/>
        </p:nvSpPr>
        <p:spPr>
          <a:xfrm>
            <a:off x="8168640" y="1966080"/>
            <a:ext cx="54864" cy="1920240"/>
          </a:xfrm>
          <a:prstGeom prst="rect">
            <a:avLst/>
          </a:prstGeom>
          <a:solidFill>
            <a:srgbClr val="A64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Num2"/>
          <p:cNvSpPr/>
          <p:nvPr/>
        </p:nvSpPr>
        <p:spPr>
          <a:xfrm>
            <a:off x="8397240" y="210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3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</a:p>
        </p:txBody>
      </p:sp>
      <p:sp>
        <p:nvSpPr>
          <p:cNvPr id="41" name="TQ2"/>
          <p:cNvSpPr/>
          <p:nvPr/>
        </p:nvSpPr>
        <p:spPr>
          <a:xfrm>
            <a:off x="9784080" y="21946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 – Q11</a:t>
            </a:r>
          </a:p>
        </p:txBody>
      </p:sp>
      <p:sp>
        <p:nvSpPr>
          <p:cNvPr id="42" name="TTit2"/>
          <p:cNvSpPr/>
          <p:nvPr/>
        </p:nvSpPr>
        <p:spPr>
          <a:xfrm>
            <a:off x="8397240" y="256044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kern="0" spc="-1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Facilité d'usage</a:t>
            </a:r>
          </a:p>
        </p:txBody>
      </p:sp>
      <p:sp>
        <p:nvSpPr>
          <p:cNvPr id="43" name="TDesc2"/>
          <p:cNvSpPr/>
          <p:nvPr/>
        </p:nvSpPr>
        <p:spPr>
          <a:xfrm>
            <a:off x="8397240" y="292620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Prise en main · intégration quotidienne · besoin de formation</a:t>
            </a:r>
          </a:p>
        </p:txBody>
      </p:sp>
      <p:sp>
        <p:nvSpPr>
          <p:cNvPr id="44" name="Line"/>
          <p:cNvSpPr/>
          <p:nvPr/>
        </p:nvSpPr>
        <p:spPr>
          <a:xfrm>
            <a:off x="8397240" y="3383400"/>
            <a:ext cx="3078480" cy="0"/>
          </a:xfrm>
          <a:prstGeom prst="line">
            <a:avLst/>
          </a:prstGeom>
          <a:noFill/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Sc2"/>
          <p:cNvSpPr/>
          <p:nvPr/>
        </p:nvSpPr>
        <p:spPr>
          <a:xfrm>
            <a:off x="8397240" y="3474840"/>
            <a:ext cx="307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 </a:t>
            </a:r>
            <a:r>
              <a:rPr lang="en-US" sz="850" b="1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SFU</a:t>
            </a:r>
          </a:p>
        </p:txBody>
      </p:sp>
      <p:sp>
        <p:nvSpPr>
          <p:cNvPr id="46" name="THyp2"/>
          <p:cNvSpPr/>
          <p:nvPr/>
        </p:nvSpPr>
        <p:spPr>
          <a:xfrm>
            <a:off x="8397240" y="3703440"/>
            <a:ext cx="307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LIEN  </a:t>
            </a:r>
            <a:r>
              <a:rPr lang="en-US" sz="850" i="1" kern="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H2</a:t>
            </a:r>
          </a:p>
        </p:txBody>
      </p:sp>
      <p:sp>
        <p:nvSpPr>
          <p:cNvPr id="47" name="TBg3"/>
          <p:cNvSpPr/>
          <p:nvPr/>
        </p:nvSpPr>
        <p:spPr>
          <a:xfrm>
            <a:off x="731520" y="4069200"/>
            <a:ext cx="35356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Strip3"/>
          <p:cNvSpPr/>
          <p:nvPr/>
        </p:nvSpPr>
        <p:spPr>
          <a:xfrm>
            <a:off x="731520" y="4069200"/>
            <a:ext cx="54864" cy="1920240"/>
          </a:xfrm>
          <a:prstGeom prst="rect">
            <a:avLst/>
          </a:prstGeom>
          <a:solidFill>
            <a:srgbClr val="A64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TNum3"/>
          <p:cNvSpPr/>
          <p:nvPr/>
        </p:nvSpPr>
        <p:spPr>
          <a:xfrm>
            <a:off x="960120" y="4206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3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</a:p>
        </p:txBody>
      </p:sp>
      <p:sp>
        <p:nvSpPr>
          <p:cNvPr id="50" name="TQ3"/>
          <p:cNvSpPr/>
          <p:nvPr/>
        </p:nvSpPr>
        <p:spPr>
          <a:xfrm>
            <a:off x="2346960" y="4297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Q12 – Q18</a:t>
            </a:r>
          </a:p>
        </p:txBody>
      </p:sp>
      <p:sp>
        <p:nvSpPr>
          <p:cNvPr id="51" name="TTit3"/>
          <p:cNvSpPr/>
          <p:nvPr/>
        </p:nvSpPr>
        <p:spPr>
          <a:xfrm>
            <a:off x="960120" y="466356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kern="0" spc="-1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Risques perçus</a:t>
            </a:r>
          </a:p>
        </p:txBody>
      </p:sp>
      <p:sp>
        <p:nvSpPr>
          <p:cNvPr id="52" name="TDesc3"/>
          <p:cNvSpPr/>
          <p:nvPr/>
        </p:nvSpPr>
        <p:spPr>
          <a:xfrm>
            <a:off x="960120" y="502932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Hallucinations · confidentialité · boîte noire · responsabilité</a:t>
            </a:r>
          </a:p>
        </p:txBody>
      </p:sp>
      <p:sp>
        <p:nvSpPr>
          <p:cNvPr id="53" name="Line"/>
          <p:cNvSpPr/>
          <p:nvPr/>
        </p:nvSpPr>
        <p:spPr>
          <a:xfrm>
            <a:off x="960120" y="5486520"/>
            <a:ext cx="3078480" cy="0"/>
          </a:xfrm>
          <a:prstGeom prst="line">
            <a:avLst/>
          </a:prstGeom>
          <a:noFill/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Sc3"/>
          <p:cNvSpPr/>
          <p:nvPr/>
        </p:nvSpPr>
        <p:spPr>
          <a:xfrm>
            <a:off x="960120" y="5577960"/>
            <a:ext cx="307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 </a:t>
            </a:r>
            <a:r>
              <a:rPr lang="en-US" sz="850" b="1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SRP</a:t>
            </a:r>
          </a:p>
        </p:txBody>
      </p:sp>
      <p:sp>
        <p:nvSpPr>
          <p:cNvPr id="55" name="THyp3"/>
          <p:cNvSpPr/>
          <p:nvPr/>
        </p:nvSpPr>
        <p:spPr>
          <a:xfrm>
            <a:off x="960120" y="5806560"/>
            <a:ext cx="307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LIEN  </a:t>
            </a:r>
            <a:r>
              <a:rPr lang="en-US" sz="850" i="1" kern="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H3</a:t>
            </a:r>
          </a:p>
        </p:txBody>
      </p:sp>
      <p:sp>
        <p:nvSpPr>
          <p:cNvPr id="56" name="TBg4"/>
          <p:cNvSpPr/>
          <p:nvPr/>
        </p:nvSpPr>
        <p:spPr>
          <a:xfrm>
            <a:off x="4450080" y="4069200"/>
            <a:ext cx="35356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TStrip4"/>
          <p:cNvSpPr/>
          <p:nvPr/>
        </p:nvSpPr>
        <p:spPr>
          <a:xfrm>
            <a:off x="4450080" y="4069200"/>
            <a:ext cx="54864" cy="1920240"/>
          </a:xfrm>
          <a:prstGeom prst="rect">
            <a:avLst/>
          </a:prstGeom>
          <a:solidFill>
            <a:srgbClr val="A64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TNum4"/>
          <p:cNvSpPr/>
          <p:nvPr/>
        </p:nvSpPr>
        <p:spPr>
          <a:xfrm>
            <a:off x="4678680" y="4206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3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</a:p>
        </p:txBody>
      </p:sp>
      <p:sp>
        <p:nvSpPr>
          <p:cNvPr id="59" name="TQ4"/>
          <p:cNvSpPr/>
          <p:nvPr/>
        </p:nvSpPr>
        <p:spPr>
          <a:xfrm>
            <a:off x="6065520" y="4297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Q19 – Q26</a:t>
            </a:r>
          </a:p>
        </p:txBody>
      </p:sp>
      <p:sp>
        <p:nvSpPr>
          <p:cNvPr id="60" name="TTit4"/>
          <p:cNvSpPr/>
          <p:nvPr/>
        </p:nvSpPr>
        <p:spPr>
          <a:xfrm>
            <a:off x="4678680" y="466356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kern="0" spc="-1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Compétences &amp; jugement</a:t>
            </a:r>
          </a:p>
        </p:txBody>
      </p:sp>
      <p:sp>
        <p:nvSpPr>
          <p:cNvPr id="61" name="TDesc4"/>
          <p:cNvSpPr/>
          <p:nvPr/>
        </p:nvSpPr>
        <p:spPr>
          <a:xfrm>
            <a:off x="4678680" y="502932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Maîtrise fonctionnelle (Q19–21) · scepticisme (Q22–26, Hurtt)</a:t>
            </a:r>
          </a:p>
        </p:txBody>
      </p:sp>
      <p:sp>
        <p:nvSpPr>
          <p:cNvPr id="62" name="Line"/>
          <p:cNvSpPr/>
          <p:nvPr/>
        </p:nvSpPr>
        <p:spPr>
          <a:xfrm>
            <a:off x="4678680" y="5486520"/>
            <a:ext cx="3078480" cy="0"/>
          </a:xfrm>
          <a:prstGeom prst="line">
            <a:avLst/>
          </a:prstGeom>
          <a:noFill/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TSc4"/>
          <p:cNvSpPr/>
          <p:nvPr/>
        </p:nvSpPr>
        <p:spPr>
          <a:xfrm>
            <a:off x="4678680" y="5577960"/>
            <a:ext cx="307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 </a:t>
            </a:r>
            <a:r>
              <a:rPr lang="en-US" sz="850" b="1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SMF + SSP</a:t>
            </a:r>
          </a:p>
        </p:txBody>
      </p:sp>
      <p:sp>
        <p:nvSpPr>
          <p:cNvPr id="64" name="THyp4"/>
          <p:cNvSpPr/>
          <p:nvPr/>
        </p:nvSpPr>
        <p:spPr>
          <a:xfrm>
            <a:off x="4678680" y="5806560"/>
            <a:ext cx="307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LIEN  </a:t>
            </a:r>
            <a:r>
              <a:rPr lang="en-US" sz="850" i="1" kern="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testent H4a, H4b, H4c</a:t>
            </a:r>
          </a:p>
        </p:txBody>
      </p:sp>
      <p:sp>
        <p:nvSpPr>
          <p:cNvPr id="65" name="TBg5"/>
          <p:cNvSpPr/>
          <p:nvPr/>
        </p:nvSpPr>
        <p:spPr>
          <a:xfrm>
            <a:off x="8168640" y="4069200"/>
            <a:ext cx="35356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TStrip5"/>
          <p:cNvSpPr/>
          <p:nvPr/>
        </p:nvSpPr>
        <p:spPr>
          <a:xfrm>
            <a:off x="8168640" y="4069200"/>
            <a:ext cx="54864" cy="1920240"/>
          </a:xfrm>
          <a:prstGeom prst="rect">
            <a:avLst/>
          </a:prstGeom>
          <a:solidFill>
            <a:srgbClr val="8B7E6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7" name="TNum5"/>
          <p:cNvSpPr/>
          <p:nvPr/>
        </p:nvSpPr>
        <p:spPr>
          <a:xfrm>
            <a:off x="8397240" y="4206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kern="0" spc="-3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</a:p>
        </p:txBody>
      </p:sp>
      <p:sp>
        <p:nvSpPr>
          <p:cNvPr id="68" name="TQ5"/>
          <p:cNvSpPr/>
          <p:nvPr/>
        </p:nvSpPr>
        <p:spPr>
          <a:xfrm>
            <a:off x="9784080" y="4297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Q27 – Q36</a:t>
            </a:r>
          </a:p>
        </p:txBody>
      </p:sp>
      <p:sp>
        <p:nvSpPr>
          <p:cNvPr id="69" name="TTit5"/>
          <p:cNvSpPr/>
          <p:nvPr/>
        </p:nvSpPr>
        <p:spPr>
          <a:xfrm>
            <a:off x="8397240" y="4663560"/>
            <a:ext cx="307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kern="0" spc="-1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Perspectives &amp; profil</a:t>
            </a:r>
          </a:p>
        </p:txBody>
      </p:sp>
      <p:sp>
        <p:nvSpPr>
          <p:cNvPr id="70" name="TDesc5"/>
          <p:cNvSpPr/>
          <p:nvPr/>
        </p:nvSpPr>
        <p:spPr>
          <a:xfrm>
            <a:off x="8397240" y="5029320"/>
            <a:ext cx="307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00" kern="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Intention future · synthèse bénéfices-risques · profil sociodémo</a:t>
            </a:r>
          </a:p>
        </p:txBody>
      </p:sp>
      <p:sp>
        <p:nvSpPr>
          <p:cNvPr id="71" name="Line"/>
          <p:cNvSpPr/>
          <p:nvPr/>
        </p:nvSpPr>
        <p:spPr>
          <a:xfrm>
            <a:off x="8397240" y="5486520"/>
            <a:ext cx="3078480" cy="0"/>
          </a:xfrm>
          <a:prstGeom prst="line">
            <a:avLst/>
          </a:prstGeom>
          <a:noFill/>
          <a:ln w="6350">
            <a:solidFill>
              <a:srgbClr val="D9D0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2" name="TSc5"/>
          <p:cNvSpPr/>
          <p:nvPr/>
        </p:nvSpPr>
        <p:spPr>
          <a:xfrm>
            <a:off x="8397240" y="5577960"/>
            <a:ext cx="307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 </a:t>
            </a:r>
            <a:r>
              <a:rPr lang="en-US" sz="850" b="1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Contrôles</a:t>
            </a:r>
          </a:p>
        </p:txBody>
      </p:sp>
      <p:sp>
        <p:nvSpPr>
          <p:cNvPr id="73" name="THyp5"/>
          <p:cNvSpPr/>
          <p:nvPr/>
        </p:nvSpPr>
        <p:spPr>
          <a:xfrm>
            <a:off x="8397240" y="5806560"/>
            <a:ext cx="307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2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LIEN  </a:t>
            </a:r>
            <a:r>
              <a:rPr lang="en-US" sz="850" i="1" kern="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Q29 = question piège</a:t>
            </a:r>
          </a:p>
        </p:txBody>
      </p:sp>
      <p:sp>
        <p:nvSpPr>
          <p:cNvPr id="90" name="Note"/>
          <p:cNvSpPr/>
          <p:nvPr/>
        </p:nvSpPr>
        <p:spPr>
          <a:xfrm>
            <a:off x="731520" y="60808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800" i="1" kern="0" dirty="0">
              <a:solidFill>
                <a:srgbClr val="8B7E6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137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 · SCORES COMPOSITES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635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0332720" y="65379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6537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SOUTENANCE · 2025–2026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-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Cinq scores, deux robustes, trois </a:t>
            </a:r>
            <a:r>
              <a:rPr lang="en-US" sz="2400" b="1" kern="0" spc="-50" dirty="0" err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multidimensionnels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31520" y="1508760"/>
            <a:ext cx="10698480" cy="685800"/>
          </a:xfrm>
          <a:prstGeom prst="rect">
            <a:avLst/>
          </a:prstGeom>
          <a:solidFill>
            <a:srgbClr val="EFEAE0"/>
          </a:solidFill>
          <a:ln w="12700">
            <a:solidFill>
              <a:srgbClr val="EFEA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914400" y="1664208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5C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DÉPENDANTE  </a:t>
            </a: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· Fréquence d'usage   </a:t>
            </a: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moy. 5,015 / 7  ·  méd. 5  ·  σ 1,343  ·  70,1 % utilisent l'IAG ≥ 1×/semaine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802637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37360" y="2802637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94960" y="2802637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ÉCHELLE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63640" y="2802637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675120" y="2802637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MOY.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52360" y="2802637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2802637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869680" y="2802637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5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CRONBACH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3122677"/>
            <a:ext cx="1088136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731520" y="3214117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737360" y="3214117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Utilité perçue (H1)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94960" y="3214117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63640" y="3214117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0" y="3214117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3,399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52360" y="3214117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3,476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0" y="3214117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0,580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869680" y="3214117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0,898</a:t>
            </a:r>
            <a:r>
              <a:rPr lang="en-US" sz="1100" i="1" dirty="0">
                <a:solidFill>
                  <a:srgbClr val="2C4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Excellent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3653029"/>
            <a:ext cx="10881360" cy="0"/>
          </a:xfrm>
          <a:prstGeom prst="line">
            <a:avLst/>
          </a:prstGeom>
          <a:noFill/>
          <a:ln w="381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731520" y="3653029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SFU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737360" y="3653029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Facilité d'usage (H2)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94960" y="3653029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63640" y="3653029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75120" y="3653029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4,766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452360" y="3653029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4,667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29600" y="3653029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0,962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869680" y="3653029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0,663</a:t>
            </a:r>
            <a:r>
              <a:rPr lang="en-US" sz="1100" i="1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Acceptable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31520" y="4091941"/>
            <a:ext cx="10881360" cy="0"/>
          </a:xfrm>
          <a:prstGeom prst="line">
            <a:avLst/>
          </a:prstGeom>
          <a:noFill/>
          <a:ln w="381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731520" y="4091941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SRP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737360" y="4091941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Risques perçus (H3)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94960" y="4091941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1–7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263640" y="4091941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675120" y="4091941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5,537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452360" y="4091941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5,500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229600" y="4091941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0,883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869680" y="4091941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0,316</a:t>
            </a:r>
            <a:r>
              <a:rPr lang="en-US" sz="1100" i="1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100" i="1" dirty="0" err="1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Multidimensionnel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31520" y="4530853"/>
            <a:ext cx="10881360" cy="0"/>
          </a:xfrm>
          <a:prstGeom prst="line">
            <a:avLst/>
          </a:prstGeom>
          <a:noFill/>
          <a:ln w="381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731520" y="4530853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SMF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737360" y="4530853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Maîtrise fonctionnelle (H4)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394960" y="4530853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1–7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263640" y="4530853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675120" y="4530853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4,781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452360" y="4530853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4,667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229600" y="4530853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0,879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869680" y="4530853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0,452</a:t>
            </a:r>
            <a:r>
              <a:rPr lang="en-US" sz="1100" i="1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100" i="1" dirty="0" err="1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Multidimensionnel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31520" y="4969765"/>
            <a:ext cx="10881360" cy="0"/>
          </a:xfrm>
          <a:prstGeom prst="line">
            <a:avLst/>
          </a:prstGeom>
          <a:noFill/>
          <a:ln w="381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731520" y="4969765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SSP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737360" y="4969765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Scepticisme professionnel (H4)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394960" y="4969765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1–7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263640" y="4969765"/>
            <a:ext cx="320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675120" y="4969765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4,958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7452360" y="4969765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8229600" y="4969765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7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0,793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8869680" y="4969765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0,511</a:t>
            </a:r>
            <a:r>
              <a:rPr lang="en-US" sz="1100" i="1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en-US" sz="1100" i="1" dirty="0" err="1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Multidimensionnel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731520" y="5408677"/>
            <a:ext cx="10881360" cy="0"/>
          </a:xfrm>
          <a:prstGeom prst="line">
            <a:avLst/>
          </a:prstGeom>
          <a:noFill/>
          <a:ln w="3810">
            <a:solidFill>
              <a:srgbClr val="8B7E6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5" name="DefBg">
            <a:extLst>
              <a:ext uri="{FF2B5EF4-FFF2-40B4-BE49-F238E27FC236}">
                <a16:creationId xmlns:a16="http://schemas.microsoft.com/office/drawing/2014/main" id="{6B2E476D-9692-4EE2-042A-9B7B9C71FF62}"/>
              </a:ext>
            </a:extLst>
          </p:cNvPr>
          <p:cNvSpPr/>
          <p:nvPr/>
        </p:nvSpPr>
        <p:spPr>
          <a:xfrm>
            <a:off x="731520" y="2280000"/>
            <a:ext cx="10972800" cy="270000"/>
          </a:xfrm>
          <a:prstGeom prst="rect">
            <a:avLst/>
          </a:prstGeom>
          <a:solidFill>
            <a:srgbClr val="EDE0D6"/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/>
          </a:p>
        </p:txBody>
      </p:sp>
      <p:sp>
        <p:nvSpPr>
          <p:cNvPr id="66" name="DefStrip">
            <a:extLst>
              <a:ext uri="{FF2B5EF4-FFF2-40B4-BE49-F238E27FC236}">
                <a16:creationId xmlns:a16="http://schemas.microsoft.com/office/drawing/2014/main" id="{7B4E96A7-04E2-63C0-4030-10D25F1EA3B8}"/>
              </a:ext>
            </a:extLst>
          </p:cNvPr>
          <p:cNvSpPr/>
          <p:nvPr/>
        </p:nvSpPr>
        <p:spPr>
          <a:xfrm>
            <a:off x="731520" y="2280000"/>
            <a:ext cx="45720" cy="270000"/>
          </a:xfrm>
          <a:prstGeom prst="rect">
            <a:avLst/>
          </a:prstGeom>
          <a:solidFill>
            <a:srgbClr val="A64B3A"/>
          </a:solidFill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/>
          </a:p>
        </p:txBody>
      </p:sp>
      <p:sp>
        <p:nvSpPr>
          <p:cNvPr id="67" name="DefTxt">
            <a:extLst>
              <a:ext uri="{FF2B5EF4-FFF2-40B4-BE49-F238E27FC236}">
                <a16:creationId xmlns:a16="http://schemas.microsoft.com/office/drawing/2014/main" id="{398BEC4E-AC5A-5105-8EA8-EF688C20B09C}"/>
              </a:ext>
            </a:extLst>
          </p:cNvPr>
          <p:cNvSpPr/>
          <p:nvPr/>
        </p:nvSpPr>
        <p:spPr>
          <a:xfrm>
            <a:off x="860000" y="2280000"/>
            <a:ext cx="1080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dirty="0">
                <a:solidFill>
                  <a:srgbClr val="A64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 de Cronbach</a:t>
            </a:r>
            <a:r>
              <a:rPr lang="fr-FR" sz="9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cohérence interne d'une échelle. Seuil de fiabilité : </a:t>
            </a:r>
            <a:r>
              <a:rPr lang="fr-FR" sz="900" b="1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0,70</a:t>
            </a:r>
            <a:r>
              <a:rPr lang="fr-FR" sz="9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en-dessous = construit multidimensionnel, score à interpréter avec prudence.</a:t>
            </a:r>
          </a:p>
        </p:txBody>
      </p:sp>
    </p:spTree>
    <p:extLst>
      <p:ext uri="{BB962C8B-B14F-4D97-AF65-F5344CB8AC3E}">
        <p14:creationId xmlns:p14="http://schemas.microsoft.com/office/powerpoint/2010/main" val="1128487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push/>
      </p:transition>
    </mc:Choice>
    <mc:Fallback xmlns="">
      <p:transition spd="med">
        <p:push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3|0.2|0.1|0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4.3|0.4|0.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e9645ce-24f7-4fa7-847c-11dc6037a35a}" enabled="1" method="Standard" siteId="{b9e9ed43-edf4-4755-925b-76f18f50db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899</TotalTime>
  <Words>3059</Words>
  <Application>Microsoft Office PowerPoint</Application>
  <PresentationFormat>Grand écran</PresentationFormat>
  <Paragraphs>672</Paragraphs>
  <Slides>30</Slides>
  <Notes>30</Notes>
  <HiddenSlides>0</HiddenSlides>
  <MMClips>1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3" baseType="lpstr">
      <vt:lpstr>Arial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Perception et adoption de l'IAG en cabinet d'audit — Soutenance M2 CGAO</dc:title>
  <dc:subject>PptxGenJS Presentation</dc:subject>
  <dc:creator>Lydérick HENRY</dc:creator>
  <cp:lastModifiedBy>Lyderick Henry</cp:lastModifiedBy>
  <cp:revision>117</cp:revision>
  <dcterms:created xsi:type="dcterms:W3CDTF">2026-04-17T15:50:43Z</dcterms:created>
  <dcterms:modified xsi:type="dcterms:W3CDTF">2026-06-21T09:08:14Z</dcterms:modified>
</cp:coreProperties>
</file>